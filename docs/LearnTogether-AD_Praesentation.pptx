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Anrechnung auf die IDD funktioniert heute noch nicht.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Alle registrieren sich einmal mit einem frei gewählten Benutzernamen. Teams-Link, Kalenderdatei, Abmeldung und Bewertung finden sie unter Meine Anmeldungen.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und Kalenderdatei, später auch unter Meine Anmeldungen. Dort lässt sich die Anmeldung auch zurückgeben.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führt in vier Abschnitten: worum, wann, was und Teams-Link. Die Plattform prüft Zeitfenster und Dauer. Als Anbieter erscheint der Benutzername. Unter Meine Veranstaltungen lässt sich die Veranstaltung auch absagen. Angemeldete Personen sehen die Absage als Mitteilung,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 kein eigenes Foto hat, wählt eines von rund 70 Platzhalterbildern, dienstlich wie privat. Die Administration kann zusätzlich echte Fotos hinterlegen, etwa aus der R+V-Mediendatenbank. Die Motive folgen der R+V-Bildwelt: flache Markenfarben und Piktogramme aus dem R+V-Iconfont. Eine Suche hilft bei der Auswahl. Die Motive sind mit KI gestaltet und tragen deshalb das KI-Label der 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sieht ihre Anmeldungen und ihre eigenen Veranstaltungen an einem Ort. Ein Schalter trennt Anstehend und Vergangen. Anbietende sehen die Teilnehmenden nur mit Benutzernamen und können selbst absagen. Wer angemeldet ist, erhält dann eine Mitteilung in der App.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hat ein eigenes Profil mit fünf Bereichen: Übersicht, Veranstaltungen, Teilnahmen, Veröffentlichung und Konto. Name, XV-Nummer und E-Mail-Adresse lassen sich dort selbst ändern, bestätigt mit dem Passwort. Abzeichen in sechs Stufen zeigen, wie viele Sessions jemand angeboten hat. Die Rakete steht für den Expertenstatus in einem Thema. Wer möchte, macht sein Profil öffentlich. Dann wird der Benutzername auf der Kachel anklickbar. Was andere sehen, gibt jede Person selbst frei. Echter Name und XV-Nummer bleiben immer verborgen.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sechs Bereiche mit über 20 Kennzahlen und rund 20 Auswertungen, jeweils mit PDF-Export. Wir betrachten Angebot, Nachfrage, Nutzende, Bewertungen und Datenschutz. Die wichtigsten Werte für das Management sind Lernstunden und erreichte Personen. Die Abbildung zeigt Beispieldaten. Alle Auswertungen sind zusammengefasst. Ranglisten mit Personenbezug, Anmeldezeiten je Person und Einzelbewertungen gibt es nicht. Bewertungen fließen erst ab drei Stimmen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Damit der Nutzen sichtbar wird, schlagen wir messbare Ziele für die ersten sechs Monate vor. Alle Werte liefert die Statistik der Plattform direkt, auch als PDF-Bericht. Die Zielwerte sind ein Vorschlag und werden gemeinsam festgelegt. Der Aufwand ist gering: keine Lizenzkosten, Betrieb auf einem vorhandenen IIS-Server, Termine in Teams. Der Hauptaufwand ist die Betreuung durch VH-VP-TV.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Wichtig und ehrlich: Die Anrechnung von Zeiten auf die IDD funktioniert heute noch nicht. Teilnehmende erhalten aktuell keine IDD-Bestätigung. Das kommunizieren wir klar. Es ist aber in Planung. Die IDD verlangt 15 Stunden Weiterbildung im Jahr. Anerkannt sind unter anderem interne Veranstaltungen und Selbststudium mit Lernerfolgskontrolle, Nachweise sind fünf Jahre aufzubewahren. Es gibt konzeptionelle und technische Hürden, die wir schnellstmöglich beheben wollen. Die Fragen auf der Folie sind offene Punkte, keine Festlegungen. Der Pilot startet unabhängig davon.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Öffentlich sichtbar ist nur der Benutzername. Echter Name, XV-Nummer und E-Mail-Adresse sehen nur die betroffene Person und die Administration. Die Daten jeder Veranstaltung bleiben fünf Jahre nach dem Ende gespeichert, ausschließlich für Nachweis und Anrechnung. Das gilt für private und dienstliche Sessions gleichermaßen. Danach werden sie anonymisiert, nur Zähler bleiben. Konten ohne Anmeldung löscht die Plattform nach 24 Monaten automatisch.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haben die Plattform gezielt auf IT-Sicherheit und Datenschutz geprüft und nachgeschärft. Beschäftigte können ihre Daten selbst herunterladen und ihr Konto selbst löschen. Abzeichen und Profil sind freiwillig. Eine Leistungs- oder Verhaltenskontrolle ist technisch ausgeschlossen: keine Ranglisten, keine Anmeldezeiten je Person, keine Sterne je Person, auch nicht für die Administration. Wer an privaten Sessions teilnimmt, sieht die Administration nicht. Technisch schützen gehashte Passwörter, serverseitig beendbare Sitzungen, Schutz vor fremden Formularen, Skripten und Einbettungen sowie geprüfte Uploads. Admin-Änderungen werden protokolliert. HTTPS setzt die Plattform nicht voraus. Ohne HTTPS betreiben wir sie nur im internen Netz. Details stehen im Papier zu IT-Sicherheit und Datenschutz.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noch ohne IDD-Anrechnung. In Phase 2 klären wir die IDD-Anrechnung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IDD-Anrechnung funktioniert noch nicht und ist deshalb ein eigener Auftrag.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das Ziel, IDD-Inhalte anrechnen zu können.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3.png"/><Relationship Id="rId6" Type="http://schemas.openxmlformats.org/officeDocument/2006/relationships/image" Target="../media/image-16-6.png"/><Relationship Id="rId7" Type="http://schemas.openxmlformats.org/officeDocument/2006/relationships/image" Target="../media/image-16-3.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03.10.2026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Registrierung und Anmeldung mit Benutzername</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bearbeiten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Bewertung, Abzeichen, öffentliches Profil</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IDD-Anrechnung: noch nicht möglich</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Technischer Nachweis für dienstliche Sessions</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Anbietende,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Öffentlich erscheint nur der Benutzername.</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Einmal registrieren, dann Anmeldung in zwei Klicks und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mit eigenem 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Konto anmelden.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 in den Kalender übernehmen, über den Teams-Link beitreten und danach bewerten.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Unter Meine Veranstaltungen siehst Du Teilnehmende und Bewertungen.</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und Kalenderdatei erscheinen direkt nach der Anmeldung. Absagen erscheinen als Mitteilung.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buchung.jpg">    </p:cNvPr>
          <p:cNvPicPr>
            <a:picLocks noChangeAspect="1"/>
          </p:cNvPicPr>
          <p:nvPr/>
        </p:nvPicPr>
        <p:blipFill>
          <a:blip r:embed="rId3"/>
          <a:stretch>
            <a:fillRect/>
          </a:stretch>
        </p:blipFill>
        <p:spPr>
          <a:xfrm>
            <a:off x="6199632" y="1463040"/>
            <a:ext cx="5486400" cy="248111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Klick genügt. Danach erscheinen Teams-Link und Kalenderdatei.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Worum, wann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Titel, Thema und ein Termin im erlaubten Zeitfenster.</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Was wird angeboten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Art, Platzzahl bis 50, Beschreibung und ein eigenes Bild oder ein Platzhalterbild.</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Teams-Link</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Der Link ist nur für angemeldete Personen sichtbar.</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mit Benutzernamen, Bewertung, Bearbeiten und Absage.</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Bilder in der R+V-Bildwelt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Eigenes Foto hochladen oder ein Platzhalterbild wählen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latzhalter.jpg">    </p:cNvPr>
          <p:cNvPicPr>
            <a:picLocks noChangeAspect="1"/>
          </p:cNvPicPr>
          <p:nvPr/>
        </p:nvPicPr>
        <p:blipFill>
          <a:blip r:embed="rId2"/>
          <a:stretch>
            <a:fillRect/>
          </a:stretch>
        </p:blipFill>
        <p:spPr>
          <a:xfrm>
            <a:off x="530352" y="1463040"/>
            <a:ext cx="4572000" cy="4051005"/>
          </a:xfrm>
          <a:prstGeom prst="rect">
            <a:avLst/>
          </a:prstGeom>
        </p:spPr>
      </p:pic>
      <p:sp>
        <p:nvSpPr>
          <p:cNvPr id="9" name="Text 4"/>
          <p:cNvSpPr txBox="1"/>
          <p:nvPr/>
        </p:nvSpPr>
        <p:spPr>
          <a:xfrm>
            <a:off x="5577840" y="150876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Eigenes Bild</a:t>
            </a:r>
            <a:endParaRPr lang="en-US" sz="1800" dirty="0"/>
          </a:p>
        </p:txBody>
      </p:sp>
      <p:sp>
        <p:nvSpPr>
          <p:cNvPr id="10" name="Text 5"/>
          <p:cNvSpPr txBox="1"/>
          <p:nvPr/>
        </p:nvSpPr>
        <p:spPr>
          <a:xfrm>
            <a:off x="5577840" y="189280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Hochladen, Ausschnitt und Zoom wählen, quadratisch gespeichert.</a:t>
            </a:r>
            <a:endParaRPr lang="en-US" sz="1400" dirty="0"/>
          </a:p>
        </p:txBody>
      </p:sp>
      <p:sp>
        <p:nvSpPr>
          <p:cNvPr id="11" name="Text 6"/>
          <p:cNvSpPr txBox="1"/>
          <p:nvPr/>
        </p:nvSpPr>
        <p:spPr>
          <a:xfrm>
            <a:off x="5577840" y="260604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Rund 70 Motive und Fotos</a:t>
            </a:r>
            <a:endParaRPr lang="en-US" sz="1800" dirty="0"/>
          </a:p>
        </p:txBody>
      </p:sp>
      <p:sp>
        <p:nvSpPr>
          <p:cNvPr id="12" name="Text 7"/>
          <p:cNvSpPr txBox="1"/>
          <p:nvPr/>
        </p:nvSpPr>
        <p:spPr>
          <a:xfrm>
            <a:off x="5577840" y="299008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Vom Kundengespräch bis zum Spieleabend, dazu Fotos der Administration, mit Suche.</a:t>
            </a:r>
            <a:endParaRPr lang="en-US" sz="1400" dirty="0"/>
          </a:p>
        </p:txBody>
      </p:sp>
      <p:sp>
        <p:nvSpPr>
          <p:cNvPr id="13" name="Text 8"/>
          <p:cNvSpPr txBox="1"/>
          <p:nvPr/>
        </p:nvSpPr>
        <p:spPr>
          <a:xfrm>
            <a:off x="5577840" y="370332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KI-Label</a:t>
            </a:r>
            <a:endParaRPr lang="en-US" sz="1800" dirty="0"/>
          </a:p>
        </p:txBody>
      </p:sp>
      <p:sp>
        <p:nvSpPr>
          <p:cNvPr id="14" name="Text 9"/>
          <p:cNvSpPr txBox="1"/>
          <p:nvPr/>
        </p:nvSpPr>
        <p:spPr>
          <a:xfrm>
            <a:off x="5577840" y="408736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Jedes Platzhaltermotiv trägt das vorgeschriebene KI-Label der R+V.</a:t>
            </a:r>
            <a:endParaRPr lang="en-US" sz="1400" dirty="0"/>
          </a:p>
        </p:txBody>
      </p:sp>
      <p:sp>
        <p:nvSpPr>
          <p:cNvPr id="15" name="Text 10"/>
          <p:cNvSpPr txBox="1"/>
          <p:nvPr/>
        </p:nvSpPr>
        <p:spPr>
          <a:xfrm>
            <a:off x="5577840" y="480060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Standardmotiv</a:t>
            </a:r>
            <a:endParaRPr lang="en-US" sz="1800" dirty="0"/>
          </a:p>
        </p:txBody>
      </p:sp>
      <p:sp>
        <p:nvSpPr>
          <p:cNvPr id="16" name="Text 11"/>
          <p:cNvSpPr txBox="1"/>
          <p:nvPr/>
        </p:nvSpPr>
        <p:spPr>
          <a:xfrm>
            <a:off x="5577840" y="518464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Ohne Auswahl erscheint automatisch ein Motiv zum Thema.</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Alles im 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Meine Anmeldungen und Meine Veranstaltungen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meine-veranstaltung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Anstehend und Vergangen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Zwei Bereiche statt einer langen Liste.</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Anmeldungen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Teams-Link, Kalenderdatei, Abmelden und Bewertung.</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Ø Bewertung, Bearbeiten und Absage.</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Mitteilungen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Absagen erscheinen direkt in der App.</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eigene Profil</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Erfolge sichtbar machen, Kontakt ermöglichen, alles freiwillig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rofil-oeffentlich.jpg">    </p:cNvPr>
          <p:cNvPicPr>
            <a:picLocks noChangeAspect="1"/>
          </p:cNvPicPr>
          <p:nvPr/>
        </p:nvPicPr>
        <p:blipFill>
          <a:blip r:embed="rId2"/>
          <a:stretch>
            <a:fillRect/>
          </a:stretch>
        </p:blipFill>
        <p:spPr>
          <a:xfrm>
            <a:off x="530352" y="1463040"/>
            <a:ext cx="5120640" cy="3612379"/>
          </a:xfrm>
          <a:prstGeom prst="rect">
            <a:avLst/>
          </a:prstGeom>
        </p:spPr>
      </p:pic>
      <p:sp>
        <p:nvSpPr>
          <p:cNvPr id="9" name="Text 4"/>
          <p:cNvSpPr txBox="1"/>
          <p:nvPr/>
        </p:nvSpPr>
        <p:spPr>
          <a:xfrm>
            <a:off x="6126480" y="150876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Profil mit Profilbild</a:t>
            </a:r>
            <a:endParaRPr lang="en-US" sz="1800" dirty="0"/>
          </a:p>
        </p:txBody>
      </p:sp>
      <p:sp>
        <p:nvSpPr>
          <p:cNvPr id="10" name="Text 5"/>
          <p:cNvSpPr txBox="1"/>
          <p:nvPr/>
        </p:nvSpPr>
        <p:spPr>
          <a:xfrm>
            <a:off x="6126480" y="189280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Eigenes Foto oder Illustration, fünf Bereiche von Übersicht bis Konto.</a:t>
            </a:r>
            <a:endParaRPr lang="en-US" sz="1400" dirty="0"/>
          </a:p>
        </p:txBody>
      </p:sp>
      <p:sp>
        <p:nvSpPr>
          <p:cNvPr id="11" name="Text 6"/>
          <p:cNvSpPr txBox="1"/>
          <p:nvPr/>
        </p:nvSpPr>
        <p:spPr>
          <a:xfrm>
            <a:off x="6126480" y="260604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Abzeichen und Rakete</a:t>
            </a:r>
            <a:endParaRPr lang="en-US" sz="1800" dirty="0"/>
          </a:p>
        </p:txBody>
      </p:sp>
      <p:sp>
        <p:nvSpPr>
          <p:cNvPr id="12" name="Text 7"/>
          <p:cNvSpPr txBox="1"/>
          <p:nvPr/>
        </p:nvSpPr>
        <p:spPr>
          <a:xfrm>
            <a:off x="6126480" y="299008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Sechs Stufen von Bronze bis Diamant. Die Rakete zeigt Expertenstatus im Thema.</a:t>
            </a:r>
            <a:endParaRPr lang="en-US" sz="1400" dirty="0"/>
          </a:p>
        </p:txBody>
      </p:sp>
      <p:sp>
        <p:nvSpPr>
          <p:cNvPr id="13" name="Text 8"/>
          <p:cNvSpPr txBox="1"/>
          <p:nvPr/>
        </p:nvSpPr>
        <p:spPr>
          <a:xfrm>
            <a:off x="6126480" y="370332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Öffentliches Profil</a:t>
            </a:r>
            <a:endParaRPr lang="en-US" sz="1800" dirty="0"/>
          </a:p>
        </p:txBody>
      </p:sp>
      <p:sp>
        <p:nvSpPr>
          <p:cNvPr id="14" name="Text 9"/>
          <p:cNvSpPr txBox="1"/>
          <p:nvPr/>
        </p:nvSpPr>
        <p:spPr>
          <a:xfrm>
            <a:off x="6126480" y="408736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Freiwillig: Themen, Bio, wahlweise Bewertung, Expertenthemen und E-Mail. Die Startseite erinnert daran.</a:t>
            </a:r>
            <a:endParaRPr lang="en-US" sz="1400" dirty="0"/>
          </a:p>
        </p:txBody>
      </p:sp>
      <p:sp>
        <p:nvSpPr>
          <p:cNvPr id="15" name="Text 10"/>
          <p:cNvSpPr txBox="1"/>
          <p:nvPr/>
        </p:nvSpPr>
        <p:spPr>
          <a:xfrm>
            <a:off x="6126480" y="480060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Direkt buchen</a:t>
            </a:r>
            <a:endParaRPr lang="en-US" sz="1800" dirty="0"/>
          </a:p>
        </p:txBody>
      </p:sp>
      <p:sp>
        <p:nvSpPr>
          <p:cNvPr id="16" name="Text 11"/>
          <p:cNvSpPr txBox="1"/>
          <p:nvPr/>
        </p:nvSpPr>
        <p:spPr>
          <a:xfrm>
            <a:off x="6126480" y="518464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Anstehende Termine im Profil lassen sich mit einem Klick buchen.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die anbietende Person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Eigenes Konto, Profilbild freiwillig</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Anbietende</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bearbeiten und absagen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Teilnehmende, Bewertung, Abzeichen und Expertenstatus</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Texte, Fotos und Abzeichen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Konten und Rechte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in sechs Bereichen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Anbietende</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Lernstunden und erreichte Personen pro Monat</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Bewertungen und Aktivität nur zusammengefasst</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jeder Bereich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Woran wir den Pilot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Klare Zielwerte für sechs Monate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2084832" cy="2331720"/>
          </a:xfrm>
          <a:prstGeom prst="rect">
            <a:avLst/>
          </a:prstGeom>
          <a:solidFill>
            <a:srgbClr val="001957"/>
          </a:solidFill>
          <a:ln w="12700">
            <a:solidFill>
              <a:srgbClr val="001957"/>
            </a:solidFill>
            <a:prstDash val="solid"/>
          </a:ln>
        </p:spPr>
      </p:sp>
      <p:sp>
        <p:nvSpPr>
          <p:cNvPr id="9" name="Text 5"/>
          <p:cNvSpPr txBox="1"/>
          <p:nvPr/>
        </p:nvSpPr>
        <p:spPr>
          <a:xfrm>
            <a:off x="713232" y="1645920"/>
            <a:ext cx="1737360" cy="82296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500</a:t>
            </a:r>
            <a:endParaRPr lang="en-US" sz="3600" dirty="0"/>
          </a:p>
        </p:txBody>
      </p:sp>
      <p:sp>
        <p:nvSpPr>
          <p:cNvPr id="10" name="Text 6"/>
          <p:cNvSpPr txBox="1"/>
          <p:nvPr/>
        </p:nvSpPr>
        <p:spPr>
          <a:xfrm>
            <a:off x="713232" y="2514600"/>
            <a:ext cx="1783080" cy="548640"/>
          </a:xfrm>
          <a:prstGeom prst="rect">
            <a:avLst/>
          </a:prstGeom>
          <a:noFill/>
          <a:ln/>
        </p:spPr>
        <p:txBody>
          <a:bodyPr wrap="square" lIns="0" tIns="0" rIns="0" bIns="0" rtlCol="0" anchor="t"/>
          <a:lstStyle/>
          <a:p>
            <a:pPr indent="0" marL="0">
              <a:buNone/>
            </a:pPr>
            <a:r>
              <a:rPr lang="en-US" sz="1500" b="1" dirty="0">
                <a:solidFill>
                  <a:srgbClr val="00DCDC"/>
                </a:solidFill>
                <a:latin typeface="Arial" pitchFamily="34" charset="0"/>
                <a:ea typeface="Arial" pitchFamily="34" charset="-122"/>
                <a:cs typeface="Arial" pitchFamily="34" charset="-120"/>
              </a:rPr>
              <a:t>Lernstunden</a:t>
            </a:r>
            <a:endParaRPr lang="en-US" sz="1500" dirty="0"/>
          </a:p>
        </p:txBody>
      </p:sp>
      <p:sp>
        <p:nvSpPr>
          <p:cNvPr id="11" name="Text 7"/>
          <p:cNvSpPr txBox="1"/>
          <p:nvPr/>
        </p:nvSpPr>
        <p:spPr>
          <a:xfrm>
            <a:off x="713232" y="3063240"/>
            <a:ext cx="1783080" cy="6400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Teilnahmen mal Dauer</a:t>
            </a:r>
            <a:endParaRPr lang="en-US" sz="1200" dirty="0"/>
          </a:p>
        </p:txBody>
      </p:sp>
      <p:sp>
        <p:nvSpPr>
          <p:cNvPr id="12" name="Shape 8"/>
          <p:cNvSpPr/>
          <p:nvPr/>
        </p:nvSpPr>
        <p:spPr>
          <a:xfrm>
            <a:off x="2798064" y="1508760"/>
            <a:ext cx="2084832" cy="2331720"/>
          </a:xfrm>
          <a:prstGeom prst="rect">
            <a:avLst/>
          </a:prstGeom>
          <a:solidFill>
            <a:srgbClr val="F5F5F5"/>
          </a:solidFill>
          <a:ln w="12700">
            <a:solidFill>
              <a:srgbClr val="F5F5F5"/>
            </a:solidFill>
            <a:prstDash val="solid"/>
          </a:ln>
        </p:spPr>
      </p:sp>
      <p:sp>
        <p:nvSpPr>
          <p:cNvPr id="13" name="Text 9"/>
          <p:cNvSpPr txBox="1"/>
          <p:nvPr/>
        </p:nvSpPr>
        <p:spPr>
          <a:xfrm>
            <a:off x="2980944" y="1645920"/>
            <a:ext cx="1737360" cy="822960"/>
          </a:xfrm>
          <a:prstGeom prst="rect">
            <a:avLst/>
          </a:prstGeom>
          <a:noFill/>
          <a:ln/>
        </p:spPr>
        <p:txBody>
          <a:bodyPr wrap="square" lIns="0" tIns="0" rIns="0" bIns="0" rtlCol="0" anchor="t"/>
          <a:lstStyle/>
          <a:p>
            <a:pPr indent="0" marL="0">
              <a:buNone/>
            </a:pPr>
            <a:r>
              <a:rPr lang="en-US" sz="3600" b="1" dirty="0">
                <a:solidFill>
                  <a:srgbClr val="001957"/>
                </a:solidFill>
                <a:latin typeface="Arial" pitchFamily="34" charset="0"/>
                <a:ea typeface="Arial" pitchFamily="34" charset="-122"/>
                <a:cs typeface="Arial" pitchFamily="34" charset="-120"/>
              </a:rPr>
              <a:t>250</a:t>
            </a:r>
            <a:endParaRPr lang="en-US" sz="3600" dirty="0"/>
          </a:p>
        </p:txBody>
      </p:sp>
      <p:sp>
        <p:nvSpPr>
          <p:cNvPr id="14" name="Text 10"/>
          <p:cNvSpPr txBox="1"/>
          <p:nvPr/>
        </p:nvSpPr>
        <p:spPr>
          <a:xfrm>
            <a:off x="2980944" y="2514600"/>
            <a:ext cx="1783080" cy="548640"/>
          </a:xfrm>
          <a:prstGeom prst="rect">
            <a:avLst/>
          </a:prstGeom>
          <a:noFill/>
          <a:ln/>
        </p:spPr>
        <p:txBody>
          <a:bodyPr wrap="square" lIns="0" tIns="0" rIns="0" bIns="0" rtlCol="0" anchor="t"/>
          <a:lstStyle/>
          <a:p>
            <a:pPr indent="0" marL="0">
              <a:buNone/>
            </a:pPr>
            <a:r>
              <a:rPr lang="en-US" sz="1500" b="1" dirty="0">
                <a:solidFill>
                  <a:srgbClr val="001957"/>
                </a:solidFill>
                <a:latin typeface="Arial" pitchFamily="34" charset="0"/>
                <a:ea typeface="Arial" pitchFamily="34" charset="-122"/>
                <a:cs typeface="Arial" pitchFamily="34" charset="-120"/>
              </a:rPr>
              <a:t>Erreichte Personen</a:t>
            </a:r>
            <a:endParaRPr lang="en-US" sz="1500" dirty="0"/>
          </a:p>
        </p:txBody>
      </p:sp>
      <p:sp>
        <p:nvSpPr>
          <p:cNvPr id="15" name="Text 11"/>
          <p:cNvSpPr txBox="1"/>
          <p:nvPr/>
        </p:nvSpPr>
        <p:spPr>
          <a:xfrm>
            <a:off x="2980944" y="3063240"/>
            <a:ext cx="178308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mindestens eine Teilnahme</a:t>
            </a:r>
            <a:endParaRPr lang="en-US" sz="1200" dirty="0"/>
          </a:p>
        </p:txBody>
      </p:sp>
      <p:sp>
        <p:nvSpPr>
          <p:cNvPr id="16" name="Shape 12"/>
          <p:cNvSpPr/>
          <p:nvPr/>
        </p:nvSpPr>
        <p:spPr>
          <a:xfrm>
            <a:off x="5065776" y="1508760"/>
            <a:ext cx="2084832" cy="2331720"/>
          </a:xfrm>
          <a:prstGeom prst="rect">
            <a:avLst/>
          </a:prstGeom>
          <a:solidFill>
            <a:srgbClr val="F5F5F5"/>
          </a:solidFill>
          <a:ln w="12700">
            <a:solidFill>
              <a:srgbClr val="F5F5F5"/>
            </a:solidFill>
            <a:prstDash val="solid"/>
          </a:ln>
        </p:spPr>
      </p:sp>
      <p:sp>
        <p:nvSpPr>
          <p:cNvPr id="17" name="Text 13"/>
          <p:cNvSpPr txBox="1"/>
          <p:nvPr/>
        </p:nvSpPr>
        <p:spPr>
          <a:xfrm>
            <a:off x="5248656" y="1645920"/>
            <a:ext cx="1737360" cy="822960"/>
          </a:xfrm>
          <a:prstGeom prst="rect">
            <a:avLst/>
          </a:prstGeom>
          <a:noFill/>
          <a:ln/>
        </p:spPr>
        <p:txBody>
          <a:bodyPr wrap="square" lIns="0" tIns="0" rIns="0" bIns="0" rtlCol="0" anchor="t"/>
          <a:lstStyle/>
          <a:p>
            <a:pPr indent="0" marL="0">
              <a:buNone/>
            </a:pPr>
            <a:r>
              <a:rPr lang="en-US" sz="3600" b="1" dirty="0">
                <a:solidFill>
                  <a:srgbClr val="001957"/>
                </a:solidFill>
                <a:latin typeface="Arial" pitchFamily="34" charset="0"/>
                <a:ea typeface="Arial" pitchFamily="34" charset="-122"/>
                <a:cs typeface="Arial" pitchFamily="34" charset="-120"/>
              </a:rPr>
              <a:t>60</a:t>
            </a:r>
            <a:endParaRPr lang="en-US" sz="3600" dirty="0"/>
          </a:p>
        </p:txBody>
      </p:sp>
      <p:sp>
        <p:nvSpPr>
          <p:cNvPr id="18" name="Text 14"/>
          <p:cNvSpPr txBox="1"/>
          <p:nvPr/>
        </p:nvSpPr>
        <p:spPr>
          <a:xfrm>
            <a:off x="5248656" y="2514600"/>
            <a:ext cx="1783080" cy="548640"/>
          </a:xfrm>
          <a:prstGeom prst="rect">
            <a:avLst/>
          </a:prstGeom>
          <a:noFill/>
          <a:ln/>
        </p:spPr>
        <p:txBody>
          <a:bodyPr wrap="square" lIns="0" tIns="0" rIns="0" bIns="0" rtlCol="0" anchor="t"/>
          <a:lstStyle/>
          <a:p>
            <a:pPr indent="0" marL="0">
              <a:buNone/>
            </a:pPr>
            <a:r>
              <a:rPr lang="en-US" sz="1500" b="1" dirty="0">
                <a:solidFill>
                  <a:srgbClr val="001957"/>
                </a:solidFill>
                <a:latin typeface="Arial" pitchFamily="34" charset="0"/>
                <a:ea typeface="Arial" pitchFamily="34" charset="-122"/>
                <a:cs typeface="Arial" pitchFamily="34" charset="-120"/>
              </a:rPr>
              <a:t>Sessions</a:t>
            </a:r>
            <a:endParaRPr lang="en-US" sz="1500" dirty="0"/>
          </a:p>
        </p:txBody>
      </p:sp>
      <p:sp>
        <p:nvSpPr>
          <p:cNvPr id="19" name="Text 15"/>
          <p:cNvSpPr txBox="1"/>
          <p:nvPr/>
        </p:nvSpPr>
        <p:spPr>
          <a:xfrm>
            <a:off x="5248656" y="3063240"/>
            <a:ext cx="178308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durchgeführt, dienstlich und privat</a:t>
            </a:r>
            <a:endParaRPr lang="en-US" sz="1200" dirty="0"/>
          </a:p>
        </p:txBody>
      </p:sp>
      <p:sp>
        <p:nvSpPr>
          <p:cNvPr id="20" name="Shape 16"/>
          <p:cNvSpPr/>
          <p:nvPr/>
        </p:nvSpPr>
        <p:spPr>
          <a:xfrm>
            <a:off x="7333488" y="1508760"/>
            <a:ext cx="2084832" cy="2331720"/>
          </a:xfrm>
          <a:prstGeom prst="rect">
            <a:avLst/>
          </a:prstGeom>
          <a:solidFill>
            <a:srgbClr val="F5F5F5"/>
          </a:solidFill>
          <a:ln w="12700">
            <a:solidFill>
              <a:srgbClr val="F5F5F5"/>
            </a:solidFill>
            <a:prstDash val="solid"/>
          </a:ln>
        </p:spPr>
      </p:sp>
      <p:sp>
        <p:nvSpPr>
          <p:cNvPr id="21" name="Text 17"/>
          <p:cNvSpPr txBox="1"/>
          <p:nvPr/>
        </p:nvSpPr>
        <p:spPr>
          <a:xfrm>
            <a:off x="7516368" y="1645920"/>
            <a:ext cx="1737360" cy="822960"/>
          </a:xfrm>
          <a:prstGeom prst="rect">
            <a:avLst/>
          </a:prstGeom>
          <a:noFill/>
          <a:ln/>
        </p:spPr>
        <p:txBody>
          <a:bodyPr wrap="square" lIns="0" tIns="0" rIns="0" bIns="0" rtlCol="0" anchor="t"/>
          <a:lstStyle/>
          <a:p>
            <a:pPr indent="0" marL="0">
              <a:buNone/>
            </a:pPr>
            <a:r>
              <a:rPr lang="en-US" sz="3600" b="1" dirty="0">
                <a:solidFill>
                  <a:srgbClr val="001957"/>
                </a:solidFill>
                <a:latin typeface="Arial" pitchFamily="34" charset="0"/>
                <a:ea typeface="Arial" pitchFamily="34" charset="-122"/>
                <a:cs typeface="Arial" pitchFamily="34" charset="-120"/>
              </a:rPr>
              <a:t>20</a:t>
            </a:r>
            <a:endParaRPr lang="en-US" sz="3600" dirty="0"/>
          </a:p>
        </p:txBody>
      </p:sp>
      <p:sp>
        <p:nvSpPr>
          <p:cNvPr id="22" name="Text 18"/>
          <p:cNvSpPr txBox="1"/>
          <p:nvPr/>
        </p:nvSpPr>
        <p:spPr>
          <a:xfrm>
            <a:off x="7516368" y="2514600"/>
            <a:ext cx="1783080" cy="548640"/>
          </a:xfrm>
          <a:prstGeom prst="rect">
            <a:avLst/>
          </a:prstGeom>
          <a:noFill/>
          <a:ln/>
        </p:spPr>
        <p:txBody>
          <a:bodyPr wrap="square" lIns="0" tIns="0" rIns="0" bIns="0" rtlCol="0" anchor="t"/>
          <a:lstStyle/>
          <a:p>
            <a:pPr indent="0" marL="0">
              <a:buNone/>
            </a:pPr>
            <a:r>
              <a:rPr lang="en-US" sz="1500" b="1" dirty="0">
                <a:solidFill>
                  <a:srgbClr val="001957"/>
                </a:solidFill>
                <a:latin typeface="Arial" pitchFamily="34" charset="0"/>
                <a:ea typeface="Arial" pitchFamily="34" charset="-122"/>
                <a:cs typeface="Arial" pitchFamily="34" charset="-120"/>
              </a:rPr>
              <a:t>Anbietende</a:t>
            </a:r>
            <a:endParaRPr lang="en-US" sz="1500" dirty="0"/>
          </a:p>
        </p:txBody>
      </p:sp>
      <p:sp>
        <p:nvSpPr>
          <p:cNvPr id="23" name="Text 19"/>
          <p:cNvSpPr txBox="1"/>
          <p:nvPr/>
        </p:nvSpPr>
        <p:spPr>
          <a:xfrm>
            <a:off x="7516368" y="3063240"/>
            <a:ext cx="178308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aus dem Außendienst</a:t>
            </a:r>
            <a:endParaRPr lang="en-US" sz="1200" dirty="0"/>
          </a:p>
        </p:txBody>
      </p:sp>
      <p:sp>
        <p:nvSpPr>
          <p:cNvPr id="24" name="Shape 20"/>
          <p:cNvSpPr/>
          <p:nvPr/>
        </p:nvSpPr>
        <p:spPr>
          <a:xfrm>
            <a:off x="9601200" y="1508760"/>
            <a:ext cx="2084832" cy="2331720"/>
          </a:xfrm>
          <a:prstGeom prst="rect">
            <a:avLst/>
          </a:prstGeom>
          <a:solidFill>
            <a:srgbClr val="F5F5F5"/>
          </a:solidFill>
          <a:ln w="12700">
            <a:solidFill>
              <a:srgbClr val="F5F5F5"/>
            </a:solidFill>
            <a:prstDash val="solid"/>
          </a:ln>
        </p:spPr>
      </p:sp>
      <p:sp>
        <p:nvSpPr>
          <p:cNvPr id="25" name="Text 21"/>
          <p:cNvSpPr txBox="1"/>
          <p:nvPr/>
        </p:nvSpPr>
        <p:spPr>
          <a:xfrm>
            <a:off x="9784080" y="1645920"/>
            <a:ext cx="1737360" cy="822960"/>
          </a:xfrm>
          <a:prstGeom prst="rect">
            <a:avLst/>
          </a:prstGeom>
          <a:noFill/>
          <a:ln/>
        </p:spPr>
        <p:txBody>
          <a:bodyPr wrap="square" lIns="0" tIns="0" rIns="0" bIns="0" rtlCol="0" anchor="t"/>
          <a:lstStyle/>
          <a:p>
            <a:pPr indent="0" marL="0">
              <a:buNone/>
            </a:pPr>
            <a:r>
              <a:rPr lang="en-US" sz="3600" b="1" dirty="0">
                <a:solidFill>
                  <a:srgbClr val="001957"/>
                </a:solidFill>
                <a:latin typeface="Arial" pitchFamily="34" charset="0"/>
                <a:ea typeface="Arial" pitchFamily="34" charset="-122"/>
                <a:cs typeface="Arial" pitchFamily="34" charset="-120"/>
              </a:rPr>
              <a:t>4,0</a:t>
            </a:r>
            <a:endParaRPr lang="en-US" sz="3600" dirty="0"/>
          </a:p>
        </p:txBody>
      </p:sp>
      <p:sp>
        <p:nvSpPr>
          <p:cNvPr id="26" name="Text 22"/>
          <p:cNvSpPr txBox="1"/>
          <p:nvPr/>
        </p:nvSpPr>
        <p:spPr>
          <a:xfrm>
            <a:off x="9784080" y="2514600"/>
            <a:ext cx="1783080" cy="548640"/>
          </a:xfrm>
          <a:prstGeom prst="rect">
            <a:avLst/>
          </a:prstGeom>
          <a:noFill/>
          <a:ln/>
        </p:spPr>
        <p:txBody>
          <a:bodyPr wrap="square" lIns="0" tIns="0" rIns="0" bIns="0" rtlCol="0" anchor="t"/>
          <a:lstStyle/>
          <a:p>
            <a:pPr indent="0" marL="0">
              <a:buNone/>
            </a:pPr>
            <a:r>
              <a:rPr lang="en-US" sz="1500" b="1" dirty="0">
                <a:solidFill>
                  <a:srgbClr val="001957"/>
                </a:solidFill>
                <a:latin typeface="Arial" pitchFamily="34" charset="0"/>
                <a:ea typeface="Arial" pitchFamily="34" charset="-122"/>
                <a:cs typeface="Arial" pitchFamily="34" charset="-120"/>
              </a:rPr>
              <a:t>Zufriedenheit</a:t>
            </a:r>
            <a:endParaRPr lang="en-US" sz="1500" dirty="0"/>
          </a:p>
        </p:txBody>
      </p:sp>
      <p:sp>
        <p:nvSpPr>
          <p:cNvPr id="27" name="Text 23"/>
          <p:cNvSpPr txBox="1"/>
          <p:nvPr/>
        </p:nvSpPr>
        <p:spPr>
          <a:xfrm>
            <a:off x="9784080" y="3063240"/>
            <a:ext cx="178308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Ø Sterne von 5</a:t>
            </a:r>
            <a:endParaRPr lang="en-US" sz="1200" dirty="0"/>
          </a:p>
        </p:txBody>
      </p:sp>
      <p:sp>
        <p:nvSpPr>
          <p:cNvPr id="28" name="Shape 24"/>
          <p:cNvSpPr/>
          <p:nvPr/>
        </p:nvSpPr>
        <p:spPr>
          <a:xfrm>
            <a:off x="530352" y="4069080"/>
            <a:ext cx="5486400" cy="2011680"/>
          </a:xfrm>
          <a:prstGeom prst="rect">
            <a:avLst/>
          </a:prstGeom>
          <a:solidFill>
            <a:srgbClr val="FFF4E0"/>
          </a:solidFill>
          <a:ln w="12700">
            <a:solidFill>
              <a:srgbClr val="FFF4E0"/>
            </a:solidFill>
            <a:prstDash val="solid"/>
          </a:ln>
        </p:spPr>
      </p:sp>
      <p:pic>
        <p:nvPicPr>
          <p:cNvPr id="29" name="Image 1" descr="/tmp/deck/ic/target_m.png">    </p:cNvPr>
          <p:cNvPicPr>
            <a:picLocks noChangeAspect="1"/>
          </p:cNvPicPr>
          <p:nvPr/>
        </p:nvPicPr>
        <p:blipFill>
          <a:blip r:embed="rId2"/>
          <a:stretch>
            <a:fillRect/>
          </a:stretch>
        </p:blipFill>
        <p:spPr>
          <a:xfrm>
            <a:off x="777240" y="4251960"/>
            <a:ext cx="548640" cy="548640"/>
          </a:xfrm>
          <a:prstGeom prst="rect">
            <a:avLst/>
          </a:prstGeom>
        </p:spPr>
      </p:pic>
      <p:sp>
        <p:nvSpPr>
          <p:cNvPr id="30" name="Text 25"/>
          <p:cNvSpPr txBox="1"/>
          <p:nvPr/>
        </p:nvSpPr>
        <p:spPr>
          <a:xfrm>
            <a:off x="146304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Messbar ab dem ersten Tag</a:t>
            </a:r>
            <a:endParaRPr lang="en-US" sz="1800" dirty="0"/>
          </a:p>
        </p:txBody>
      </p:sp>
      <p:sp>
        <p:nvSpPr>
          <p:cNvPr id="31" name="Text 26"/>
          <p:cNvSpPr txBox="1"/>
          <p:nvPr/>
        </p:nvSpPr>
        <p:spPr>
          <a:xfrm>
            <a:off x="77724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Alle Werte in der Statistik und als PDF-Bericht</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Monatlicher Bericht an das Management</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Nach sechs Monaten: Entscheidung über den Ausbau</a:t>
            </a:r>
            <a:endParaRPr lang="en-US" sz="1400" dirty="0"/>
          </a:p>
        </p:txBody>
      </p:sp>
      <p:sp>
        <p:nvSpPr>
          <p:cNvPr id="32" name="Shape 27"/>
          <p:cNvSpPr/>
          <p:nvPr/>
        </p:nvSpPr>
        <p:spPr>
          <a:xfrm>
            <a:off x="6199632" y="4069080"/>
            <a:ext cx="5486400" cy="2011680"/>
          </a:xfrm>
          <a:prstGeom prst="rect">
            <a:avLst/>
          </a:prstGeom>
          <a:solidFill>
            <a:srgbClr val="F5F5F5"/>
          </a:solidFill>
          <a:ln w="12700">
            <a:solidFill>
              <a:srgbClr val="F5F5F5"/>
            </a:solidFill>
            <a:prstDash val="solid"/>
          </a:ln>
        </p:spPr>
      </p:sp>
      <p:pic>
        <p:nvPicPr>
          <p:cNvPr id="33" name="Image 2" descr="/tmp/deck/ic/building_m.png">    </p:cNvPr>
          <p:cNvPicPr>
            <a:picLocks noChangeAspect="1"/>
          </p:cNvPicPr>
          <p:nvPr/>
        </p:nvPicPr>
        <p:blipFill>
          <a:blip r:embed="rId3"/>
          <a:stretch>
            <a:fillRect/>
          </a:stretch>
        </p:blipFill>
        <p:spPr>
          <a:xfrm>
            <a:off x="6446520" y="4251960"/>
            <a:ext cx="548640" cy="548640"/>
          </a:xfrm>
          <a:prstGeom prst="rect">
            <a:avLst/>
          </a:prstGeom>
        </p:spPr>
      </p:pic>
      <p:sp>
        <p:nvSpPr>
          <p:cNvPr id="34" name="Text 28"/>
          <p:cNvSpPr txBox="1"/>
          <p:nvPr/>
        </p:nvSpPr>
        <p:spPr>
          <a:xfrm>
            <a:off x="713232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Geringer Aufwand</a:t>
            </a:r>
            <a:endParaRPr lang="en-US" sz="1800" dirty="0"/>
          </a:p>
        </p:txBody>
      </p:sp>
      <p:sp>
        <p:nvSpPr>
          <p:cNvPr id="35" name="Text 29"/>
          <p:cNvSpPr txBox="1"/>
          <p:nvPr/>
        </p:nvSpPr>
        <p:spPr>
          <a:xfrm>
            <a:off x="644652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Keine Lizenzkosten, eigene Web-App</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Betrieb auf vorhandenem IIS-Server</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Betreuung durch VH-VP-TV, Termine in Teams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heute noch nicht möglich</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Sie ist in Planung und bleibt ein zentrales Ziel</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Noch nicht möglich. In Planung.</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info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Heute</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werden nicht als IDD-Weiterbildung gebucht.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Teilnehmende erhalten keine IDD-Bestätigung.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Das sagen wir in der Kommunikation klar.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Pilot startet trotzdem: Wissen teilen und Vernetzen zählen auch ohne IDD.</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Ziel</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mit IDD-fähigen Inhalten werden angerechnet.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Grundlage: 15 Stunden Weiterbildung pro 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Nachweis läuft über gespeicherte Daten der Anbietenden und Teilnehmenden.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Diese Daten dienen nur dem Nachweis und der Anrechnung.</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Welche Inhalte sind IDD-fähig und wer prüft das?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Wie sieht die Lernerfolgskontrolle bei kurzen Terminen aus?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bestätigen wir die Teilnahme verlässlich?</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kommt die Bestätigung in das Bildungskonto?</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Öffentlich nur der Benutzername, Anonymisierung nach fünf Jahren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andere sehen</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Standard: nur der frei gewählte Benutzername mit Abzeichen, das sich ausblenden lässt.</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Optional: öffentliches Profil mit Themen, Bio, Profilbild und Freigaben.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Anbietende sehen Teilnehmende nur mit Benutzernamen.</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Aufbewahrung und Anonymisierung</a:t>
            </a:r>
            <a:endParaRPr lang="en-US" sz="2000" dirty="0"/>
          </a:p>
        </p:txBody>
      </p:sp>
      <p:sp>
        <p:nvSpPr>
          <p:cNvPr id="15" name="Text 9"/>
          <p:cNvSpPr txBox="1"/>
          <p:nvPr/>
        </p:nvSpPr>
        <p:spPr>
          <a:xfrm>
            <a:off x="6473952" y="2514600"/>
            <a:ext cx="4983480" cy="2148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Daten bleiben fünf Jahre nach dem Ende gespeichert.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Konten ohne Anmeldung werden nach 24 Monaten gelöscht.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E-Mail-Versand</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IT-Sicherheit und Datenschutz: technisch umgesetzt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Regeln stecken in der Plattform, nicht nur im Konzept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3886200"/>
          </a:xfrm>
          <a:prstGeom prst="rect">
            <a:avLst/>
          </a:prstGeom>
          <a:solidFill>
            <a:srgbClr val="F5F5F5"/>
          </a:solidFill>
          <a:ln w="12700">
            <a:solidFill>
              <a:srgbClr val="F5F5F5"/>
            </a:solidFill>
            <a:prstDash val="solid"/>
          </a:ln>
        </p:spPr>
      </p:sp>
      <p:pic>
        <p:nvPicPr>
          <p:cNvPr id="9" name="Image 1" descr="/tmp/deck/ic/people_m.png">    </p:cNvPr>
          <p:cNvPicPr>
            <a:picLocks noChangeAspect="1"/>
          </p:cNvPicPr>
          <p:nvPr/>
        </p:nvPicPr>
        <p:blipFill>
          <a:blip r:embed="rId2"/>
          <a:stretch>
            <a:fillRect/>
          </a:stretch>
        </p:blipFill>
        <p:spPr>
          <a:xfrm>
            <a:off x="804672" y="1737360"/>
            <a:ext cx="640080" cy="640080"/>
          </a:xfrm>
          <a:prstGeom prst="rect">
            <a:avLst/>
          </a:prstGeom>
        </p:spPr>
      </p:pic>
      <p:sp>
        <p:nvSpPr>
          <p:cNvPr id="10" name="Text 5"/>
          <p:cNvSpPr txBox="1"/>
          <p:nvPr/>
        </p:nvSpPr>
        <p:spPr>
          <a:xfrm>
            <a:off x="80467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Rechte der Beschäftigten</a:t>
            </a:r>
            <a:endParaRPr lang="en-US" sz="1900" dirty="0"/>
          </a:p>
        </p:txBody>
      </p:sp>
      <p:sp>
        <p:nvSpPr>
          <p:cNvPr id="11" name="Text 6"/>
          <p:cNvSpPr txBox="1"/>
          <p:nvPr/>
        </p:nvSpPr>
        <p:spPr>
          <a:xfrm>
            <a:off x="80467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Eigene Daten jederzeit herunterladen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Konto selbst löschen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Profil, Profilbild und Abzeichen freiwillig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Bewertungen anonym, Durchschnitt erst ab drei Stimmen</a:t>
            </a:r>
            <a:endParaRPr lang="en-US" sz="1400" dirty="0"/>
          </a:p>
        </p:txBody>
      </p:sp>
      <p:sp>
        <p:nvSpPr>
          <p:cNvPr id="12" name="Shape 7"/>
          <p:cNvSpPr/>
          <p:nvPr/>
        </p:nvSpPr>
        <p:spPr>
          <a:xfrm>
            <a:off x="4325112" y="1508760"/>
            <a:ext cx="3566160" cy="3886200"/>
          </a:xfrm>
          <a:prstGeom prst="rect">
            <a:avLst/>
          </a:prstGeom>
          <a:solidFill>
            <a:srgbClr val="001957"/>
          </a:solidFill>
          <a:ln w="12700">
            <a:solidFill>
              <a:srgbClr val="001957"/>
            </a:solidFill>
            <a:prstDash val="solid"/>
          </a:ln>
        </p:spPr>
      </p:sp>
      <p:pic>
        <p:nvPicPr>
          <p:cNvPr id="13" name="Image 2" descr="/tmp/deck/ic/scale_m.png">    </p:cNvPr>
          <p:cNvPicPr>
            <a:picLocks noChangeAspect="1"/>
          </p:cNvPicPr>
          <p:nvPr/>
        </p:nvPicPr>
        <p:blipFill>
          <a:blip r:embed="rId3"/>
          <a:stretch>
            <a:fillRect/>
          </a:stretch>
        </p:blipFill>
        <p:spPr>
          <a:xfrm>
            <a:off x="4599432" y="1737360"/>
            <a:ext cx="640080" cy="640080"/>
          </a:xfrm>
          <a:prstGeom prst="rect">
            <a:avLst/>
          </a:prstGeom>
        </p:spPr>
      </p:pic>
      <p:sp>
        <p:nvSpPr>
          <p:cNvPr id="14" name="Text 8"/>
          <p:cNvSpPr txBox="1"/>
          <p:nvPr/>
        </p:nvSpPr>
        <p:spPr>
          <a:xfrm>
            <a:off x="4599432" y="2468880"/>
            <a:ext cx="3063240" cy="73152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Keine Leistungskontrolle</a:t>
            </a:r>
            <a:endParaRPr lang="en-US" sz="1900" dirty="0"/>
          </a:p>
        </p:txBody>
      </p:sp>
      <p:sp>
        <p:nvSpPr>
          <p:cNvPr id="15" name="Text 9"/>
          <p:cNvSpPr txBox="1"/>
          <p:nvPr/>
        </p:nvSpPr>
        <p:spPr>
          <a:xfrm>
            <a:off x="459943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Ranglisten, Statistik nur zusammengefasst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Anmeldezeiten je Person</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Sterne je Person, auch nicht für Admins</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Wer privat teilnimmt, sieht die Administration nicht</a:t>
            </a:r>
            <a:endParaRPr lang="en-US" sz="1400" dirty="0"/>
          </a:p>
        </p:txBody>
      </p:sp>
      <p:sp>
        <p:nvSpPr>
          <p:cNvPr id="16" name="Shape 10"/>
          <p:cNvSpPr/>
          <p:nvPr/>
        </p:nvSpPr>
        <p:spPr>
          <a:xfrm>
            <a:off x="8119872" y="1508760"/>
            <a:ext cx="3566160" cy="3886200"/>
          </a:xfrm>
          <a:prstGeom prst="rect">
            <a:avLst/>
          </a:prstGeom>
          <a:solidFill>
            <a:srgbClr val="F5F5F5"/>
          </a:solidFill>
          <a:ln w="12700">
            <a:solidFill>
              <a:srgbClr val="F5F5F5"/>
            </a:solidFill>
            <a:prstDash val="solid"/>
          </a:ln>
        </p:spPr>
      </p:sp>
      <p:pic>
        <p:nvPicPr>
          <p:cNvPr id="17" name="Image 3" descr="/tmp/deck/ic/lock_m.png">    </p:cNvPr>
          <p:cNvPicPr>
            <a:picLocks noChangeAspect="1"/>
          </p:cNvPicPr>
          <p:nvPr/>
        </p:nvPicPr>
        <p:blipFill>
          <a:blip r:embed="rId4"/>
          <a:stretch>
            <a:fillRect/>
          </a:stretch>
        </p:blipFill>
        <p:spPr>
          <a:xfrm>
            <a:off x="8394192" y="1737360"/>
            <a:ext cx="640080" cy="640080"/>
          </a:xfrm>
          <a:prstGeom prst="rect">
            <a:avLst/>
          </a:prstGeom>
        </p:spPr>
      </p:pic>
      <p:sp>
        <p:nvSpPr>
          <p:cNvPr id="18" name="Text 11"/>
          <p:cNvSpPr txBox="1"/>
          <p:nvPr/>
        </p:nvSpPr>
        <p:spPr>
          <a:xfrm>
            <a:off x="839419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Technischer Schutz</a:t>
            </a:r>
            <a:endParaRPr lang="en-US" sz="1900" dirty="0"/>
          </a:p>
        </p:txBody>
      </p:sp>
      <p:sp>
        <p:nvSpPr>
          <p:cNvPr id="19" name="Text 12"/>
          <p:cNvSpPr txBox="1"/>
          <p:nvPr/>
        </p:nvSpPr>
        <p:spPr>
          <a:xfrm>
            <a:off x="839419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Passwörter nur als sicherer Hash gespeichert</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Abmelden beendet die Sitzung auf dem Server</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Schutz vor fremden Formularen, Skripten und Einbettung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Uploads geprüft, Admin-Änderungen protokolliert</a:t>
            </a:r>
            <a:endParaRPr lang="en-US" sz="1400" dirty="0"/>
          </a:p>
        </p:txBody>
      </p:sp>
      <p:sp>
        <p:nvSpPr>
          <p:cNvPr id="20" name="Shape 13"/>
          <p:cNvSpPr/>
          <p:nvPr/>
        </p:nvSpPr>
        <p:spPr>
          <a:xfrm>
            <a:off x="530352" y="5577840"/>
            <a:ext cx="11155680" cy="548640"/>
          </a:xfrm>
          <a:prstGeom prst="rect">
            <a:avLst/>
          </a:prstGeom>
          <a:solidFill>
            <a:srgbClr val="FFF4E0"/>
          </a:solidFill>
          <a:ln w="12700">
            <a:solidFill>
              <a:srgbClr val="FFF4E0"/>
            </a:solidFill>
            <a:prstDash val="solid"/>
          </a:ln>
        </p:spPr>
      </p:sp>
      <p:sp>
        <p:nvSpPr>
          <p:cNvPr id="21" name="Text 14"/>
          <p:cNvSpPr txBox="1"/>
          <p:nvPr/>
        </p:nvSpPr>
        <p:spPr>
          <a:xfrm>
            <a:off x="804672" y="5577840"/>
            <a:ext cx="10607040" cy="54864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Ohne HTTPS nur im internen Netz betreiben. HTTPS empfehlen wir. Es werden keine E-Mails verschickt.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XV-Nummer, E-Mail-Adresse, Anmeldungen, Bewertungen und freiwillig ein Profilbild.</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Bewertungen und Abzeichen dienen der Motivation, eine Leistungskontrolle ist technisch ausgeschlossen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Anbietende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Die IDD-Anrechnung funktioniert noch nicht,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Bewertungen mit Sternen, Abzeichen für aktive Anbietende,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IDD-Anrechnung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Das IDD-Konzept läuft parallel und wird schrittweise freigeschaltet.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keine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Anbietende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klären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Konzept für die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Technischen Nachweis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Anbietende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zunächst ohne IDD-Anrechnung.</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Auftrag für die IDD-Anrechnung</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Konzept und technischen Nachweis zügig erarbeiten. Das ist das wichtigste Folgeprojekt.</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Bewertungen und Abzeichen, IDD-Anrechnung als Ziel</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2026-10-03T08:14:21Z</dcterms:created>
  <dcterms:modified xsi:type="dcterms:W3CDTF">2026-10-03T08:14:21Z</dcterms:modified>
</cp:coreProperties>
</file>