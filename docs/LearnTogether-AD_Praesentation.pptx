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Lernanteil</c:v>
                </c:pt>
              </c:strCache>
            </c:strRef>
          </c:tx>
          <c:spPr>
            <a:solidFill>
              <a:schemeClr val="accent1"/>
            </a:solidFill>
            <a:ln w="9525" cap="flat">
              <a:solidFill>
                <a:srgbClr val="F9F9F9"/>
              </a:solidFill>
              <a:prstDash val="solid"/>
              <a:round/>
            </a:ln>
            <a:effectLst/>
          </c:spPr>
          <c:dPt>
            <c:idx val="0"/>
            <c:bubble3D val="0"/>
            <c:spPr>
              <a:solidFill>
                <a:srgbClr val="001957"/>
              </a:solidFill>
              <a:ln w="25400" cap="flat">
                <a:solidFill>
                  <a:srgbClr val="FFFFFF"/>
                </a:solidFill>
                <a:prstDash val="solid"/>
                <a:round/>
              </a:ln>
              <a:effectLst/>
            </c:spPr>
          </c:dPt>
          <c:dPt>
            <c:idx val="1"/>
            <c:bubble3D val="0"/>
            <c:spPr>
              <a:solidFill>
                <a:srgbClr val="109DA8"/>
              </a:solidFill>
              <a:ln w="25400" cap="flat">
                <a:solidFill>
                  <a:srgbClr val="FFFFFF"/>
                </a:solidFill>
                <a:prstDash val="solid"/>
                <a:round/>
              </a:ln>
              <a:effectLst/>
            </c:spPr>
          </c:dPt>
          <c:dPt>
            <c:idx val="2"/>
            <c:bubble3D val="0"/>
            <c:spPr>
              <a:solidFill>
                <a:srgbClr val="F79506"/>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Erfahrung im Arbeitsalltag</c:v>
                </c:pt>
                <c:pt idx="1">
                  <c:v>Lernen von anderen</c:v>
                </c:pt>
                <c:pt idx="2">
                  <c:v>Seminare und Kurse</c:v>
                </c:pt>
              </c:strCache>
            </c:strRef>
          </c:cat>
          <c:val>
            <c:numRef>
              <c:f>Sheet1!$B$2:$B$4</c:f>
              <c:numCache>
                <c:ptCount val="3"/>
                <c:pt idx="0">
                  <c:v>70</c:v>
                </c:pt>
                <c:pt idx="1">
                  <c:v>20</c:v>
                </c:pt>
                <c:pt idx="2">
                  <c:v>10</c:v>
                </c:pt>
              </c:numCache>
            </c:numRef>
          </c:val>
        </c:ser>
        <c:firstSliceAng val="0"/>
        <c:holeSize val="58"/>
      </c:doughnutChart>
      <c:spPr>
        <a:noFill/>
        <a:ln>
          <a:noFill/>
        </a:ln>
        <a:effectLst/>
      </c:spPr>
    </c:plotArea>
    <c:legend>
      <c:legendPos val="b"/>
      <c:overlay val="0"/>
      <c:txPr>
        <a:bodyPr/>
        <a:lstStyle/>
        <a:p>
          <a:pPr>
            <a:defRPr sz="1300">
              <a:solidFill>
                <a:srgbClr val="001957"/>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Heute stelle ich LearnTogether@AD vor: eine schlanke Plattform, auf der Kolleginnen und Kollegen im Außendienst ihr Wissen in kurzen Online-Terminen teilen.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Idee in einem Satz: Kolleginnen und Kollegen teilen ihr Wissen in kurzen Online-Terminen, alle anderen lernen mit. Ich zeige gleich ehrlich, was heute schon funktioniert und was noch in Planung ist. Besonders wichtig: Die Anrechnung auf die IDD funktioniert heute noch nicht. Für dienstliche Sessions gilt die Arbeitszeitregel: Wer teilnimmt, stempelt sich selbst ein.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Produkte, Recht und Vertrieb ändern sich laufend. Der Außendienst arbeitet verteilt und hat wenig Zeit. Gleichzeitig verlangt die IDD 15 Stunden Weiterbildung im Jahr. Die Beteiligung an Weiterbildung lag 2022 in Deutschland bei 58 Prozent (Adult Education Survey, BMBF).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Informelles Lernen passiert im Alltag, ohne Lehrplan. Community-Lernen bedeutet: Menschen mit gemeinsamem Thema lernen regelmäßig voneinander. Etienne Wenger nennt das Communities of Practice. New Learning meint selbstgesteuertes, digitales Lernen im Arbeitsfluss.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Formel geht auf Studien mit Führungskräften zurück (Eichinger, 1980er). Sie ist eine Faustformel, die Zahlen sind wissenschaftlich umstritten (Clardy, 2018). Die Richtung stimmt aber: Ein großer Teil des Lernens passiert im Alltag und im Austausch mit anderen. Dafür geben wir einen festen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der Telekom heißt das Format LEX, Lernen von Experten. Es startete 2018 als Initiative von Mitarbeitenden und ist freiwillig. Bei Bosch gibt es den Bosch Club: Ein einfacher Kalender plus Teams, ohne Freigabeverfahren. DATEV nutzt die Plattform wDw, Communities of Practice, Barcamps und Lernmentoring. Zahlen laut den genannten Quellen, bitte vor der Weitergabe aktuell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 den Beispielen leiten wir fünf Erfolgsfaktoren ab. Jeder ist bei LearnTogether@AD bereits eingebaut oder fest eingeplant.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LearnTogether@AD ist ein Katalog mit Terminen. Wer etwas weiß, bietet einen Termin an. Wer lernen möchte, meldet sich an. Es gibt drei Prinzipien.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Ablauf ist bewusst einfach. Wer sich anmeldet, erhält einen Buchungscode und eine Kalenderdatei mit dem Teams-Link. Wer anbietet, erhält einen Veranstaltungscode für die Teilnehmerliste. Es werden keine E-Mails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Katalog zeigt alle künftigen Termine in Reihen nach Thema. Der Schalter wechselt zwischen dienstlich und privat. Nach der Anmeldung erscheinen Teams-Link, Kalenderdatei und Buchungscode. Der Buchungscode ist der Schlüssel, um die Anmeldung wieder aufzurufen oder zu stornieren. Es wird keine E-Mail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Formular führt in fünf Abschnitten: wer, worum, wann, was und Teams-Link. Die Plattform prüft Zeitfenster und Dauer. Nach dem Speichern erhält die anbietende Person einen Veranstaltungscode. Mit ihm kann sie die Veranstaltung auch absagen. Angemeldete Personen sehen die Absage unter Meine Anmeldung, die Plattform verschickt keine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Termine gibt es nur montags bis freitags, von 6:00 bis 9:00 Uhr und von 17:00 bis 20:00 Uhr. Termine dauern 15 bis 120 Minuten, bis zu 50 Personen können teilnehmen.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Teilnahme an dienstlichen Sessions kann als Arbeitszeit angerechnet werden. Das geschieht nicht im Nachgang: Teilnehmende müssen sich selbst einstempeln und wieder ausstempeln. Die Plattform erfasst keine Arbeitszeit. Die Teilnahme an privaten Sessions zählt nicht als Arbeitszeit. Diese Regel kommunizieren wir klar und stimmen sie mit dem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ersten Schritt richten wir die Plattform an den R+V-Außendienst und kommunizieren auch so. Wenn sich Kolleginnen und Kollegen aus dem Innendienst anmelden oder anbieten, ist das willkommen. Die Administration liegt bei Training &amp; Entwicklung Vertrieb, VH-VP-TV, genauer bei der Gruppe Produktion.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Außendienst: Wissen aus erster Hand und neue Kontakte. Für Führungskräfte: ein einfaches Angebot, das sie selbst nutzen und unterstützen können. Für die R+V: ein Weg, Wissen im Haus zu halten und die Verbundenheit zum Arbeitgeber zu stärken.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Admin-Bereich gibt es 8 Kennzahlen und 13 Auswertungen mit PDF-Export. Wir betrachten Termine pro Monat, Teilnehmende, Auslastung und Themen. Die Abbildung zeigt Beispieldaten. Die Auswertung bleibt aggregiert.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Wichtig und ehrlich: Die Anrechnung von Zeiten auf die IDD funktioniert heute noch nicht. Teilnehmende erhalten aktuell keine IDD-Bestätigung. Das kommunizieren wir klar. Es ist aber in Planung. Die IDD verlangt 15 Stunden Weiterbildung im Jahr. Anerkannt sind unter anderem interne Veranstaltungen und Selbststudium mit Lernerfolgskontrolle, Nachweise sind fünf Jahre aufzubewahren. Es gibt konzeptionelle und technische Hürden, die wir schnellstmöglich beheben wollen. Die Fragen auf der Folie sind offene Punkte, keine Festlegungen. Der Pilot startet unabhängig davon.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Anonymisierung ist in der Plattform umgesetzt und läuft automatisch. Bei privaten Sessions werden Name und E-Mail-Adresse der Anbietenden und Teilnehmenden am Tag nach der Veranstaltung anonymisiert. Es bleiben nur Zahlen für die Statistik. Bei dienstlichen Sessions bleiben die Daten fünf Jahre gespeichert, ausschließlich für Nachweis und Anrechnung, danach werden sie ebenfalls anonymisiert. Abgesagte Veranstaltungen werden am Tag nach dem geplanten Termin anonymisiert. Zugriff haben nur die Administratoren in VH-VP-TV. Die Daten werden nicht veröffentlicht. Die Fristen und Zwecke stimmen wir mit Datenschutz und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 87 Absatz 1 Nummer 6 BetrVG unterliegt nahezu jedes IT-System, das Beschäftigtendaten verarbeitet, der Mitbestimmung. Deshalb binden wir den Betriebsrat von Anfang an ein. Unser Vorschlag: Zweck, Datenarten, Zugriffe und Fristen schriftlich regeln, keine Auswertung einzelner Personen, freiwillige Teilnahme und eine abgestimmte Arbeitszeitregel für dienstliche Sessions. Die rechtliche Einordnung bestätigen Datenschutz und Rechtsabteilung.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größten Risiken sind zu wenig Angebote, schwankende Qualität und Datenschutz. Gegen alle drei gibt es einfache Maßnahmen, die wir im Pilot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ein Vorschlag, die Zeiträume stimmen wir gemeinsam ab. Phase 1 ist der Pilot im Außendienst, noch ohne IDD-Anrechnung. In Phase 2 klären wir die IDD-Anrechnung und werten den Pilot aus. In Phase 3 gehen die IDD-Termine in den Regelbetrieb.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konkrete Bitte, vier Entscheidungen. Wir starten klein, lernen schnell und binden alle Beteiligten ein. Die IDD-Anrechnung funktioniert noch nicht und ist deshalb ein eigener Auftrag.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Werbefolie: Wer etwas weiß oder gerne tut, kann Lern-Host werden. Ein Lern-Host legt einen Termin an, fügt einen Teams-Link ein und lädt Kolleginnen und Kollegen ein. Das geht dienstlich und privat. Der Name Lern-Host ist ein Vorschlag, Alternativen: Wissensfunke, Lernbotschaft, Impulsgebende.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Vielen Dank für die Aufmerksamkeit. Ich freue mich auf Fragen und Anregungen.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Beispiele zeigen: Es braucht wenig Technik und viel Vertrauen. Wir übernehmen das Prinzip, Kolleginnen und Kollegen bieten an. Anders sind unsere festen Zeitfenster, die Trennung in dienstlich und privat und das Ziel, IDD-Inhalte anrechnen zu können.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Angaben zu externen Unternehmen stammen aus öffentlich zugänglichen Quellen. Bitte vor der Weitergabe die aktuellen Zahlen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2-2.png"/><Relationship Id="rId6" Type="http://schemas.openxmlformats.org/officeDocument/2006/relationships/image" Target="../media/image-2-2.png"/><Relationship Id="rId7" Type="http://schemas.openxmlformats.org/officeDocument/2006/relationships/image" Target="../media/image-2-7.png"/><Relationship Id="rId8" Type="http://schemas.openxmlformats.org/officeDocument/2006/relationships/image" Target="../media/image-2-7.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3.png"/><Relationship Id="rId6" Type="http://schemas.openxmlformats.org/officeDocument/2006/relationships/image" Target="../media/image-9-6.png"/><Relationship Id="rId7" Type="http://schemas.openxmlformats.org/officeDocument/2006/relationships/image" Target="../media/image-9-3.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3.png"/><Relationship Id="rId6" Type="http://schemas.openxmlformats.org/officeDocument/2006/relationships/image" Target="../media/image-13-6.png"/><Relationship Id="rId7" Type="http://schemas.openxmlformats.org/officeDocument/2006/relationships/image" Target="../media/image-13-3.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651760"/>
            <a:ext cx="5212080" cy="3200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Wiesbaden, 01.10.2026</a:t>
            </a:r>
            <a:endParaRPr lang="en-US" sz="1600" dirty="0"/>
          </a:p>
        </p:txBody>
      </p:sp>
      <p:sp>
        <p:nvSpPr>
          <p:cNvPr id="5" name="Text 1"/>
          <p:cNvSpPr txBox="1"/>
          <p:nvPr/>
        </p:nvSpPr>
        <p:spPr>
          <a:xfrm>
            <a:off x="539496" y="3063240"/>
            <a:ext cx="5303520" cy="73152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LearnTogether@AD</a:t>
            </a:r>
            <a:endParaRPr lang="en-US" sz="4000" dirty="0"/>
          </a:p>
        </p:txBody>
      </p:sp>
      <p:sp>
        <p:nvSpPr>
          <p:cNvPr id="6" name="Text 2"/>
          <p:cNvSpPr txBox="1"/>
          <p:nvPr/>
        </p:nvSpPr>
        <p:spPr>
          <a:xfrm>
            <a:off x="539496" y="3931920"/>
            <a:ext cx="5303520" cy="118872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Voneinander lernen.</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Miteinander wachsen.</a:t>
            </a:r>
            <a:endParaRPr lang="en-US" sz="3000" dirty="0"/>
          </a:p>
        </p:txBody>
      </p:sp>
      <p:sp>
        <p:nvSpPr>
          <p:cNvPr id="7" name="Text 3"/>
          <p:cNvSpPr txBox="1"/>
          <p:nvPr/>
        </p:nvSpPr>
        <p:spPr>
          <a:xfrm>
            <a:off x="539496" y="5166360"/>
            <a:ext cx="5303520" cy="3657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Lernplattform für den R+V-Außendienst</a:t>
            </a:r>
            <a:endParaRPr lang="en-US" sz="1600" dirty="0"/>
          </a:p>
        </p:txBody>
      </p:sp>
      <p:pic>
        <p:nvPicPr>
          <p:cNvPr id="8"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Wichtigste auf einer Seite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LearnTogether@AD bringt Lernen unter Kolleginnen und Kollegen im Außendienst in Gang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4114800" cy="4572000"/>
          </a:xfrm>
          <a:prstGeom prst="rect">
            <a:avLst/>
          </a:prstGeom>
          <a:solidFill>
            <a:srgbClr val="001957"/>
          </a:solidFill>
          <a:ln w="12700">
            <a:solidFill>
              <a:srgbClr val="001957"/>
            </a:solidFill>
            <a:prstDash val="solid"/>
          </a:ln>
        </p:spPr>
      </p:sp>
      <p:sp>
        <p:nvSpPr>
          <p:cNvPr id="9" name="Text 5"/>
          <p:cNvSpPr txBox="1"/>
          <p:nvPr/>
        </p:nvSpPr>
        <p:spPr>
          <a:xfrm>
            <a:off x="822960" y="1737360"/>
            <a:ext cx="3566160" cy="3200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Die Idee</a:t>
            </a:r>
            <a:endParaRPr lang="en-US" sz="1400" dirty="0"/>
          </a:p>
        </p:txBody>
      </p:sp>
      <p:sp>
        <p:nvSpPr>
          <p:cNvPr id="10" name="Text 6"/>
          <p:cNvSpPr txBox="1"/>
          <p:nvPr/>
        </p:nvSpPr>
        <p:spPr>
          <a:xfrm>
            <a:off x="822960" y="2103120"/>
            <a:ext cx="3566160" cy="22860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Kolleginnen und Kollegen teilen ihr Wissen in kurzen Online-Terminen. Alle anderen lernen mit.</a:t>
            </a:r>
            <a:endParaRPr lang="en-US" sz="2200" dirty="0"/>
          </a:p>
        </p:txBody>
      </p:sp>
      <p:sp>
        <p:nvSpPr>
          <p:cNvPr id="11" name="Text 7"/>
          <p:cNvSpPr txBox="1"/>
          <p:nvPr/>
        </p:nvSpPr>
        <p:spPr>
          <a:xfrm>
            <a:off x="822960" y="4480560"/>
            <a:ext cx="3566160" cy="137160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Ziele: Weiterbildung untereinander, mehr Vernetzung und mehr Verbundenheit zum Arbeitgeber.</a:t>
            </a:r>
            <a:endParaRPr lang="en-US" sz="1500" dirty="0"/>
          </a:p>
        </p:txBody>
      </p:sp>
      <p:sp>
        <p:nvSpPr>
          <p:cNvPr id="12" name="Shape 8"/>
          <p:cNvSpPr/>
          <p:nvPr/>
        </p:nvSpPr>
        <p:spPr>
          <a:xfrm>
            <a:off x="4846320" y="1508760"/>
            <a:ext cx="3383280" cy="548640"/>
          </a:xfrm>
          <a:prstGeom prst="rect">
            <a:avLst/>
          </a:prstGeom>
          <a:solidFill>
            <a:srgbClr val="00DCDC"/>
          </a:solidFill>
          <a:ln w="12700">
            <a:solidFill>
              <a:srgbClr val="00DCDC"/>
            </a:solidFill>
            <a:prstDash val="solid"/>
          </a:ln>
        </p:spPr>
      </p:sp>
      <p:sp>
        <p:nvSpPr>
          <p:cNvPr id="13" name="Text 9"/>
          <p:cNvSpPr txBox="1"/>
          <p:nvPr/>
        </p:nvSpPr>
        <p:spPr>
          <a:xfrm>
            <a:off x="5074920" y="1508760"/>
            <a:ext cx="301752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Heute möglich</a:t>
            </a:r>
            <a:endParaRPr lang="en-US" sz="1600" dirty="0"/>
          </a:p>
        </p:txBody>
      </p:sp>
      <p:sp>
        <p:nvSpPr>
          <p:cNvPr id="14" name="Shape 10"/>
          <p:cNvSpPr/>
          <p:nvPr/>
        </p:nvSpPr>
        <p:spPr>
          <a:xfrm>
            <a:off x="4846320" y="2057400"/>
            <a:ext cx="3383280" cy="2697480"/>
          </a:xfrm>
          <a:prstGeom prst="rect">
            <a:avLst/>
          </a:prstGeom>
          <a:solidFill>
            <a:srgbClr val="F5F5F5"/>
          </a:solidFill>
          <a:ln w="12700">
            <a:solidFill>
              <a:srgbClr val="F5F5F5"/>
            </a:solidFill>
            <a:prstDash val="solid"/>
          </a:ln>
        </p:spPr>
      </p:sp>
      <p:pic>
        <p:nvPicPr>
          <p:cNvPr id="15" name="Image 1" descr="/tmp/deck/ic/check_m.png">    </p:cNvPr>
          <p:cNvPicPr>
            <a:picLocks noChangeAspect="1"/>
          </p:cNvPicPr>
          <p:nvPr/>
        </p:nvPicPr>
        <p:blipFill>
          <a:blip r:embed="rId2"/>
          <a:stretch>
            <a:fillRect/>
          </a:stretch>
        </p:blipFill>
        <p:spPr>
          <a:xfrm>
            <a:off x="5047488" y="2212848"/>
            <a:ext cx="310896" cy="310896"/>
          </a:xfrm>
          <a:prstGeom prst="rect">
            <a:avLst/>
          </a:prstGeom>
        </p:spPr>
      </p:pic>
      <p:sp>
        <p:nvSpPr>
          <p:cNvPr id="16" name="Text 11"/>
          <p:cNvSpPr txBox="1"/>
          <p:nvPr/>
        </p:nvSpPr>
        <p:spPr>
          <a:xfrm>
            <a:off x="5486400" y="2176272"/>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Katalog mit Suche und Filtern</a:t>
            </a:r>
            <a:endParaRPr lang="en-US" sz="1250" dirty="0"/>
          </a:p>
        </p:txBody>
      </p:sp>
      <p:pic>
        <p:nvPicPr>
          <p:cNvPr id="17" name="Image 2" descr="/tmp/deck/ic/check_m.png">    </p:cNvPr>
          <p:cNvPicPr>
            <a:picLocks noChangeAspect="1"/>
          </p:cNvPicPr>
          <p:nvPr/>
        </p:nvPicPr>
        <p:blipFill>
          <a:blip r:embed="rId3"/>
          <a:stretch>
            <a:fillRect/>
          </a:stretch>
        </p:blipFill>
        <p:spPr>
          <a:xfrm>
            <a:off x="5047488" y="2743200"/>
            <a:ext cx="310896" cy="310896"/>
          </a:xfrm>
          <a:prstGeom prst="rect">
            <a:avLst/>
          </a:prstGeom>
        </p:spPr>
      </p:pic>
      <p:sp>
        <p:nvSpPr>
          <p:cNvPr id="18" name="Text 12"/>
          <p:cNvSpPr txBox="1"/>
          <p:nvPr/>
        </p:nvSpPr>
        <p:spPr>
          <a:xfrm>
            <a:off x="5486400" y="2706624"/>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Anmelden ohne Benutzerkonto</a:t>
            </a:r>
            <a:endParaRPr lang="en-US" sz="1250" dirty="0"/>
          </a:p>
        </p:txBody>
      </p:sp>
      <p:pic>
        <p:nvPicPr>
          <p:cNvPr id="19" name="Image 3" descr="/tmp/deck/ic/check_m.png">    </p:cNvPr>
          <p:cNvPicPr>
            <a:picLocks noChangeAspect="1"/>
          </p:cNvPicPr>
          <p:nvPr/>
        </p:nvPicPr>
        <p:blipFill>
          <a:blip r:embed="rId4"/>
          <a:stretch>
            <a:fillRect/>
          </a:stretch>
        </p:blipFill>
        <p:spPr>
          <a:xfrm>
            <a:off x="5047488" y="3273552"/>
            <a:ext cx="310896" cy="310896"/>
          </a:xfrm>
          <a:prstGeom prst="rect">
            <a:avLst/>
          </a:prstGeom>
        </p:spPr>
      </p:pic>
      <p:sp>
        <p:nvSpPr>
          <p:cNvPr id="20" name="Text 13"/>
          <p:cNvSpPr txBox="1"/>
          <p:nvPr/>
        </p:nvSpPr>
        <p:spPr>
          <a:xfrm>
            <a:off x="5486400" y="3236976"/>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Termine anbieten und absagen</a:t>
            </a:r>
            <a:endParaRPr lang="en-US" sz="1250" dirty="0"/>
          </a:p>
        </p:txBody>
      </p:sp>
      <p:pic>
        <p:nvPicPr>
          <p:cNvPr id="21" name="Image 4" descr="/tmp/deck/ic/check_m.png">    </p:cNvPr>
          <p:cNvPicPr>
            <a:picLocks noChangeAspect="1"/>
          </p:cNvPicPr>
          <p:nvPr/>
        </p:nvPicPr>
        <p:blipFill>
          <a:blip r:embed="rId5"/>
          <a:stretch>
            <a:fillRect/>
          </a:stretch>
        </p:blipFill>
        <p:spPr>
          <a:xfrm>
            <a:off x="5047488" y="3803904"/>
            <a:ext cx="310896" cy="310896"/>
          </a:xfrm>
          <a:prstGeom prst="rect">
            <a:avLst/>
          </a:prstGeom>
        </p:spPr>
      </p:pic>
      <p:sp>
        <p:nvSpPr>
          <p:cNvPr id="22" name="Text 14"/>
          <p:cNvSpPr txBox="1"/>
          <p:nvPr/>
        </p:nvSpPr>
        <p:spPr>
          <a:xfrm>
            <a:off x="5486400" y="3767328"/>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Teams-Link und Kalenderdatei</a:t>
            </a:r>
            <a:endParaRPr lang="en-US" sz="1250" dirty="0"/>
          </a:p>
        </p:txBody>
      </p:sp>
      <p:pic>
        <p:nvPicPr>
          <p:cNvPr id="23" name="Image 5" descr="/tmp/deck/ic/check_m.png">    </p:cNvPr>
          <p:cNvPicPr>
            <a:picLocks noChangeAspect="1"/>
          </p:cNvPicPr>
          <p:nvPr/>
        </p:nvPicPr>
        <p:blipFill>
          <a:blip r:embed="rId6"/>
          <a:stretch>
            <a:fillRect/>
          </a:stretch>
        </p:blipFill>
        <p:spPr>
          <a:xfrm>
            <a:off x="5047488" y="4334256"/>
            <a:ext cx="310896" cy="310896"/>
          </a:xfrm>
          <a:prstGeom prst="rect">
            <a:avLst/>
          </a:prstGeom>
        </p:spPr>
      </p:pic>
      <p:sp>
        <p:nvSpPr>
          <p:cNvPr id="24" name="Text 15"/>
          <p:cNvSpPr txBox="1"/>
          <p:nvPr/>
        </p:nvSpPr>
        <p:spPr>
          <a:xfrm>
            <a:off x="5486400" y="4297680"/>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Archiv, Statistik und automatische Anonymisierung</a:t>
            </a:r>
            <a:endParaRPr lang="en-US" sz="1250" dirty="0"/>
          </a:p>
        </p:txBody>
      </p:sp>
      <p:sp>
        <p:nvSpPr>
          <p:cNvPr id="25" name="Shape 16"/>
          <p:cNvSpPr/>
          <p:nvPr/>
        </p:nvSpPr>
        <p:spPr>
          <a:xfrm>
            <a:off x="8394192" y="1508760"/>
            <a:ext cx="3291840" cy="548640"/>
          </a:xfrm>
          <a:prstGeom prst="rect">
            <a:avLst/>
          </a:prstGeom>
          <a:solidFill>
            <a:srgbClr val="F79506"/>
          </a:solidFill>
          <a:ln w="12700">
            <a:solidFill>
              <a:srgbClr val="F79506"/>
            </a:solidFill>
            <a:prstDash val="solid"/>
          </a:ln>
        </p:spPr>
      </p:sp>
      <p:sp>
        <p:nvSpPr>
          <p:cNvPr id="26" name="Text 17"/>
          <p:cNvSpPr txBox="1"/>
          <p:nvPr/>
        </p:nvSpPr>
        <p:spPr>
          <a:xfrm>
            <a:off x="8622792" y="1508760"/>
            <a:ext cx="292608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In Planung</a:t>
            </a:r>
            <a:endParaRPr lang="en-US" sz="1600" dirty="0"/>
          </a:p>
        </p:txBody>
      </p:sp>
      <p:sp>
        <p:nvSpPr>
          <p:cNvPr id="27" name="Shape 18"/>
          <p:cNvSpPr/>
          <p:nvPr/>
        </p:nvSpPr>
        <p:spPr>
          <a:xfrm>
            <a:off x="8394192" y="2057400"/>
            <a:ext cx="3291840" cy="2697480"/>
          </a:xfrm>
          <a:prstGeom prst="rect">
            <a:avLst/>
          </a:prstGeom>
          <a:solidFill>
            <a:srgbClr val="F5F5F5"/>
          </a:solidFill>
          <a:ln w="12700">
            <a:solidFill>
              <a:srgbClr val="F5F5F5"/>
            </a:solidFill>
            <a:prstDash val="solid"/>
          </a:ln>
        </p:spPr>
      </p:sp>
      <p:pic>
        <p:nvPicPr>
          <p:cNvPr id="28" name="Image 6" descr="/tmp/deck/ic/clock_m.png">    </p:cNvPr>
          <p:cNvPicPr>
            <a:picLocks noChangeAspect="1"/>
          </p:cNvPicPr>
          <p:nvPr/>
        </p:nvPicPr>
        <p:blipFill>
          <a:blip r:embed="rId7"/>
          <a:stretch>
            <a:fillRect/>
          </a:stretch>
        </p:blipFill>
        <p:spPr>
          <a:xfrm>
            <a:off x="8595360" y="2212848"/>
            <a:ext cx="310896" cy="310896"/>
          </a:xfrm>
          <a:prstGeom prst="rect">
            <a:avLst/>
          </a:prstGeom>
        </p:spPr>
      </p:pic>
      <p:sp>
        <p:nvSpPr>
          <p:cNvPr id="29" name="Text 19"/>
          <p:cNvSpPr txBox="1"/>
          <p:nvPr/>
        </p:nvSpPr>
        <p:spPr>
          <a:xfrm>
            <a:off x="9034272" y="2176272"/>
            <a:ext cx="2514600" cy="457200"/>
          </a:xfrm>
          <a:prstGeom prst="rect">
            <a:avLst/>
          </a:prstGeom>
          <a:noFill/>
          <a:ln/>
        </p:spPr>
        <p:txBody>
          <a:bodyPr wrap="square" lIns="0" tIns="0" rIns="0" bIns="0" rtlCol="0" anchor="ctr"/>
          <a:lstStyle/>
          <a:p>
            <a:pPr indent="0" marL="0">
              <a:buNone/>
            </a:pPr>
            <a:r>
              <a:rPr lang="en-US" sz="1250" b="1" dirty="0">
                <a:solidFill>
                  <a:srgbClr val="001957"/>
                </a:solidFill>
                <a:latin typeface="Arial" pitchFamily="34" charset="0"/>
                <a:ea typeface="Arial" pitchFamily="34" charset="-122"/>
                <a:cs typeface="Arial" pitchFamily="34" charset="-120"/>
              </a:rPr>
              <a:t>IDD-Anrechnung: noch nicht möglich</a:t>
            </a:r>
            <a:endParaRPr lang="en-US" sz="1250" dirty="0"/>
          </a:p>
        </p:txBody>
      </p:sp>
      <p:pic>
        <p:nvPicPr>
          <p:cNvPr id="30" name="Image 7" descr="/tmp/deck/ic/clock_m.png">    </p:cNvPr>
          <p:cNvPicPr>
            <a:picLocks noChangeAspect="1"/>
          </p:cNvPicPr>
          <p:nvPr/>
        </p:nvPicPr>
        <p:blipFill>
          <a:blip r:embed="rId8"/>
          <a:stretch>
            <a:fillRect/>
          </a:stretch>
        </p:blipFill>
        <p:spPr>
          <a:xfrm>
            <a:off x="8595360" y="2743200"/>
            <a:ext cx="310896" cy="310896"/>
          </a:xfrm>
          <a:prstGeom prst="rect">
            <a:avLst/>
          </a:prstGeom>
        </p:spPr>
      </p:pic>
      <p:sp>
        <p:nvSpPr>
          <p:cNvPr id="31" name="Text 20"/>
          <p:cNvSpPr txBox="1"/>
          <p:nvPr/>
        </p:nvSpPr>
        <p:spPr>
          <a:xfrm>
            <a:off x="9034272" y="2706624"/>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Technischer Nachweis für dienstliche Sessions</a:t>
            </a:r>
            <a:endParaRPr lang="en-US" sz="1250" dirty="0"/>
          </a:p>
        </p:txBody>
      </p:sp>
      <p:pic>
        <p:nvPicPr>
          <p:cNvPr id="32" name="Image 8" descr="/tmp/deck/ic/clock_m.png">    </p:cNvPr>
          <p:cNvPicPr>
            <a:picLocks noChangeAspect="1"/>
          </p:cNvPicPr>
          <p:nvPr/>
        </p:nvPicPr>
        <p:blipFill>
          <a:blip r:embed="rId9"/>
          <a:stretch>
            <a:fillRect/>
          </a:stretch>
        </p:blipFill>
        <p:spPr>
          <a:xfrm>
            <a:off x="8595360" y="3273552"/>
            <a:ext cx="310896" cy="310896"/>
          </a:xfrm>
          <a:prstGeom prst="rect">
            <a:avLst/>
          </a:prstGeom>
        </p:spPr>
      </p:pic>
      <p:sp>
        <p:nvSpPr>
          <p:cNvPr id="33" name="Text 21"/>
          <p:cNvSpPr txBox="1"/>
          <p:nvPr/>
        </p:nvSpPr>
        <p:spPr>
          <a:xfrm>
            <a:off x="9034272" y="3236976"/>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Abstimmung mit Datenschutz und Betriebsrat</a:t>
            </a:r>
            <a:endParaRPr lang="en-US" sz="1250" dirty="0"/>
          </a:p>
        </p:txBody>
      </p:sp>
      <p:sp>
        <p:nvSpPr>
          <p:cNvPr id="34" name="Shape 22"/>
          <p:cNvSpPr/>
          <p:nvPr/>
        </p:nvSpPr>
        <p:spPr>
          <a:xfrm>
            <a:off x="4846320" y="4937760"/>
            <a:ext cx="6839712" cy="1143000"/>
          </a:xfrm>
          <a:prstGeom prst="rect">
            <a:avLst/>
          </a:prstGeom>
          <a:solidFill>
            <a:srgbClr val="FFF4E0"/>
          </a:solidFill>
          <a:ln w="12700">
            <a:solidFill>
              <a:srgbClr val="FFF4E0"/>
            </a:solidFill>
            <a:prstDash val="solid"/>
          </a:ln>
        </p:spPr>
      </p:sp>
      <p:sp>
        <p:nvSpPr>
          <p:cNvPr id="35" name="Text 23"/>
          <p:cNvSpPr txBox="1"/>
          <p:nvPr/>
        </p:nvSpPr>
        <p:spPr>
          <a:xfrm>
            <a:off x="5120640" y="4937760"/>
            <a:ext cx="6309360" cy="114300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Arbeitszeit: </a:t>
            </a:r>
            <a:pPr indent="0" marL="0">
              <a:buNone/>
            </a:pPr>
            <a:r>
              <a:rPr lang="en-US" sz="1400" dirty="0">
                <a:solidFill>
                  <a:srgbClr val="001957"/>
                </a:solidFill>
                <a:latin typeface="Arial" pitchFamily="34" charset="0"/>
                <a:ea typeface="Arial" pitchFamily="34" charset="-122"/>
                <a:cs typeface="Arial" pitchFamily="34" charset="-120"/>
              </a:rPr>
              <a:t>Dienstliche Sessions können als Arbeitszeit zählen. Teilnehmende stechen sich dafür selbst ein. Private Sessions zählen nie als Arbeitszeit.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Ausgangslage: Wissen und Zeit sind knapp</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Gründe, warum Seminare allein nicht 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1828800"/>
          </a:xfrm>
          <a:prstGeom prst="rect">
            <a:avLst/>
          </a:prstGeom>
          <a:solidFill>
            <a:srgbClr val="F5F5F5"/>
          </a:solidFill>
          <a:ln w="12700">
            <a:solidFill>
              <a:srgbClr val="F5F5F5"/>
            </a:solidFill>
            <a:prstDash val="solid"/>
          </a:ln>
        </p:spPr>
      </p:sp>
      <p:pic>
        <p:nvPicPr>
          <p:cNvPr id="9" name="Image 1" descr="/tmp/deck/ic/trend_m.png">    </p:cNvPr>
          <p:cNvPicPr>
            <a:picLocks noChangeAspect="1"/>
          </p:cNvPicPr>
          <p:nvPr/>
        </p:nvPicPr>
        <p:blipFill>
          <a:blip r:embed="rId2"/>
          <a:stretch>
            <a:fillRect/>
          </a:stretch>
        </p:blipFill>
        <p:spPr>
          <a:xfrm>
            <a:off x="804672" y="1783080"/>
            <a:ext cx="685800" cy="685800"/>
          </a:xfrm>
          <a:prstGeom prst="rect">
            <a:avLst/>
          </a:prstGeom>
        </p:spPr>
      </p:pic>
      <p:sp>
        <p:nvSpPr>
          <p:cNvPr id="10" name="Text 5"/>
          <p:cNvSpPr txBox="1"/>
          <p:nvPr/>
        </p:nvSpPr>
        <p:spPr>
          <a:xfrm>
            <a:off x="171907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 ändert sich laufend</a:t>
            </a:r>
            <a:endParaRPr lang="en-US" sz="2000" dirty="0"/>
          </a:p>
        </p:txBody>
      </p:sp>
      <p:sp>
        <p:nvSpPr>
          <p:cNvPr id="11" name="Text 6"/>
          <p:cNvSpPr txBox="1"/>
          <p:nvPr/>
        </p:nvSpPr>
        <p:spPr>
          <a:xfrm>
            <a:off x="171907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Produkte, Recht und Vertrieb entwickeln sich weiter. Ein Seminar im Jahr hält damit nicht Schritt.</a:t>
            </a:r>
            <a:endParaRPr lang="en-US" sz="1400" dirty="0"/>
          </a:p>
        </p:txBody>
      </p:sp>
      <p:sp>
        <p:nvSpPr>
          <p:cNvPr id="12" name="Shape 7"/>
          <p:cNvSpPr/>
          <p:nvPr/>
        </p:nvSpPr>
        <p:spPr>
          <a:xfrm>
            <a:off x="6199632" y="1508760"/>
            <a:ext cx="5394960" cy="1828800"/>
          </a:xfrm>
          <a:prstGeom prst="rect">
            <a:avLst/>
          </a:prstGeom>
          <a:solidFill>
            <a:srgbClr val="F5F5F5"/>
          </a:solidFill>
          <a:ln w="12700">
            <a:solidFill>
              <a:srgbClr val="F5F5F5"/>
            </a:solidFill>
            <a:prstDash val="solid"/>
          </a:ln>
        </p:spPr>
      </p:sp>
      <p:pic>
        <p:nvPicPr>
          <p:cNvPr id="13" name="Image 2" descr="/tmp/deck/ic/people_m.png">    </p:cNvPr>
          <p:cNvPicPr>
            <a:picLocks noChangeAspect="1"/>
          </p:cNvPicPr>
          <p:nvPr/>
        </p:nvPicPr>
        <p:blipFill>
          <a:blip r:embed="rId3"/>
          <a:stretch>
            <a:fillRect/>
          </a:stretch>
        </p:blipFill>
        <p:spPr>
          <a:xfrm>
            <a:off x="6473952" y="1783080"/>
            <a:ext cx="685800" cy="685800"/>
          </a:xfrm>
          <a:prstGeom prst="rect">
            <a:avLst/>
          </a:prstGeom>
        </p:spPr>
      </p:pic>
      <p:sp>
        <p:nvSpPr>
          <p:cNvPr id="14" name="Text 8"/>
          <p:cNvSpPr txBox="1"/>
          <p:nvPr/>
        </p:nvSpPr>
        <p:spPr>
          <a:xfrm>
            <a:off x="738835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Außendienst ist verteilt</a:t>
            </a:r>
            <a:endParaRPr lang="en-US" sz="2000" dirty="0"/>
          </a:p>
        </p:txBody>
      </p:sp>
      <p:sp>
        <p:nvSpPr>
          <p:cNvPr id="15" name="Text 9"/>
          <p:cNvSpPr txBox="1"/>
          <p:nvPr/>
        </p:nvSpPr>
        <p:spPr>
          <a:xfrm>
            <a:off x="738835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Viele sind allein unterwegs. Austausch mit Kolleginnen und Kollegen entsteht oft nur zufällig.</a:t>
            </a:r>
            <a:endParaRPr lang="en-US" sz="1400" dirty="0"/>
          </a:p>
        </p:txBody>
      </p:sp>
      <p:sp>
        <p:nvSpPr>
          <p:cNvPr id="16" name="Shape 10"/>
          <p:cNvSpPr/>
          <p:nvPr/>
        </p:nvSpPr>
        <p:spPr>
          <a:xfrm>
            <a:off x="530352" y="3520440"/>
            <a:ext cx="5394960" cy="1828800"/>
          </a:xfrm>
          <a:prstGeom prst="rect">
            <a:avLst/>
          </a:prstGeom>
          <a:solidFill>
            <a:srgbClr val="F5F5F5"/>
          </a:solidFill>
          <a:ln w="12700">
            <a:solidFill>
              <a:srgbClr val="F5F5F5"/>
            </a:solidFill>
            <a:prstDash val="solid"/>
          </a:ln>
        </p:spPr>
      </p:sp>
      <p:pic>
        <p:nvPicPr>
          <p:cNvPr id="17" name="Image 3" descr="/tmp/deck/ic/clock_m.png">    </p:cNvPr>
          <p:cNvPicPr>
            <a:picLocks noChangeAspect="1"/>
          </p:cNvPicPr>
          <p:nvPr/>
        </p:nvPicPr>
        <p:blipFill>
          <a:blip r:embed="rId4"/>
          <a:stretch>
            <a:fillRect/>
          </a:stretch>
        </p:blipFill>
        <p:spPr>
          <a:xfrm>
            <a:off x="804672" y="3794760"/>
            <a:ext cx="685800" cy="685800"/>
          </a:xfrm>
          <a:prstGeom prst="rect">
            <a:avLst/>
          </a:prstGeom>
        </p:spPr>
      </p:pic>
      <p:sp>
        <p:nvSpPr>
          <p:cNvPr id="18" name="Text 11"/>
          <p:cNvSpPr txBox="1"/>
          <p:nvPr/>
        </p:nvSpPr>
        <p:spPr>
          <a:xfrm>
            <a:off x="171907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Zeit ist knapp</a:t>
            </a:r>
            <a:endParaRPr lang="en-US" sz="2000" dirty="0"/>
          </a:p>
        </p:txBody>
      </p:sp>
      <p:sp>
        <p:nvSpPr>
          <p:cNvPr id="19" name="Text 12"/>
          <p:cNvSpPr txBox="1"/>
          <p:nvPr/>
        </p:nvSpPr>
        <p:spPr>
          <a:xfrm>
            <a:off x="171907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kurzer Termin am Morgen oder Abend passt besser in den Alltag als ein ganzer Seminartag.</a:t>
            </a:r>
            <a:endParaRPr lang="en-US" sz="1400" dirty="0"/>
          </a:p>
        </p:txBody>
      </p:sp>
      <p:sp>
        <p:nvSpPr>
          <p:cNvPr id="20" name="Shape 13"/>
          <p:cNvSpPr/>
          <p:nvPr/>
        </p:nvSpPr>
        <p:spPr>
          <a:xfrm>
            <a:off x="6199632" y="3520440"/>
            <a:ext cx="5394960" cy="1828800"/>
          </a:xfrm>
          <a:prstGeom prst="rect">
            <a:avLst/>
          </a:prstGeom>
          <a:solidFill>
            <a:srgbClr val="F5F5F5"/>
          </a:solidFill>
          <a:ln w="12700">
            <a:solidFill>
              <a:srgbClr val="F5F5F5"/>
            </a:solidFill>
            <a:prstDash val="solid"/>
          </a:ln>
        </p:spPr>
      </p:sp>
      <p:pic>
        <p:nvPicPr>
          <p:cNvPr id="21" name="Image 4" descr="/tmp/deck/ic/check_m.png">    </p:cNvPr>
          <p:cNvPicPr>
            <a:picLocks noChangeAspect="1"/>
          </p:cNvPicPr>
          <p:nvPr/>
        </p:nvPicPr>
        <p:blipFill>
          <a:blip r:embed="rId5"/>
          <a:stretch>
            <a:fillRect/>
          </a:stretch>
        </p:blipFill>
        <p:spPr>
          <a:xfrm>
            <a:off x="6473952" y="3794760"/>
            <a:ext cx="685800" cy="685800"/>
          </a:xfrm>
          <a:prstGeom prst="rect">
            <a:avLst/>
          </a:prstGeom>
        </p:spPr>
      </p:pic>
      <p:sp>
        <p:nvSpPr>
          <p:cNvPr id="22" name="Text 14"/>
          <p:cNvSpPr txBox="1"/>
          <p:nvPr/>
        </p:nvSpPr>
        <p:spPr>
          <a:xfrm>
            <a:off x="738835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Pflicht und Freude</a:t>
            </a:r>
            <a:endParaRPr lang="en-US" sz="2000" dirty="0"/>
          </a:p>
        </p:txBody>
      </p:sp>
      <p:sp>
        <p:nvSpPr>
          <p:cNvPr id="23" name="Text 15"/>
          <p:cNvSpPr txBox="1"/>
          <p:nvPr/>
        </p:nvSpPr>
        <p:spPr>
          <a:xfrm>
            <a:off x="738835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IDD verlangt 15 Stunden Weiterbildung im Jahr. Gutes Lernen darf auch Freude machen.</a:t>
            </a:r>
            <a:endParaRPr lang="en-US" sz="1400" dirty="0"/>
          </a:p>
        </p:txBody>
      </p:sp>
      <p:sp>
        <p:nvSpPr>
          <p:cNvPr id="24" name="Text 16"/>
          <p:cNvSpPr txBox="1"/>
          <p:nvPr/>
        </p:nvSpPr>
        <p:spPr>
          <a:xfrm>
            <a:off x="530352" y="5623560"/>
            <a:ext cx="11155680" cy="45720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58 Prozent</a:t>
            </a:r>
            <a:pPr indent="0" marL="0">
              <a:buNone/>
            </a:pPr>
            <a:r>
              <a:rPr lang="en-US" sz="1400" dirty="0">
                <a:solidFill>
                  <a:srgbClr val="001957"/>
                </a:solidFill>
                <a:latin typeface="Arial" pitchFamily="34" charset="0"/>
                <a:ea typeface="Arial" pitchFamily="34" charset="-122"/>
                <a:cs typeface="Arial" pitchFamily="34" charset="-120"/>
              </a:rPr>
              <a:t> der Erwachsenen in Deutschland nahmen 2022 an Weiterbildung teil (Adult Education Survey, BMBF).</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Drei Begriffe, ein Gedanke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Informelles Lernen, Community-Lernen und New Learning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book_m.png">    </p:cNvPr>
          <p:cNvPicPr>
            <a:picLocks noChangeAspect="1"/>
          </p:cNvPicPr>
          <p:nvPr/>
        </p:nvPicPr>
        <p:blipFill>
          <a:blip r:embed="rId2"/>
          <a:stretch>
            <a:fillRect/>
          </a:stretch>
        </p:blipFill>
        <p:spPr>
          <a:xfrm>
            <a:off x="804672" y="1783080"/>
            <a:ext cx="777240" cy="77724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Informelles Lernen</a:t>
            </a:r>
            <a:endParaRPr lang="en-US" sz="2000" dirty="0"/>
          </a:p>
        </p:txBody>
      </p:sp>
      <p:sp>
        <p:nvSpPr>
          <p:cNvPr id="11" name="Text 6"/>
          <p:cNvSpPr txBox="1"/>
          <p:nvPr/>
        </p:nvSpPr>
        <p:spPr>
          <a:xfrm>
            <a:off x="80467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Lernen im Arbeitsalltag: ungeplant oder selbst gewählt, ohne Lehrplan und Prüfung.</a:t>
            </a:r>
            <a:endParaRPr lang="en-US" sz="1400" dirty="0"/>
          </a:p>
        </p:txBody>
      </p:sp>
      <p:sp>
        <p:nvSpPr>
          <p:cNvPr id="12" name="Shape 7"/>
          <p:cNvSpPr/>
          <p:nvPr/>
        </p:nvSpPr>
        <p:spPr>
          <a:xfrm>
            <a:off x="804672" y="4846320"/>
            <a:ext cx="3017520" cy="1005840"/>
          </a:xfrm>
          <a:prstGeom prst="rect">
            <a:avLst/>
          </a:prstGeom>
          <a:solidFill>
            <a:srgbClr val="001957"/>
          </a:solidFill>
          <a:ln w="12700">
            <a:solidFill>
              <a:srgbClr val="001957"/>
            </a:solidFill>
            <a:prstDash val="solid"/>
          </a:ln>
        </p:spPr>
      </p:sp>
      <p:sp>
        <p:nvSpPr>
          <p:cNvPr id="13" name="Text 8"/>
          <p:cNvSpPr txBox="1"/>
          <p:nvPr/>
        </p:nvSpPr>
        <p:spPr>
          <a:xfrm>
            <a:off x="94183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Ein Termin zu einem Thema, das mich gerade beschäftigt.</a:t>
            </a:r>
            <a:endParaRPr lang="en-US" sz="1300" dirty="0"/>
          </a:p>
        </p:txBody>
      </p:sp>
      <p:sp>
        <p:nvSpPr>
          <p:cNvPr id="14" name="Shape 9"/>
          <p:cNvSpPr/>
          <p:nvPr/>
        </p:nvSpPr>
        <p:spPr>
          <a:xfrm>
            <a:off x="4325112" y="1508760"/>
            <a:ext cx="3566160" cy="4572000"/>
          </a:xfrm>
          <a:prstGeom prst="rect">
            <a:avLst/>
          </a:prstGeom>
          <a:solidFill>
            <a:srgbClr val="F5F5F5"/>
          </a:solidFill>
          <a:ln w="12700">
            <a:solidFill>
              <a:srgbClr val="F5F5F5"/>
            </a:solidFill>
            <a:prstDash val="solid"/>
          </a:ln>
        </p:spPr>
      </p:sp>
      <p:pic>
        <p:nvPicPr>
          <p:cNvPr id="15" name="Image 2" descr="/tmp/deck/ic/team_m.png">    </p:cNvPr>
          <p:cNvPicPr>
            <a:picLocks noChangeAspect="1"/>
          </p:cNvPicPr>
          <p:nvPr/>
        </p:nvPicPr>
        <p:blipFill>
          <a:blip r:embed="rId3"/>
          <a:stretch>
            <a:fillRect/>
          </a:stretch>
        </p:blipFill>
        <p:spPr>
          <a:xfrm>
            <a:off x="4599432" y="1783080"/>
            <a:ext cx="777240" cy="777240"/>
          </a:xfrm>
          <a:prstGeom prst="rect">
            <a:avLst/>
          </a:prstGeom>
        </p:spPr>
      </p:pic>
      <p:sp>
        <p:nvSpPr>
          <p:cNvPr id="16" name="Text 10"/>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Community-Lernen</a:t>
            </a:r>
            <a:endParaRPr lang="en-US" sz="2000" dirty="0"/>
          </a:p>
        </p:txBody>
      </p:sp>
      <p:sp>
        <p:nvSpPr>
          <p:cNvPr id="17" name="Text 11"/>
          <p:cNvSpPr txBox="1"/>
          <p:nvPr/>
        </p:nvSpPr>
        <p:spPr>
          <a:xfrm>
            <a:off x="459943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Menschen mit gemeinsamem Thema lernen regelmäßig voneinander. Wissen wächst durch Austausch (Wenger: Communities of Practice).</a:t>
            </a:r>
            <a:endParaRPr lang="en-US" sz="1400" dirty="0"/>
          </a:p>
        </p:txBody>
      </p:sp>
      <p:sp>
        <p:nvSpPr>
          <p:cNvPr id="18" name="Shape 12"/>
          <p:cNvSpPr/>
          <p:nvPr/>
        </p:nvSpPr>
        <p:spPr>
          <a:xfrm>
            <a:off x="4599432" y="4846320"/>
            <a:ext cx="3017520" cy="1005840"/>
          </a:xfrm>
          <a:prstGeom prst="rect">
            <a:avLst/>
          </a:prstGeom>
          <a:solidFill>
            <a:srgbClr val="001957"/>
          </a:solidFill>
          <a:ln w="12700">
            <a:solidFill>
              <a:srgbClr val="001957"/>
            </a:solidFill>
            <a:prstDash val="solid"/>
          </a:ln>
        </p:spPr>
      </p:sp>
      <p:sp>
        <p:nvSpPr>
          <p:cNvPr id="19" name="Text 13"/>
          <p:cNvSpPr txBox="1"/>
          <p:nvPr/>
        </p:nvSpPr>
        <p:spPr>
          <a:xfrm>
            <a:off x="473659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Wiederkehrende Termine und Anbietende, die sich kennenlernen.</a:t>
            </a:r>
            <a:endParaRPr lang="en-US" sz="1300" dirty="0"/>
          </a:p>
        </p:txBody>
      </p:sp>
      <p:sp>
        <p:nvSpPr>
          <p:cNvPr id="20" name="Shape 14"/>
          <p:cNvSpPr/>
          <p:nvPr/>
        </p:nvSpPr>
        <p:spPr>
          <a:xfrm>
            <a:off x="8119872" y="1508760"/>
            <a:ext cx="3566160" cy="4572000"/>
          </a:xfrm>
          <a:prstGeom prst="rect">
            <a:avLst/>
          </a:prstGeom>
          <a:solidFill>
            <a:srgbClr val="F5F5F5"/>
          </a:solidFill>
          <a:ln w="12700">
            <a:solidFill>
              <a:srgbClr val="F5F5F5"/>
            </a:solidFill>
            <a:prstDash val="solid"/>
          </a:ln>
        </p:spPr>
      </p:sp>
      <p:pic>
        <p:nvPicPr>
          <p:cNvPr id="21" name="Image 3" descr="/tmp/deck/ic/globe_m.png">    </p:cNvPr>
          <p:cNvPicPr>
            <a:picLocks noChangeAspect="1"/>
          </p:cNvPicPr>
          <p:nvPr/>
        </p:nvPicPr>
        <p:blipFill>
          <a:blip r:embed="rId4"/>
          <a:stretch>
            <a:fillRect/>
          </a:stretch>
        </p:blipFill>
        <p:spPr>
          <a:xfrm>
            <a:off x="8394192" y="1783080"/>
            <a:ext cx="777240" cy="777240"/>
          </a:xfrm>
          <a:prstGeom prst="rect">
            <a:avLst/>
          </a:prstGeom>
        </p:spPr>
      </p:pic>
      <p:sp>
        <p:nvSpPr>
          <p:cNvPr id="22" name="Text 15"/>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New Learning</a:t>
            </a:r>
            <a:endParaRPr lang="en-US" sz="2000" dirty="0"/>
          </a:p>
        </p:txBody>
      </p:sp>
      <p:sp>
        <p:nvSpPr>
          <p:cNvPr id="23" name="Text 16"/>
          <p:cNvSpPr txBox="1"/>
          <p:nvPr/>
        </p:nvSpPr>
        <p:spPr>
          <a:xfrm>
            <a:off x="839419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Selbstgesteuert, digital, kurz und im Arbeitsfluss. Lernen ist Teil der Arbeit, nicht ihre Unterbrechung.</a:t>
            </a:r>
            <a:endParaRPr lang="en-US" sz="1400" dirty="0"/>
          </a:p>
        </p:txBody>
      </p:sp>
      <p:sp>
        <p:nvSpPr>
          <p:cNvPr id="24" name="Shape 17"/>
          <p:cNvSpPr/>
          <p:nvPr/>
        </p:nvSpPr>
        <p:spPr>
          <a:xfrm>
            <a:off x="8394192" y="4846320"/>
            <a:ext cx="3017520" cy="1005840"/>
          </a:xfrm>
          <a:prstGeom prst="rect">
            <a:avLst/>
          </a:prstGeom>
          <a:solidFill>
            <a:srgbClr val="001957"/>
          </a:solidFill>
          <a:ln w="12700">
            <a:solidFill>
              <a:srgbClr val="001957"/>
            </a:solidFill>
            <a:prstDash val="solid"/>
          </a:ln>
        </p:spPr>
      </p:sp>
      <p:sp>
        <p:nvSpPr>
          <p:cNvPr id="25" name="Text 18"/>
          <p:cNvSpPr txBox="1"/>
          <p:nvPr/>
        </p:nvSpPr>
        <p:spPr>
          <a:xfrm>
            <a:off x="853135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15 bis 120 Minuten in Teams, direkt aus dem Außendienstalltag.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Lernen passiert vor allem im Alltag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Faustformel 70:20:10 und was sie für uns bedeutet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8" name="Chart 0" descr=""/>
          <p:cNvGraphicFramePr/>
          <p:nvPr/>
        </p:nvGraphicFramePr>
        <p:xfrm>
          <a:off x="530352" y="1463040"/>
          <a:ext cx="5486400" cy="457200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1965960" y="3246120"/>
            <a:ext cx="2651760" cy="548640"/>
          </a:xfrm>
          <a:prstGeom prst="rect">
            <a:avLst/>
          </a:prstGeom>
          <a:noFill/>
          <a:ln/>
        </p:spPr>
        <p:txBody>
          <a:bodyPr wrap="square" lIns="0" tIns="0" rIns="0" bIns="0" rtlCol="0" anchor="ctr"/>
          <a:lstStyle/>
          <a:p>
            <a:pPr algn="ctr" indent="0" marL="0">
              <a:buNone/>
            </a:pPr>
            <a:r>
              <a:rPr lang="en-US" sz="2600" b="1" dirty="0">
                <a:solidFill>
                  <a:srgbClr val="001957"/>
                </a:solidFill>
                <a:latin typeface="Arial" pitchFamily="34" charset="0"/>
                <a:ea typeface="Arial" pitchFamily="34" charset="-122"/>
                <a:cs typeface="Arial" pitchFamily="34" charset="-120"/>
              </a:rPr>
              <a:t>70 : 20 : 10</a:t>
            </a:r>
            <a:endParaRPr lang="en-US" sz="2600" dirty="0"/>
          </a:p>
        </p:txBody>
      </p:sp>
      <p:sp>
        <p:nvSpPr>
          <p:cNvPr id="10" name="Text 5"/>
          <p:cNvSpPr txBox="1"/>
          <p:nvPr/>
        </p:nvSpPr>
        <p:spPr>
          <a:xfrm>
            <a:off x="6492240" y="160020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Eine Faustformel</a:t>
            </a:r>
            <a:endParaRPr lang="en-US" sz="2000" dirty="0"/>
          </a:p>
        </p:txBody>
      </p:sp>
      <p:sp>
        <p:nvSpPr>
          <p:cNvPr id="11" name="Text 6"/>
          <p:cNvSpPr txBox="1"/>
          <p:nvPr/>
        </p:nvSpPr>
        <p:spPr>
          <a:xfrm>
            <a:off x="6492240" y="201168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Sie stammt aus Studien mit Führungskräften und zeigt eine Richtung, keine exakte Messung.</a:t>
            </a:r>
            <a:endParaRPr lang="en-US" sz="1500" dirty="0"/>
          </a:p>
        </p:txBody>
      </p:sp>
      <p:sp>
        <p:nvSpPr>
          <p:cNvPr id="12" name="Text 7"/>
          <p:cNvSpPr txBox="1"/>
          <p:nvPr/>
        </p:nvSpPr>
        <p:spPr>
          <a:xfrm>
            <a:off x="6492240" y="310896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Wissenschaftlich umstritten</a:t>
            </a:r>
            <a:endParaRPr lang="en-US" sz="2000" dirty="0"/>
          </a:p>
        </p:txBody>
      </p:sp>
      <p:sp>
        <p:nvSpPr>
          <p:cNvPr id="13" name="Text 8"/>
          <p:cNvSpPr txBox="1"/>
          <p:nvPr/>
        </p:nvSpPr>
        <p:spPr>
          <a:xfrm>
            <a:off x="6492240" y="352044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Zahlen sind nicht belegt (Clardy, 2018). Wir stützen uns deshalb nicht auf sie.</a:t>
            </a:r>
            <a:endParaRPr lang="en-US" sz="1500" dirty="0"/>
          </a:p>
        </p:txBody>
      </p:sp>
      <p:sp>
        <p:nvSpPr>
          <p:cNvPr id="14" name="Text 9"/>
          <p:cNvSpPr txBox="1"/>
          <p:nvPr/>
        </p:nvSpPr>
        <p:spPr>
          <a:xfrm>
            <a:off x="6492240" y="4617720"/>
            <a:ext cx="5120640" cy="365760"/>
          </a:xfrm>
          <a:prstGeom prst="rect">
            <a:avLst/>
          </a:prstGeom>
          <a:noFill/>
          <a:ln/>
        </p:spPr>
        <p:txBody>
          <a:bodyPr wrap="square" lIns="0" tIns="0" rIns="0" bIns="0" rtlCol="0" anchor="t"/>
          <a:lstStyle/>
          <a:p>
            <a:pPr indent="0" marL="0">
              <a:buNone/>
            </a:pPr>
            <a:r>
              <a:rPr lang="en-US" sz="2000" b="1" dirty="0">
                <a:solidFill>
                  <a:srgbClr val="EB6504"/>
                </a:solidFill>
                <a:latin typeface="Arial" pitchFamily="34" charset="0"/>
                <a:ea typeface="Arial" pitchFamily="34" charset="-122"/>
                <a:cs typeface="Arial" pitchFamily="34" charset="-120"/>
              </a:rPr>
              <a:t>Unsere Folgerung</a:t>
            </a:r>
            <a:endParaRPr lang="en-US" sz="2000" dirty="0"/>
          </a:p>
        </p:txBody>
      </p:sp>
      <p:sp>
        <p:nvSpPr>
          <p:cNvPr id="15" name="Text 10"/>
          <p:cNvSpPr txBox="1"/>
          <p:nvPr/>
        </p:nvSpPr>
        <p:spPr>
          <a:xfrm>
            <a:off x="6492240" y="502920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Ein großer Teil des Lernens passiert im Alltag und im Austausch. LearnTogether@AD gibt diesem Teil einen festen Ort.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Andere Unternehmen zeigen: Es funktioniert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Telekom, Bosch und DATEV lassen Kolleginnen und Kollegen voneinander lernen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sp>
        <p:nvSpPr>
          <p:cNvPr id="9" name="Text 5"/>
          <p:cNvSpPr txBox="1"/>
          <p:nvPr/>
        </p:nvSpPr>
        <p:spPr>
          <a:xfrm>
            <a:off x="80467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Telekom: LEX</a:t>
            </a:r>
            <a:endParaRPr lang="en-US" sz="2000" dirty="0"/>
          </a:p>
        </p:txBody>
      </p:sp>
      <p:sp>
        <p:nvSpPr>
          <p:cNvPr id="10" name="Text 6"/>
          <p:cNvSpPr txBox="1"/>
          <p:nvPr/>
        </p:nvSpPr>
        <p:spPr>
          <a:xfrm>
            <a:off x="80467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Lernen von Experten, seit 2018</a:t>
            </a:r>
            <a:endParaRPr lang="en-US" sz="1300" dirty="0"/>
          </a:p>
        </p:txBody>
      </p:sp>
      <p:sp>
        <p:nvSpPr>
          <p:cNvPr id="11" name="Text 7"/>
          <p:cNvSpPr txBox="1"/>
          <p:nvPr/>
        </p:nvSpPr>
        <p:spPr>
          <a:xfrm>
            <a:off x="80467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18.000</a:t>
            </a:r>
            <a:endParaRPr lang="en-US" sz="2800" dirty="0"/>
          </a:p>
        </p:txBody>
      </p:sp>
      <p:sp>
        <p:nvSpPr>
          <p:cNvPr id="12" name="Text 8"/>
          <p:cNvSpPr txBox="1"/>
          <p:nvPr/>
        </p:nvSpPr>
        <p:spPr>
          <a:xfrm>
            <a:off x="208483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Mitglieder im Netzwerk</a:t>
            </a:r>
            <a:endParaRPr lang="en-US" sz="1300" dirty="0"/>
          </a:p>
        </p:txBody>
      </p:sp>
      <p:sp>
        <p:nvSpPr>
          <p:cNvPr id="13" name="Text 9"/>
          <p:cNvSpPr txBox="1"/>
          <p:nvPr/>
        </p:nvSpPr>
        <p:spPr>
          <a:xfrm>
            <a:off x="80467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6.500</a:t>
            </a:r>
            <a:endParaRPr lang="en-US" sz="2800" dirty="0"/>
          </a:p>
        </p:txBody>
      </p:sp>
      <p:sp>
        <p:nvSpPr>
          <p:cNvPr id="14" name="Text 10"/>
          <p:cNvSpPr txBox="1"/>
          <p:nvPr/>
        </p:nvSpPr>
        <p:spPr>
          <a:xfrm>
            <a:off x="208483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a:t>
            </a:r>
            <a:endParaRPr lang="en-US" sz="1300" dirty="0"/>
          </a:p>
        </p:txBody>
      </p:sp>
      <p:sp>
        <p:nvSpPr>
          <p:cNvPr id="15" name="Text 11"/>
          <p:cNvSpPr txBox="1"/>
          <p:nvPr/>
        </p:nvSpPr>
        <p:spPr>
          <a:xfrm>
            <a:off x="80467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52.000</a:t>
            </a:r>
            <a:endParaRPr lang="en-US" sz="2800" dirty="0"/>
          </a:p>
        </p:txBody>
      </p:sp>
      <p:sp>
        <p:nvSpPr>
          <p:cNvPr id="16" name="Text 12"/>
          <p:cNvSpPr txBox="1"/>
          <p:nvPr/>
        </p:nvSpPr>
        <p:spPr>
          <a:xfrm>
            <a:off x="208483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Teilnahmen</a:t>
            </a:r>
            <a:endParaRPr lang="en-US" sz="1300" dirty="0"/>
          </a:p>
        </p:txBody>
      </p:sp>
      <p:sp>
        <p:nvSpPr>
          <p:cNvPr id="17" name="Text 13"/>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Freiwillig und von Mitarbeitenden gestartet. Die größte Lerngemeinschaft unter Kolleginnen und Kollegen bei der Telekom.</a:t>
            </a:r>
            <a:endParaRPr lang="en-US" sz="1200" dirty="0"/>
          </a:p>
        </p:txBody>
      </p:sp>
      <p:sp>
        <p:nvSpPr>
          <p:cNvPr id="18" name="Shape 14"/>
          <p:cNvSpPr/>
          <p:nvPr/>
        </p:nvSpPr>
        <p:spPr>
          <a:xfrm>
            <a:off x="4325112" y="1508760"/>
            <a:ext cx="3566160" cy="4572000"/>
          </a:xfrm>
          <a:prstGeom prst="rect">
            <a:avLst/>
          </a:prstGeom>
          <a:solidFill>
            <a:srgbClr val="F5F5F5"/>
          </a:solidFill>
          <a:ln w="12700">
            <a:solidFill>
              <a:srgbClr val="F5F5F5"/>
            </a:solidFill>
            <a:prstDash val="solid"/>
          </a:ln>
        </p:spPr>
      </p:sp>
      <p:sp>
        <p:nvSpPr>
          <p:cNvPr id="19" name="Text 15"/>
          <p:cNvSpPr txBox="1"/>
          <p:nvPr/>
        </p:nvSpPr>
        <p:spPr>
          <a:xfrm>
            <a:off x="459943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Bosch: Bosch Club</a:t>
            </a:r>
            <a:endParaRPr lang="en-US" sz="2000" dirty="0"/>
          </a:p>
        </p:txBody>
      </p:sp>
      <p:sp>
        <p:nvSpPr>
          <p:cNvPr id="20" name="Text 16"/>
          <p:cNvSpPr txBox="1"/>
          <p:nvPr/>
        </p:nvSpPr>
        <p:spPr>
          <a:xfrm>
            <a:off x="459943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Informelles Lernen, seit Oktober 2022</a:t>
            </a:r>
            <a:endParaRPr lang="en-US" sz="1300" dirty="0"/>
          </a:p>
        </p:txBody>
      </p:sp>
      <p:sp>
        <p:nvSpPr>
          <p:cNvPr id="21" name="Text 17"/>
          <p:cNvSpPr txBox="1"/>
          <p:nvPr/>
        </p:nvSpPr>
        <p:spPr>
          <a:xfrm>
            <a:off x="459943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2.200</a:t>
            </a:r>
            <a:endParaRPr lang="en-US" sz="2800" dirty="0"/>
          </a:p>
        </p:txBody>
      </p:sp>
      <p:sp>
        <p:nvSpPr>
          <p:cNvPr id="22" name="Text 18"/>
          <p:cNvSpPr txBox="1"/>
          <p:nvPr/>
        </p:nvSpPr>
        <p:spPr>
          <a:xfrm>
            <a:off x="587959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 weltweit</a:t>
            </a:r>
            <a:endParaRPr lang="en-US" sz="1300" dirty="0"/>
          </a:p>
        </p:txBody>
      </p:sp>
      <p:sp>
        <p:nvSpPr>
          <p:cNvPr id="23" name="Text 19"/>
          <p:cNvSpPr txBox="1"/>
          <p:nvPr/>
        </p:nvSpPr>
        <p:spPr>
          <a:xfrm>
            <a:off x="459943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0</a:t>
            </a:r>
            <a:endParaRPr lang="en-US" sz="2800" dirty="0"/>
          </a:p>
        </p:txBody>
      </p:sp>
      <p:sp>
        <p:nvSpPr>
          <p:cNvPr id="24" name="Text 20"/>
          <p:cNvSpPr txBox="1"/>
          <p:nvPr/>
        </p:nvSpPr>
        <p:spPr>
          <a:xfrm>
            <a:off x="587959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Freigabeverfahren</a:t>
            </a:r>
            <a:endParaRPr lang="en-US" sz="1300" dirty="0"/>
          </a:p>
        </p:txBody>
      </p:sp>
      <p:sp>
        <p:nvSpPr>
          <p:cNvPr id="25" name="Text 21"/>
          <p:cNvSpPr txBox="1"/>
          <p:nvPr/>
        </p:nvSpPr>
        <p:spPr>
          <a:xfrm>
            <a:off x="459943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a:t>
            </a:r>
            <a:endParaRPr lang="en-US" sz="2800" dirty="0"/>
          </a:p>
        </p:txBody>
      </p:sp>
      <p:sp>
        <p:nvSpPr>
          <p:cNvPr id="26" name="Text 22"/>
          <p:cNvSpPr txBox="1"/>
          <p:nvPr/>
        </p:nvSpPr>
        <p:spPr>
          <a:xfrm>
            <a:off x="587959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Kalender plus Teams</a:t>
            </a:r>
            <a:endParaRPr lang="en-US" sz="1300" dirty="0"/>
          </a:p>
        </p:txBody>
      </p:sp>
      <p:sp>
        <p:nvSpPr>
          <p:cNvPr id="27" name="Text 23"/>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Wer etwas anbieten oder teilnehmen möchte, braucht keine Genehmigung. Die Technik ist bewusst einfach.</a:t>
            </a:r>
            <a:endParaRPr lang="en-US" sz="1200" dirty="0"/>
          </a:p>
        </p:txBody>
      </p:sp>
      <p:sp>
        <p:nvSpPr>
          <p:cNvPr id="28" name="Shape 24"/>
          <p:cNvSpPr/>
          <p:nvPr/>
        </p:nvSpPr>
        <p:spPr>
          <a:xfrm>
            <a:off x="8119872" y="1508760"/>
            <a:ext cx="3566160" cy="4572000"/>
          </a:xfrm>
          <a:prstGeom prst="rect">
            <a:avLst/>
          </a:prstGeom>
          <a:solidFill>
            <a:srgbClr val="F5F5F5"/>
          </a:solidFill>
          <a:ln w="12700">
            <a:solidFill>
              <a:srgbClr val="F5F5F5"/>
            </a:solidFill>
            <a:prstDash val="solid"/>
          </a:ln>
        </p:spPr>
      </p:sp>
      <p:sp>
        <p:nvSpPr>
          <p:cNvPr id="29" name="Text 25"/>
          <p:cNvSpPr txBox="1"/>
          <p:nvPr/>
        </p:nvSpPr>
        <p:spPr>
          <a:xfrm>
            <a:off x="839419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DATEV: wDw</a:t>
            </a:r>
            <a:endParaRPr lang="en-US" sz="2000" dirty="0"/>
          </a:p>
        </p:txBody>
      </p:sp>
      <p:sp>
        <p:nvSpPr>
          <p:cNvPr id="30" name="Text 26"/>
          <p:cNvSpPr txBox="1"/>
          <p:nvPr/>
        </p:nvSpPr>
        <p:spPr>
          <a:xfrm>
            <a:off x="839419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Wenn Datev wüsste, was Datev weiß</a:t>
            </a:r>
            <a:endParaRPr lang="en-US" sz="1300" dirty="0"/>
          </a:p>
        </p:txBody>
      </p:sp>
      <p:sp>
        <p:nvSpPr>
          <p:cNvPr id="31" name="Text 27"/>
          <p:cNvSpPr txBox="1"/>
          <p:nvPr/>
        </p:nvSpPr>
        <p:spPr>
          <a:xfrm>
            <a:off x="839419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3</a:t>
            </a:r>
            <a:endParaRPr lang="en-US" sz="2800" dirty="0"/>
          </a:p>
        </p:txBody>
      </p:sp>
      <p:sp>
        <p:nvSpPr>
          <p:cNvPr id="32" name="Text 28"/>
          <p:cNvSpPr txBox="1"/>
          <p:nvPr/>
        </p:nvSpPr>
        <p:spPr>
          <a:xfrm>
            <a:off x="967435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Ebenen: ich, Team, Organisation</a:t>
            </a:r>
            <a:endParaRPr lang="en-US" sz="1300" dirty="0"/>
          </a:p>
        </p:txBody>
      </p:sp>
      <p:pic>
        <p:nvPicPr>
          <p:cNvPr id="33" name="Image 1" descr="/tmp/deck/ic/check_m.png">    </p:cNvPr>
          <p:cNvPicPr>
            <a:picLocks noChangeAspect="1"/>
          </p:cNvPicPr>
          <p:nvPr/>
        </p:nvPicPr>
        <p:blipFill>
          <a:blip r:embed="rId2"/>
          <a:stretch>
            <a:fillRect/>
          </a:stretch>
        </p:blipFill>
        <p:spPr>
          <a:xfrm>
            <a:off x="8503920" y="3383280"/>
            <a:ext cx="420624" cy="420624"/>
          </a:xfrm>
          <a:prstGeom prst="rect">
            <a:avLst/>
          </a:prstGeom>
        </p:spPr>
      </p:pic>
      <p:sp>
        <p:nvSpPr>
          <p:cNvPr id="34" name="Text 29"/>
          <p:cNvSpPr txBox="1"/>
          <p:nvPr/>
        </p:nvSpPr>
        <p:spPr>
          <a:xfrm>
            <a:off x="967435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Communities of Practice</a:t>
            </a:r>
            <a:endParaRPr lang="en-US" sz="1300" dirty="0"/>
          </a:p>
        </p:txBody>
      </p:sp>
      <p:pic>
        <p:nvPicPr>
          <p:cNvPr id="35" name="Image 2" descr="/tmp/deck/ic/check_m.png">    </p:cNvPr>
          <p:cNvPicPr>
            <a:picLocks noChangeAspect="1"/>
          </p:cNvPicPr>
          <p:nvPr/>
        </p:nvPicPr>
        <p:blipFill>
          <a:blip r:embed="rId3"/>
          <a:stretch>
            <a:fillRect/>
          </a:stretch>
        </p:blipFill>
        <p:spPr>
          <a:xfrm>
            <a:off x="8503920" y="4096512"/>
            <a:ext cx="420624" cy="420624"/>
          </a:xfrm>
          <a:prstGeom prst="rect">
            <a:avLst/>
          </a:prstGeom>
        </p:spPr>
      </p:pic>
      <p:sp>
        <p:nvSpPr>
          <p:cNvPr id="36" name="Text 30"/>
          <p:cNvSpPr txBox="1"/>
          <p:nvPr/>
        </p:nvSpPr>
        <p:spPr>
          <a:xfrm>
            <a:off x="967435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Barcamps und Lernmentoring</a:t>
            </a:r>
            <a:endParaRPr lang="en-US" sz="1300" dirty="0"/>
          </a:p>
        </p:txBody>
      </p:sp>
      <p:sp>
        <p:nvSpPr>
          <p:cNvPr id="37" name="Text 31"/>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Mitarbeitende bieten Sessions an. Lernen ist dezentral und selbstgesteuert, die Organisation gibt den Rahmen.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Was wir daraus lernen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Fünf Erfolgsfaktoren und unsere Antwort darauf</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36192"/>
            <a:ext cx="594360" cy="594360"/>
          </a:xfrm>
          <a:prstGeom prst="ellipse">
            <a:avLst/>
          </a:prstGeom>
          <a:solidFill>
            <a:srgbClr val="001957"/>
          </a:solidFill>
          <a:ln w="12700">
            <a:solidFill>
              <a:srgbClr val="001957"/>
            </a:solidFill>
            <a:prstDash val="solid"/>
          </a:ln>
        </p:spPr>
      </p:sp>
      <p:sp>
        <p:nvSpPr>
          <p:cNvPr id="9" name="Text 5"/>
          <p:cNvSpPr txBox="1"/>
          <p:nvPr/>
        </p:nvSpPr>
        <p:spPr>
          <a:xfrm>
            <a:off x="530352" y="15361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0" name="Text 6"/>
          <p:cNvSpPr txBox="1"/>
          <p:nvPr/>
        </p:nvSpPr>
        <p:spPr>
          <a:xfrm>
            <a:off x="1371600" y="15087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Freiwilligkeit und Vertrauen</a:t>
            </a:r>
            <a:endParaRPr lang="en-US" sz="1800" dirty="0"/>
          </a:p>
        </p:txBody>
      </p:sp>
      <p:sp>
        <p:nvSpPr>
          <p:cNvPr id="11" name="Shape 7"/>
          <p:cNvSpPr/>
          <p:nvPr/>
        </p:nvSpPr>
        <p:spPr>
          <a:xfrm>
            <a:off x="5394960" y="1463040"/>
            <a:ext cx="6291072" cy="749808"/>
          </a:xfrm>
          <a:prstGeom prst="rect">
            <a:avLst/>
          </a:prstGeom>
          <a:solidFill>
            <a:srgbClr val="F5F5F5"/>
          </a:solidFill>
          <a:ln w="12700">
            <a:solidFill>
              <a:srgbClr val="F5F5F5"/>
            </a:solidFill>
            <a:prstDash val="solid"/>
          </a:ln>
        </p:spPr>
      </p:sp>
      <p:sp>
        <p:nvSpPr>
          <p:cNvPr id="12" name="Text 8"/>
          <p:cNvSpPr txBox="1"/>
          <p:nvPr/>
        </p:nvSpPr>
        <p:spPr>
          <a:xfrm>
            <a:off x="5577840" y="14630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Teilnahme und Angebot sind freiwillig. Es gibt keine Bewertung einzelner Personen.</a:t>
            </a:r>
            <a:endParaRPr lang="en-US" sz="1400" dirty="0"/>
          </a:p>
        </p:txBody>
      </p:sp>
      <p:sp>
        <p:nvSpPr>
          <p:cNvPr id="13" name="Shape 9"/>
          <p:cNvSpPr/>
          <p:nvPr/>
        </p:nvSpPr>
        <p:spPr>
          <a:xfrm>
            <a:off x="530352" y="2450592"/>
            <a:ext cx="594360" cy="594360"/>
          </a:xfrm>
          <a:prstGeom prst="ellipse">
            <a:avLst/>
          </a:prstGeom>
          <a:solidFill>
            <a:srgbClr val="001957"/>
          </a:solidFill>
          <a:ln w="12700">
            <a:solidFill>
              <a:srgbClr val="001957"/>
            </a:solidFill>
            <a:prstDash val="solid"/>
          </a:ln>
        </p:spPr>
      </p:sp>
      <p:sp>
        <p:nvSpPr>
          <p:cNvPr id="14" name="Text 10"/>
          <p:cNvSpPr txBox="1"/>
          <p:nvPr/>
        </p:nvSpPr>
        <p:spPr>
          <a:xfrm>
            <a:off x="530352" y="24505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1371600" y="24231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Niedrige Hürde</a:t>
            </a:r>
            <a:endParaRPr lang="en-US" sz="1800" dirty="0"/>
          </a:p>
        </p:txBody>
      </p:sp>
      <p:sp>
        <p:nvSpPr>
          <p:cNvPr id="16" name="Shape 12"/>
          <p:cNvSpPr/>
          <p:nvPr/>
        </p:nvSpPr>
        <p:spPr>
          <a:xfrm>
            <a:off x="5394960" y="2377440"/>
            <a:ext cx="6291072" cy="749808"/>
          </a:xfrm>
          <a:prstGeom prst="rect">
            <a:avLst/>
          </a:prstGeom>
          <a:solidFill>
            <a:srgbClr val="F5F5F5"/>
          </a:solidFill>
          <a:ln w="12700">
            <a:solidFill>
              <a:srgbClr val="F5F5F5"/>
            </a:solidFill>
            <a:prstDash val="solid"/>
          </a:ln>
        </p:spPr>
      </p:sp>
      <p:sp>
        <p:nvSpPr>
          <p:cNvPr id="17" name="Text 13"/>
          <p:cNvSpPr txBox="1"/>
          <p:nvPr/>
        </p:nvSpPr>
        <p:spPr>
          <a:xfrm>
            <a:off x="5577840" y="23774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Kein Benutzerkonto, Anmeldung in zwei Klicks, Angebot in wenigen Minuten angelegt.</a:t>
            </a:r>
            <a:endParaRPr lang="en-US" sz="1400" dirty="0"/>
          </a:p>
        </p:txBody>
      </p:sp>
      <p:sp>
        <p:nvSpPr>
          <p:cNvPr id="18" name="Shape 14"/>
          <p:cNvSpPr/>
          <p:nvPr/>
        </p:nvSpPr>
        <p:spPr>
          <a:xfrm>
            <a:off x="530352" y="3364992"/>
            <a:ext cx="594360" cy="594360"/>
          </a:xfrm>
          <a:prstGeom prst="ellipse">
            <a:avLst/>
          </a:prstGeom>
          <a:solidFill>
            <a:srgbClr val="001957"/>
          </a:solidFill>
          <a:ln w="12700">
            <a:solidFill>
              <a:srgbClr val="001957"/>
            </a:solidFill>
            <a:prstDash val="solid"/>
          </a:ln>
        </p:spPr>
      </p:sp>
      <p:sp>
        <p:nvSpPr>
          <p:cNvPr id="19" name="Text 15"/>
          <p:cNvSpPr txBox="1"/>
          <p:nvPr/>
        </p:nvSpPr>
        <p:spPr>
          <a:xfrm>
            <a:off x="530352" y="33649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0" name="Text 16"/>
          <p:cNvSpPr txBox="1"/>
          <p:nvPr/>
        </p:nvSpPr>
        <p:spPr>
          <a:xfrm>
            <a:off x="1371600" y="33375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Sichtbare Vorbilder</a:t>
            </a:r>
            <a:endParaRPr lang="en-US" sz="1800" dirty="0"/>
          </a:p>
        </p:txBody>
      </p:sp>
      <p:sp>
        <p:nvSpPr>
          <p:cNvPr id="21" name="Shape 17"/>
          <p:cNvSpPr/>
          <p:nvPr/>
        </p:nvSpPr>
        <p:spPr>
          <a:xfrm>
            <a:off x="5394960" y="3291840"/>
            <a:ext cx="6291072" cy="749808"/>
          </a:xfrm>
          <a:prstGeom prst="rect">
            <a:avLst/>
          </a:prstGeom>
          <a:solidFill>
            <a:srgbClr val="F5F5F5"/>
          </a:solidFill>
          <a:ln w="12700">
            <a:solidFill>
              <a:srgbClr val="F5F5F5"/>
            </a:solidFill>
            <a:prstDash val="solid"/>
          </a:ln>
        </p:spPr>
      </p:sp>
      <p:sp>
        <p:nvSpPr>
          <p:cNvPr id="22" name="Text 18"/>
          <p:cNvSpPr txBox="1"/>
          <p:nvPr/>
        </p:nvSpPr>
        <p:spPr>
          <a:xfrm>
            <a:off x="5577840" y="32918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Führungskräfte und Fachleute bieten die ersten Termine an und zeigen, wie es geht.</a:t>
            </a:r>
            <a:endParaRPr lang="en-US" sz="1400" dirty="0"/>
          </a:p>
        </p:txBody>
      </p:sp>
      <p:sp>
        <p:nvSpPr>
          <p:cNvPr id="23" name="Shape 19"/>
          <p:cNvSpPr/>
          <p:nvPr/>
        </p:nvSpPr>
        <p:spPr>
          <a:xfrm>
            <a:off x="530352" y="4279392"/>
            <a:ext cx="594360" cy="594360"/>
          </a:xfrm>
          <a:prstGeom prst="ellipse">
            <a:avLst/>
          </a:prstGeom>
          <a:solidFill>
            <a:srgbClr val="001957"/>
          </a:solidFill>
          <a:ln w="12700">
            <a:solidFill>
              <a:srgbClr val="001957"/>
            </a:solidFill>
            <a:prstDash val="solid"/>
          </a:ln>
        </p:spPr>
      </p:sp>
      <p:sp>
        <p:nvSpPr>
          <p:cNvPr id="24" name="Text 20"/>
          <p:cNvSpPr txBox="1"/>
          <p:nvPr/>
        </p:nvSpPr>
        <p:spPr>
          <a:xfrm>
            <a:off x="530352" y="42793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5" name="Text 21"/>
          <p:cNvSpPr txBox="1"/>
          <p:nvPr/>
        </p:nvSpPr>
        <p:spPr>
          <a:xfrm>
            <a:off x="1371600" y="42519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Wenig Technik</a:t>
            </a:r>
            <a:endParaRPr lang="en-US" sz="1800" dirty="0"/>
          </a:p>
        </p:txBody>
      </p:sp>
      <p:sp>
        <p:nvSpPr>
          <p:cNvPr id="26" name="Shape 22"/>
          <p:cNvSpPr/>
          <p:nvPr/>
        </p:nvSpPr>
        <p:spPr>
          <a:xfrm>
            <a:off x="5394960" y="4206240"/>
            <a:ext cx="6291072" cy="749808"/>
          </a:xfrm>
          <a:prstGeom prst="rect">
            <a:avLst/>
          </a:prstGeom>
          <a:solidFill>
            <a:srgbClr val="F5F5F5"/>
          </a:solidFill>
          <a:ln w="12700">
            <a:solidFill>
              <a:srgbClr val="F5F5F5"/>
            </a:solidFill>
            <a:prstDash val="solid"/>
          </a:ln>
        </p:spPr>
      </p:sp>
      <p:sp>
        <p:nvSpPr>
          <p:cNvPr id="27" name="Text 23"/>
          <p:cNvSpPr txBox="1"/>
          <p:nvPr/>
        </p:nvSpPr>
        <p:spPr>
          <a:xfrm>
            <a:off x="5577840" y="42062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Eine schlanke Web-App und Teams. Keine neue Lernplattform, kein Schulungsaufwand.</a:t>
            </a:r>
            <a:endParaRPr lang="en-US" sz="1400" dirty="0"/>
          </a:p>
        </p:txBody>
      </p:sp>
      <p:sp>
        <p:nvSpPr>
          <p:cNvPr id="28" name="Shape 24"/>
          <p:cNvSpPr/>
          <p:nvPr/>
        </p:nvSpPr>
        <p:spPr>
          <a:xfrm>
            <a:off x="530352" y="5193792"/>
            <a:ext cx="594360" cy="594360"/>
          </a:xfrm>
          <a:prstGeom prst="ellipse">
            <a:avLst/>
          </a:prstGeom>
          <a:solidFill>
            <a:srgbClr val="001957"/>
          </a:solidFill>
          <a:ln w="12700">
            <a:solidFill>
              <a:srgbClr val="001957"/>
            </a:solidFill>
            <a:prstDash val="solid"/>
          </a:ln>
        </p:spPr>
      </p:sp>
      <p:sp>
        <p:nvSpPr>
          <p:cNvPr id="29" name="Text 25"/>
          <p:cNvSpPr txBox="1"/>
          <p:nvPr/>
        </p:nvSpPr>
        <p:spPr>
          <a:xfrm>
            <a:off x="530352" y="51937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0" name="Text 26"/>
          <p:cNvSpPr txBox="1"/>
          <p:nvPr/>
        </p:nvSpPr>
        <p:spPr>
          <a:xfrm>
            <a:off x="1371600" y="51663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Rahmen von zentral</a:t>
            </a:r>
            <a:endParaRPr lang="en-US" sz="1800" dirty="0"/>
          </a:p>
        </p:txBody>
      </p:sp>
      <p:sp>
        <p:nvSpPr>
          <p:cNvPr id="31" name="Shape 27"/>
          <p:cNvSpPr/>
          <p:nvPr/>
        </p:nvSpPr>
        <p:spPr>
          <a:xfrm>
            <a:off x="5394960" y="5120640"/>
            <a:ext cx="6291072" cy="749808"/>
          </a:xfrm>
          <a:prstGeom prst="rect">
            <a:avLst/>
          </a:prstGeom>
          <a:solidFill>
            <a:srgbClr val="F5F5F5"/>
          </a:solidFill>
          <a:ln w="12700">
            <a:solidFill>
              <a:srgbClr val="F5F5F5"/>
            </a:solidFill>
            <a:prstDash val="solid"/>
          </a:ln>
        </p:spPr>
      </p:sp>
      <p:sp>
        <p:nvSpPr>
          <p:cNvPr id="32" name="Text 28"/>
          <p:cNvSpPr txBox="1"/>
          <p:nvPr/>
        </p:nvSpPr>
        <p:spPr>
          <a:xfrm>
            <a:off x="5577840" y="51206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Training &amp; Entwicklung Vertrieb pflegt Themen, Regeln und Qualität. Die Inhalte kommen aus dem Außendienst.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Unsere Idee: LearnTogether@AD</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Eine Bühne für das Wissen im Außendienst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1155680" cy="1371600"/>
          </a:xfrm>
          <a:prstGeom prst="rect">
            <a:avLst/>
          </a:prstGeom>
          <a:solidFill>
            <a:srgbClr val="001957"/>
          </a:solidFill>
          <a:ln w="12700">
            <a:solidFill>
              <a:srgbClr val="001957"/>
            </a:solidFill>
            <a:prstDash val="solid"/>
          </a:ln>
        </p:spPr>
      </p:sp>
      <p:sp>
        <p:nvSpPr>
          <p:cNvPr id="9" name="Text 5"/>
          <p:cNvSpPr txBox="1"/>
          <p:nvPr/>
        </p:nvSpPr>
        <p:spPr>
          <a:xfrm>
            <a:off x="868680" y="1554480"/>
            <a:ext cx="10515600" cy="12801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Wissen teilen, voneinander lernen, einander besser kennenlernen. Im Außendienst und mit allen, die mitmachen möchten.</a:t>
            </a:r>
            <a:endParaRPr lang="en-US" sz="2400" dirty="0"/>
          </a:p>
        </p:txBody>
      </p:sp>
      <p:sp>
        <p:nvSpPr>
          <p:cNvPr id="10" name="Shape 6"/>
          <p:cNvSpPr/>
          <p:nvPr/>
        </p:nvSpPr>
        <p:spPr>
          <a:xfrm>
            <a:off x="530352" y="3154680"/>
            <a:ext cx="3566160" cy="2926080"/>
          </a:xfrm>
          <a:prstGeom prst="rect">
            <a:avLst/>
          </a:prstGeom>
          <a:solidFill>
            <a:srgbClr val="F5F5F5"/>
          </a:solidFill>
          <a:ln w="12700">
            <a:solidFill>
              <a:srgbClr val="F5F5F5"/>
            </a:solidFill>
            <a:prstDash val="solid"/>
          </a:ln>
        </p:spPr>
      </p:sp>
      <p:pic>
        <p:nvPicPr>
          <p:cNvPr id="11" name="Image 1" descr="/tmp/deck/ic/people_m.png">    </p:cNvPr>
          <p:cNvPicPr>
            <a:picLocks noChangeAspect="1"/>
          </p:cNvPicPr>
          <p:nvPr/>
        </p:nvPicPr>
        <p:blipFill>
          <a:blip r:embed="rId2"/>
          <a:stretch>
            <a:fillRect/>
          </a:stretch>
        </p:blipFill>
        <p:spPr>
          <a:xfrm>
            <a:off x="804672" y="3429000"/>
            <a:ext cx="731520" cy="731520"/>
          </a:xfrm>
          <a:prstGeom prst="rect">
            <a:avLst/>
          </a:prstGeom>
        </p:spPr>
      </p:pic>
      <p:sp>
        <p:nvSpPr>
          <p:cNvPr id="12" name="Text 7"/>
          <p:cNvSpPr txBox="1"/>
          <p:nvPr/>
        </p:nvSpPr>
        <p:spPr>
          <a:xfrm>
            <a:off x="80467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Von uns für uns</a:t>
            </a:r>
            <a:endParaRPr lang="en-US" sz="2000" dirty="0"/>
          </a:p>
        </p:txBody>
      </p:sp>
      <p:sp>
        <p:nvSpPr>
          <p:cNvPr id="13" name="Text 8"/>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Kolleginnen und Kollegen bieten an, was sie wissen oder können. Die Administration gibt den Rahmen.</a:t>
            </a:r>
            <a:endParaRPr lang="en-US" sz="1400" dirty="0"/>
          </a:p>
        </p:txBody>
      </p:sp>
      <p:sp>
        <p:nvSpPr>
          <p:cNvPr id="14" name="Shape 9"/>
          <p:cNvSpPr/>
          <p:nvPr/>
        </p:nvSpPr>
        <p:spPr>
          <a:xfrm>
            <a:off x="4325112" y="3154680"/>
            <a:ext cx="3566160" cy="2926080"/>
          </a:xfrm>
          <a:prstGeom prst="rect">
            <a:avLst/>
          </a:prstGeom>
          <a:solidFill>
            <a:srgbClr val="F5F5F5"/>
          </a:solidFill>
          <a:ln w="12700">
            <a:solidFill>
              <a:srgbClr val="F5F5F5"/>
            </a:solidFill>
            <a:prstDash val="solid"/>
          </a:ln>
        </p:spPr>
      </p:sp>
      <p:pic>
        <p:nvPicPr>
          <p:cNvPr id="15" name="Image 2" descr="/tmp/deck/ic/video_m.png">    </p:cNvPr>
          <p:cNvPicPr>
            <a:picLocks noChangeAspect="1"/>
          </p:cNvPicPr>
          <p:nvPr/>
        </p:nvPicPr>
        <p:blipFill>
          <a:blip r:embed="rId3"/>
          <a:stretch>
            <a:fillRect/>
          </a:stretch>
        </p:blipFill>
        <p:spPr>
          <a:xfrm>
            <a:off x="4599432" y="3429000"/>
            <a:ext cx="731520" cy="731520"/>
          </a:xfrm>
          <a:prstGeom prst="rect">
            <a:avLst/>
          </a:prstGeom>
        </p:spPr>
      </p:pic>
      <p:sp>
        <p:nvSpPr>
          <p:cNvPr id="16" name="Text 10"/>
          <p:cNvSpPr txBox="1"/>
          <p:nvPr/>
        </p:nvSpPr>
        <p:spPr>
          <a:xfrm>
            <a:off x="459943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Kurz und online</a:t>
            </a:r>
            <a:endParaRPr lang="en-US" sz="2000" dirty="0"/>
          </a:p>
        </p:txBody>
      </p:sp>
      <p:sp>
        <p:nvSpPr>
          <p:cNvPr id="17" name="Text 11"/>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dauern 15 bis 120 Minuten und finden in Microsoft Teams statt. Am Morgen oder am Abend.</a:t>
            </a:r>
            <a:endParaRPr lang="en-US" sz="1400" dirty="0"/>
          </a:p>
        </p:txBody>
      </p:sp>
      <p:sp>
        <p:nvSpPr>
          <p:cNvPr id="18" name="Shape 12"/>
          <p:cNvSpPr/>
          <p:nvPr/>
        </p:nvSpPr>
        <p:spPr>
          <a:xfrm>
            <a:off x="8119872" y="3154680"/>
            <a:ext cx="3566160" cy="2926080"/>
          </a:xfrm>
          <a:prstGeom prst="rect">
            <a:avLst/>
          </a:prstGeom>
          <a:solidFill>
            <a:srgbClr val="F5F5F5"/>
          </a:solidFill>
          <a:ln w="12700">
            <a:solidFill>
              <a:srgbClr val="F5F5F5"/>
            </a:solidFill>
            <a:prstDash val="solid"/>
          </a:ln>
        </p:spPr>
      </p:sp>
      <p:pic>
        <p:nvPicPr>
          <p:cNvPr id="19" name="Image 3" descr="/tmp/deck/ic/heart_m.png">    </p:cNvPr>
          <p:cNvPicPr>
            <a:picLocks noChangeAspect="1"/>
          </p:cNvPicPr>
          <p:nvPr/>
        </p:nvPicPr>
        <p:blipFill>
          <a:blip r:embed="rId4"/>
          <a:stretch>
            <a:fillRect/>
          </a:stretch>
        </p:blipFill>
        <p:spPr>
          <a:xfrm>
            <a:off x="8394192" y="3429000"/>
            <a:ext cx="731520" cy="731520"/>
          </a:xfrm>
          <a:prstGeom prst="rect">
            <a:avLst/>
          </a:prstGeom>
        </p:spPr>
      </p:pic>
      <p:sp>
        <p:nvSpPr>
          <p:cNvPr id="20" name="Text 13"/>
          <p:cNvSpPr txBox="1"/>
          <p:nvPr/>
        </p:nvSpPr>
        <p:spPr>
          <a:xfrm>
            <a:off x="839419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Dienstlich und privat</a:t>
            </a:r>
            <a:endParaRPr lang="en-US" sz="2000" dirty="0"/>
          </a:p>
        </p:txBody>
      </p:sp>
      <p:sp>
        <p:nvSpPr>
          <p:cNvPr id="21" name="Text 14"/>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Fachwissen und Vertrieb stehen neben Sport, Reisen, Essen und Freizeit. Dienstlich kann als Arbeitszeit zählen, privat nicht.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So funktioniert es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ganz ohne Benutzerkonto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737360"/>
            <a:ext cx="2606040" cy="3931920"/>
          </a:xfrm>
          <a:prstGeom prst="rect">
            <a:avLst/>
          </a:prstGeom>
          <a:solidFill>
            <a:srgbClr val="F5F5F5"/>
          </a:solidFill>
          <a:ln w="12700">
            <a:solidFill>
              <a:srgbClr val="F5F5F5"/>
            </a:solidFill>
            <a:prstDash val="solid"/>
          </a:ln>
        </p:spPr>
      </p:sp>
      <p:pic>
        <p:nvPicPr>
          <p:cNvPr id="9" name="Image 1" descr="/tmp/deck/ic/search_m.png">    </p:cNvPr>
          <p:cNvPicPr>
            <a:picLocks noChangeAspect="1"/>
          </p:cNvPicPr>
          <p:nvPr/>
        </p:nvPicPr>
        <p:blipFill>
          <a:blip r:embed="rId2"/>
          <a:stretch>
            <a:fillRect/>
          </a:stretch>
        </p:blipFill>
        <p:spPr>
          <a:xfrm>
            <a:off x="804672" y="2011680"/>
            <a:ext cx="822960" cy="822960"/>
          </a:xfrm>
          <a:prstGeom prst="rect">
            <a:avLst/>
          </a:prstGeom>
        </p:spPr>
      </p:pic>
      <p:sp>
        <p:nvSpPr>
          <p:cNvPr id="10" name="Text 5"/>
          <p:cNvSpPr txBox="1"/>
          <p:nvPr/>
        </p:nvSpPr>
        <p:spPr>
          <a:xfrm>
            <a:off x="80467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1</a:t>
            </a:r>
            <a:endParaRPr lang="en-US" sz="1200" dirty="0"/>
          </a:p>
        </p:txBody>
      </p:sp>
      <p:sp>
        <p:nvSpPr>
          <p:cNvPr id="11" name="Text 6"/>
          <p:cNvSpPr txBox="1"/>
          <p:nvPr/>
        </p:nvSpPr>
        <p:spPr>
          <a:xfrm>
            <a:off x="80467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Entdecken</a:t>
            </a:r>
            <a:endParaRPr lang="en-US" sz="2200" dirty="0"/>
          </a:p>
        </p:txBody>
      </p:sp>
      <p:sp>
        <p:nvSpPr>
          <p:cNvPr id="12" name="Text 7"/>
          <p:cNvSpPr txBox="1"/>
          <p:nvPr/>
        </p:nvSpPr>
        <p:spPr>
          <a:xfrm>
            <a:off x="80467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Im Katalog nach Thema, Art, Dauer oder Tageszeit suchen.</a:t>
            </a:r>
            <a:endParaRPr lang="en-US" sz="1400" dirty="0"/>
          </a:p>
        </p:txBody>
      </p:sp>
      <p:pic>
        <p:nvPicPr>
          <p:cNvPr id="13" name="Image 2" descr="/tmp/deck/ic/arrow_p.png">    </p:cNvPr>
          <p:cNvPicPr>
            <a:picLocks noChangeAspect="1"/>
          </p:cNvPicPr>
          <p:nvPr/>
        </p:nvPicPr>
        <p:blipFill>
          <a:blip r:embed="rId3"/>
          <a:stretch>
            <a:fillRect/>
          </a:stretch>
        </p:blipFill>
        <p:spPr>
          <a:xfrm>
            <a:off x="3163824" y="3520440"/>
            <a:ext cx="201168" cy="201168"/>
          </a:xfrm>
          <a:prstGeom prst="rect">
            <a:avLst/>
          </a:prstGeom>
        </p:spPr>
      </p:pic>
      <p:sp>
        <p:nvSpPr>
          <p:cNvPr id="14" name="Shape 8"/>
          <p:cNvSpPr/>
          <p:nvPr/>
        </p:nvSpPr>
        <p:spPr>
          <a:xfrm>
            <a:off x="3364992" y="1737360"/>
            <a:ext cx="2606040" cy="3931920"/>
          </a:xfrm>
          <a:prstGeom prst="rect">
            <a:avLst/>
          </a:prstGeom>
          <a:solidFill>
            <a:srgbClr val="F5F5F5"/>
          </a:solidFill>
          <a:ln w="12700">
            <a:solidFill>
              <a:srgbClr val="F5F5F5"/>
            </a:solidFill>
            <a:prstDash val="solid"/>
          </a:ln>
        </p:spPr>
      </p:sp>
      <p:pic>
        <p:nvPicPr>
          <p:cNvPr id="15" name="Image 3" descr="/tmp/deck/ic/cal_m.png">    </p:cNvPr>
          <p:cNvPicPr>
            <a:picLocks noChangeAspect="1"/>
          </p:cNvPicPr>
          <p:nvPr/>
        </p:nvPicPr>
        <p:blipFill>
          <a:blip r:embed="rId4"/>
          <a:stretch>
            <a:fillRect/>
          </a:stretch>
        </p:blipFill>
        <p:spPr>
          <a:xfrm>
            <a:off x="3639312" y="2011680"/>
            <a:ext cx="822960" cy="822960"/>
          </a:xfrm>
          <a:prstGeom prst="rect">
            <a:avLst/>
          </a:prstGeom>
        </p:spPr>
      </p:pic>
      <p:sp>
        <p:nvSpPr>
          <p:cNvPr id="16" name="Text 9"/>
          <p:cNvSpPr txBox="1"/>
          <p:nvPr/>
        </p:nvSpPr>
        <p:spPr>
          <a:xfrm>
            <a:off x="363931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2</a:t>
            </a:r>
            <a:endParaRPr lang="en-US" sz="1200" dirty="0"/>
          </a:p>
        </p:txBody>
      </p:sp>
      <p:sp>
        <p:nvSpPr>
          <p:cNvPr id="17" name="Text 10"/>
          <p:cNvSpPr txBox="1"/>
          <p:nvPr/>
        </p:nvSpPr>
        <p:spPr>
          <a:xfrm>
            <a:off x="363931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Anmelden</a:t>
            </a:r>
            <a:endParaRPr lang="en-US" sz="2200" dirty="0"/>
          </a:p>
        </p:txBody>
      </p:sp>
      <p:sp>
        <p:nvSpPr>
          <p:cNvPr id="18" name="Text 11"/>
          <p:cNvSpPr txBox="1"/>
          <p:nvPr/>
        </p:nvSpPr>
        <p:spPr>
          <a:xfrm>
            <a:off x="363931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Name und E-Mail eingeben. Der Platz ist sofort reserviert.</a:t>
            </a:r>
            <a:endParaRPr lang="en-US" sz="1400" dirty="0"/>
          </a:p>
        </p:txBody>
      </p:sp>
      <p:pic>
        <p:nvPicPr>
          <p:cNvPr id="19" name="Image 4" descr="/tmp/deck/ic/arrow_p.png">    </p:cNvPr>
          <p:cNvPicPr>
            <a:picLocks noChangeAspect="1"/>
          </p:cNvPicPr>
          <p:nvPr/>
        </p:nvPicPr>
        <p:blipFill>
          <a:blip r:embed="rId5"/>
          <a:stretch>
            <a:fillRect/>
          </a:stretch>
        </p:blipFill>
        <p:spPr>
          <a:xfrm>
            <a:off x="5998464" y="3520440"/>
            <a:ext cx="201168" cy="201168"/>
          </a:xfrm>
          <a:prstGeom prst="rect">
            <a:avLst/>
          </a:prstGeom>
        </p:spPr>
      </p:pic>
      <p:sp>
        <p:nvSpPr>
          <p:cNvPr id="20" name="Shape 12"/>
          <p:cNvSpPr/>
          <p:nvPr/>
        </p:nvSpPr>
        <p:spPr>
          <a:xfrm>
            <a:off x="6199632" y="1737360"/>
            <a:ext cx="2606040" cy="3931920"/>
          </a:xfrm>
          <a:prstGeom prst="rect">
            <a:avLst/>
          </a:prstGeom>
          <a:solidFill>
            <a:srgbClr val="F5F5F5"/>
          </a:solidFill>
          <a:ln w="12700">
            <a:solidFill>
              <a:srgbClr val="F5F5F5"/>
            </a:solidFill>
            <a:prstDash val="solid"/>
          </a:ln>
        </p:spPr>
      </p:sp>
      <p:pic>
        <p:nvPicPr>
          <p:cNvPr id="21" name="Image 5" descr="/tmp/deck/ic/video_m.png">    </p:cNvPr>
          <p:cNvPicPr>
            <a:picLocks noChangeAspect="1"/>
          </p:cNvPicPr>
          <p:nvPr/>
        </p:nvPicPr>
        <p:blipFill>
          <a:blip r:embed="rId6"/>
          <a:stretch>
            <a:fillRect/>
          </a:stretch>
        </p:blipFill>
        <p:spPr>
          <a:xfrm>
            <a:off x="6473952" y="2011680"/>
            <a:ext cx="822960" cy="822960"/>
          </a:xfrm>
          <a:prstGeom prst="rect">
            <a:avLst/>
          </a:prstGeom>
        </p:spPr>
      </p:pic>
      <p:sp>
        <p:nvSpPr>
          <p:cNvPr id="22" name="Text 13"/>
          <p:cNvSpPr txBox="1"/>
          <p:nvPr/>
        </p:nvSpPr>
        <p:spPr>
          <a:xfrm>
            <a:off x="647395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3</a:t>
            </a:r>
            <a:endParaRPr lang="en-US" sz="1200" dirty="0"/>
          </a:p>
        </p:txBody>
      </p:sp>
      <p:sp>
        <p:nvSpPr>
          <p:cNvPr id="23" name="Text 14"/>
          <p:cNvSpPr txBox="1"/>
          <p:nvPr/>
        </p:nvSpPr>
        <p:spPr>
          <a:xfrm>
            <a:off x="647395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a:t>
            </a:r>
            <a:endParaRPr lang="en-US" sz="2200" dirty="0"/>
          </a:p>
        </p:txBody>
      </p:sp>
      <p:sp>
        <p:nvSpPr>
          <p:cNvPr id="24" name="Text 15"/>
          <p:cNvSpPr txBox="1"/>
          <p:nvPr/>
        </p:nvSpPr>
        <p:spPr>
          <a:xfrm>
            <a:off x="647395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Buchungscode merken, Termin in den Kalender übernehmen, über den Teams-Link beitreten.</a:t>
            </a:r>
            <a:endParaRPr lang="en-US" sz="1400" dirty="0"/>
          </a:p>
        </p:txBody>
      </p:sp>
      <p:pic>
        <p:nvPicPr>
          <p:cNvPr id="25" name="Image 6" descr="/tmp/deck/ic/arrow_p.png">    </p:cNvPr>
          <p:cNvPicPr>
            <a:picLocks noChangeAspect="1"/>
          </p:cNvPicPr>
          <p:nvPr/>
        </p:nvPicPr>
        <p:blipFill>
          <a:blip r:embed="rId7"/>
          <a:stretch>
            <a:fillRect/>
          </a:stretch>
        </p:blipFill>
        <p:spPr>
          <a:xfrm>
            <a:off x="8833104" y="3520440"/>
            <a:ext cx="201168" cy="201168"/>
          </a:xfrm>
          <a:prstGeom prst="rect">
            <a:avLst/>
          </a:prstGeom>
        </p:spPr>
      </p:pic>
      <p:sp>
        <p:nvSpPr>
          <p:cNvPr id="26" name="Shape 16"/>
          <p:cNvSpPr/>
          <p:nvPr/>
        </p:nvSpPr>
        <p:spPr>
          <a:xfrm>
            <a:off x="9034272" y="1737360"/>
            <a:ext cx="2606040" cy="3931920"/>
          </a:xfrm>
          <a:prstGeom prst="rect">
            <a:avLst/>
          </a:prstGeom>
          <a:solidFill>
            <a:srgbClr val="F5F5F5"/>
          </a:solidFill>
          <a:ln w="12700">
            <a:solidFill>
              <a:srgbClr val="F5F5F5"/>
            </a:solidFill>
            <a:prstDash val="solid"/>
          </a:ln>
        </p:spPr>
      </p:sp>
      <p:pic>
        <p:nvPicPr>
          <p:cNvPr id="27" name="Image 7" descr="/tmp/deck/ic/pencil_m.png">    </p:cNvPr>
          <p:cNvPicPr>
            <a:picLocks noChangeAspect="1"/>
          </p:cNvPicPr>
          <p:nvPr/>
        </p:nvPicPr>
        <p:blipFill>
          <a:blip r:embed="rId8"/>
          <a:stretch>
            <a:fillRect/>
          </a:stretch>
        </p:blipFill>
        <p:spPr>
          <a:xfrm>
            <a:off x="9308592" y="2011680"/>
            <a:ext cx="822960" cy="822960"/>
          </a:xfrm>
          <a:prstGeom prst="rect">
            <a:avLst/>
          </a:prstGeom>
        </p:spPr>
      </p:pic>
      <p:sp>
        <p:nvSpPr>
          <p:cNvPr id="28" name="Text 17"/>
          <p:cNvSpPr txBox="1"/>
          <p:nvPr/>
        </p:nvSpPr>
        <p:spPr>
          <a:xfrm>
            <a:off x="930859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4</a:t>
            </a:r>
            <a:endParaRPr lang="en-US" sz="1200" dirty="0"/>
          </a:p>
        </p:txBody>
      </p:sp>
      <p:sp>
        <p:nvSpPr>
          <p:cNvPr id="29" name="Text 18"/>
          <p:cNvSpPr txBox="1"/>
          <p:nvPr/>
        </p:nvSpPr>
        <p:spPr>
          <a:xfrm>
            <a:off x="930859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a:t>
            </a:r>
            <a:endParaRPr lang="en-US" sz="2200" dirty="0"/>
          </a:p>
        </p:txBody>
      </p:sp>
      <p:sp>
        <p:nvSpPr>
          <p:cNvPr id="30" name="Text 19"/>
          <p:cNvSpPr txBox="1"/>
          <p:nvPr/>
        </p:nvSpPr>
        <p:spPr>
          <a:xfrm>
            <a:off x="930859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 einen Termin anlegen. Der Veranstaltungscode zeigt später die Teilnehmerliste.</a:t>
            </a:r>
            <a:endParaRPr lang="en-US" sz="1400" dirty="0"/>
          </a:p>
        </p:txBody>
      </p:sp>
      <p:sp>
        <p:nvSpPr>
          <p:cNvPr id="31" name="Text 20"/>
          <p:cNvSpPr txBox="1"/>
          <p:nvPr/>
        </p:nvSpPr>
        <p:spPr>
          <a:xfrm>
            <a:off x="530352" y="5806440"/>
            <a:ext cx="11155680" cy="36576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Kein E-Mail-Versand: Teams-Link, Kalenderdatei und Buchungscode erscheinen direkt nach der Anmeldung.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Teilnehmen: entdecken und anmelden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Zwei Klicks bis zum Platz, ganz ohne Benutzerkonto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katalog.jpg">    </p:cNvPr>
          <p:cNvPicPr>
            <a:picLocks noChangeAspect="1"/>
          </p:cNvPicPr>
          <p:nvPr/>
        </p:nvPicPr>
        <p:blipFill>
          <a:blip r:embed="rId2"/>
          <a:stretch>
            <a:fillRect/>
          </a:stretch>
        </p:blipFill>
        <p:spPr>
          <a:xfrm>
            <a:off x="530352" y="1463040"/>
            <a:ext cx="5486400" cy="3686175"/>
          </a:xfrm>
          <a:prstGeom prst="rect">
            <a:avLst/>
          </a:prstGeom>
        </p:spPr>
      </p:pic>
      <p:pic>
        <p:nvPicPr>
          <p:cNvPr id="9" name="Image 2" descr="/home/user/ruv_learntogether/src/handbuch/shots/angemeldet.jpg">    </p:cNvPr>
          <p:cNvPicPr>
            <a:picLocks noChangeAspect="1"/>
          </p:cNvPicPr>
          <p:nvPr/>
        </p:nvPicPr>
        <p:blipFill>
          <a:blip r:embed="rId3"/>
          <a:stretch>
            <a:fillRect/>
          </a:stretch>
        </p:blipFill>
        <p:spPr>
          <a:xfrm>
            <a:off x="6199632" y="1463040"/>
            <a:ext cx="5486400" cy="2551001"/>
          </a:xfrm>
          <a:prstGeom prst="rect">
            <a:avLst/>
          </a:prstGeom>
        </p:spPr>
      </p:pic>
      <p:sp>
        <p:nvSpPr>
          <p:cNvPr id="10" name="Text 4"/>
          <p:cNvSpPr txBox="1"/>
          <p:nvPr/>
        </p:nvSpPr>
        <p:spPr>
          <a:xfrm>
            <a:off x="530352" y="525780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Entdecken wie in einer Mediathek</a:t>
            </a:r>
            <a:endParaRPr lang="en-US" sz="1800" dirty="0"/>
          </a:p>
        </p:txBody>
      </p:sp>
      <p:sp>
        <p:nvSpPr>
          <p:cNvPr id="11" name="Text 5"/>
          <p:cNvSpPr txBox="1"/>
          <p:nvPr/>
        </p:nvSpPr>
        <p:spPr>
          <a:xfrm>
            <a:off x="530352" y="5641848"/>
            <a:ext cx="5486400" cy="5486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Reihen nach Thema, Filter für Art, Dauer und Tageszeit, Chips für fast ausgebuchte Termine.</a:t>
            </a:r>
            <a:endParaRPr lang="en-US" sz="1400" dirty="0"/>
          </a:p>
        </p:txBody>
      </p:sp>
      <p:sp>
        <p:nvSpPr>
          <p:cNvPr id="12" name="Text 6"/>
          <p:cNvSpPr txBox="1"/>
          <p:nvPr/>
        </p:nvSpPr>
        <p:spPr>
          <a:xfrm>
            <a:off x="6199632" y="425196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Anmelden in zwei Klicks</a:t>
            </a:r>
            <a:endParaRPr lang="en-US" sz="1800" dirty="0"/>
          </a:p>
        </p:txBody>
      </p:sp>
      <p:sp>
        <p:nvSpPr>
          <p:cNvPr id="13" name="Text 7"/>
          <p:cNvSpPr txBox="1"/>
          <p:nvPr/>
        </p:nvSpPr>
        <p:spPr>
          <a:xfrm>
            <a:off x="6199632" y="4636008"/>
            <a:ext cx="5486400" cy="10058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Name und E-Mail genügen. Danach erscheinen Teams-Link, Kalenderdatei und Buchungscode. Die Plattform verschickt keine E-Mails.</a:t>
            </a:r>
            <a:endParaRPr lang="en-US" sz="1400" dirty="0"/>
          </a:p>
        </p:txBody>
      </p:sp>
      <p:sp>
        <p:nvSpPr>
          <p:cNvPr id="14" name="Text 8"/>
          <p:cNvSpPr txBox="1"/>
          <p:nvPr/>
        </p:nvSpPr>
        <p:spPr>
          <a:xfrm>
            <a:off x="6199632" y="594360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Abbildungen mit Beispieldaten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Selbst etwas anbieten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Termin ist in wenigen Minuten angelegt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nbiet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Wer, worum, wann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Name, Titel, Thema und ein Termin im erlaubten Zeitfenster.</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Was wird angeboten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Art, Platzzahl bis 50, Beschreibung und ein quadratisches Bild.</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Teams-Link</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Der Link ist nur für angemeldete Personen sichtbar.</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Veranstaltungscode und Absage</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Er zeigt die Teilnehmerliste mit Namen. Damit lässt sich die Veranstaltung auch absagen, selbst mit Anmeldungen.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Spielregeln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Termine gibt es nur montags bis freitags, morgens oder abends</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2148840"/>
            <a:ext cx="11155680" cy="731520"/>
          </a:xfrm>
          <a:prstGeom prst="rect">
            <a:avLst/>
          </a:prstGeom>
          <a:solidFill>
            <a:srgbClr val="ECECEC"/>
          </a:solidFill>
          <a:ln w="12700">
            <a:solidFill>
              <a:srgbClr val="ECECEC"/>
            </a:solidFill>
            <a:prstDash val="solid"/>
          </a:ln>
        </p:spPr>
      </p:sp>
      <p:sp>
        <p:nvSpPr>
          <p:cNvPr id="9" name="Shape 5"/>
          <p:cNvSpPr/>
          <p:nvPr/>
        </p:nvSpPr>
        <p:spPr>
          <a:xfrm>
            <a:off x="3319272" y="2148840"/>
            <a:ext cx="1394460" cy="731520"/>
          </a:xfrm>
          <a:prstGeom prst="rect">
            <a:avLst/>
          </a:prstGeom>
          <a:solidFill>
            <a:srgbClr val="00DCDC"/>
          </a:solidFill>
          <a:ln w="12700">
            <a:solidFill>
              <a:srgbClr val="00DCDC"/>
            </a:solidFill>
            <a:prstDash val="solid"/>
          </a:ln>
        </p:spPr>
      </p:sp>
      <p:sp>
        <p:nvSpPr>
          <p:cNvPr id="10" name="Text 6"/>
          <p:cNvSpPr txBox="1"/>
          <p:nvPr/>
        </p:nvSpPr>
        <p:spPr>
          <a:xfrm>
            <a:off x="331927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06:00 bis 09:00</a:t>
            </a:r>
            <a:endParaRPr lang="en-US" sz="1400" dirty="0"/>
          </a:p>
        </p:txBody>
      </p:sp>
      <p:sp>
        <p:nvSpPr>
          <p:cNvPr id="11" name="Shape 7"/>
          <p:cNvSpPr/>
          <p:nvPr/>
        </p:nvSpPr>
        <p:spPr>
          <a:xfrm>
            <a:off x="8432292" y="2148840"/>
            <a:ext cx="1394460" cy="731520"/>
          </a:xfrm>
          <a:prstGeom prst="rect">
            <a:avLst/>
          </a:prstGeom>
          <a:solidFill>
            <a:srgbClr val="00DCDC"/>
          </a:solidFill>
          <a:ln w="12700">
            <a:solidFill>
              <a:srgbClr val="00DCDC"/>
            </a:solidFill>
            <a:prstDash val="solid"/>
          </a:ln>
        </p:spPr>
      </p:sp>
      <p:sp>
        <p:nvSpPr>
          <p:cNvPr id="12" name="Text 8"/>
          <p:cNvSpPr txBox="1"/>
          <p:nvPr/>
        </p:nvSpPr>
        <p:spPr>
          <a:xfrm>
            <a:off x="843229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17:00 bis 20:00</a:t>
            </a:r>
            <a:endParaRPr lang="en-US" sz="1400" dirty="0"/>
          </a:p>
        </p:txBody>
      </p:sp>
      <p:sp>
        <p:nvSpPr>
          <p:cNvPr id="13" name="Text 9"/>
          <p:cNvSpPr txBox="1"/>
          <p:nvPr/>
        </p:nvSpPr>
        <p:spPr>
          <a:xfrm>
            <a:off x="530352" y="2953512"/>
            <a:ext cx="731520" cy="274320"/>
          </a:xfrm>
          <a:prstGeom prst="rect">
            <a:avLst/>
          </a:prstGeom>
          <a:noFill/>
          <a:ln/>
        </p:spPr>
        <p:txBody>
          <a:bodyPr wrap="square" lIns="0" tIns="0" rIns="0" bIns="0" rtlCol="0" anchor="t"/>
          <a:lstStyle/>
          <a:p>
            <a:pPr algn="l" indent="0" marL="0">
              <a:buNone/>
            </a:pPr>
            <a:r>
              <a:rPr lang="en-US" sz="1100" dirty="0">
                <a:solidFill>
                  <a:srgbClr val="707070"/>
                </a:solidFill>
                <a:latin typeface="Arial" pitchFamily="34" charset="0"/>
                <a:ea typeface="Arial" pitchFamily="34" charset="-122"/>
                <a:cs typeface="Arial" pitchFamily="34" charset="-120"/>
              </a:rPr>
              <a:t>0 Uhr</a:t>
            </a:r>
            <a:endParaRPr lang="en-US" sz="1100" dirty="0"/>
          </a:p>
        </p:txBody>
      </p:sp>
      <p:sp>
        <p:nvSpPr>
          <p:cNvPr id="14" name="Text 10"/>
          <p:cNvSpPr txBox="1"/>
          <p:nvPr/>
        </p:nvSpPr>
        <p:spPr>
          <a:xfrm>
            <a:off x="295351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6 Uhr</a:t>
            </a:r>
            <a:endParaRPr lang="en-US" sz="1100" dirty="0"/>
          </a:p>
        </p:txBody>
      </p:sp>
      <p:sp>
        <p:nvSpPr>
          <p:cNvPr id="15" name="Text 11"/>
          <p:cNvSpPr txBox="1"/>
          <p:nvPr/>
        </p:nvSpPr>
        <p:spPr>
          <a:xfrm>
            <a:off x="434797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9 Uhr</a:t>
            </a:r>
            <a:endParaRPr lang="en-US" sz="1100" dirty="0"/>
          </a:p>
        </p:txBody>
      </p:sp>
      <p:sp>
        <p:nvSpPr>
          <p:cNvPr id="16" name="Text 12"/>
          <p:cNvSpPr txBox="1"/>
          <p:nvPr/>
        </p:nvSpPr>
        <p:spPr>
          <a:xfrm>
            <a:off x="57424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12 Uhr</a:t>
            </a:r>
            <a:endParaRPr lang="en-US" sz="1100" dirty="0"/>
          </a:p>
        </p:txBody>
      </p:sp>
      <p:sp>
        <p:nvSpPr>
          <p:cNvPr id="17" name="Text 13"/>
          <p:cNvSpPr txBox="1"/>
          <p:nvPr/>
        </p:nvSpPr>
        <p:spPr>
          <a:xfrm>
            <a:off x="80665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17 Uhr</a:t>
            </a:r>
            <a:endParaRPr lang="en-US" sz="1100" dirty="0"/>
          </a:p>
        </p:txBody>
      </p:sp>
      <p:sp>
        <p:nvSpPr>
          <p:cNvPr id="18" name="Text 14"/>
          <p:cNvSpPr txBox="1"/>
          <p:nvPr/>
        </p:nvSpPr>
        <p:spPr>
          <a:xfrm>
            <a:off x="946099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20 Uhr</a:t>
            </a:r>
            <a:endParaRPr lang="en-US" sz="1100" dirty="0"/>
          </a:p>
        </p:txBody>
      </p:sp>
      <p:sp>
        <p:nvSpPr>
          <p:cNvPr id="19" name="Text 15"/>
          <p:cNvSpPr txBox="1"/>
          <p:nvPr/>
        </p:nvSpPr>
        <p:spPr>
          <a:xfrm>
            <a:off x="10954512" y="2953512"/>
            <a:ext cx="731520" cy="274320"/>
          </a:xfrm>
          <a:prstGeom prst="rect">
            <a:avLst/>
          </a:prstGeom>
          <a:noFill/>
          <a:ln/>
        </p:spPr>
        <p:txBody>
          <a:bodyPr wrap="square" lIns="0" tIns="0" rIns="0" bIns="0" rtlCol="0" anchor="t"/>
          <a:lstStyle/>
          <a:p>
            <a:pPr algn="r" indent="0" marL="0">
              <a:buNone/>
            </a:pPr>
            <a:r>
              <a:rPr lang="en-US" sz="1100" dirty="0">
                <a:solidFill>
                  <a:srgbClr val="707070"/>
                </a:solidFill>
                <a:latin typeface="Arial" pitchFamily="34" charset="0"/>
                <a:ea typeface="Arial" pitchFamily="34" charset="-122"/>
                <a:cs typeface="Arial" pitchFamily="34" charset="-120"/>
              </a:rPr>
              <a:t>24 Uhr</a:t>
            </a:r>
            <a:endParaRPr lang="en-US" sz="1100" dirty="0"/>
          </a:p>
        </p:txBody>
      </p:sp>
      <p:sp>
        <p:nvSpPr>
          <p:cNvPr id="20" name="Text 16"/>
          <p:cNvSpPr txBox="1"/>
          <p:nvPr/>
        </p:nvSpPr>
        <p:spPr>
          <a:xfrm>
            <a:off x="530352" y="1554480"/>
            <a:ext cx="1115568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Erlaubte Zeitfenster an Werktagen (Montag bis Freitag)</a:t>
            </a:r>
            <a:endParaRPr lang="en-US" sz="1600" dirty="0"/>
          </a:p>
        </p:txBody>
      </p:sp>
      <p:sp>
        <p:nvSpPr>
          <p:cNvPr id="21" name="Shape 17"/>
          <p:cNvSpPr/>
          <p:nvPr/>
        </p:nvSpPr>
        <p:spPr>
          <a:xfrm>
            <a:off x="530352" y="3749040"/>
            <a:ext cx="2606040" cy="2331720"/>
          </a:xfrm>
          <a:prstGeom prst="rect">
            <a:avLst/>
          </a:prstGeom>
          <a:solidFill>
            <a:srgbClr val="F5F5F5"/>
          </a:solidFill>
          <a:ln w="12700">
            <a:solidFill>
              <a:srgbClr val="F5F5F5"/>
            </a:solidFill>
            <a:prstDash val="solid"/>
          </a:ln>
        </p:spPr>
      </p:sp>
      <p:pic>
        <p:nvPicPr>
          <p:cNvPr id="22" name="Image 1" descr="/tmp/deck/ic/clock_m.png">    </p:cNvPr>
          <p:cNvPicPr>
            <a:picLocks noChangeAspect="1"/>
          </p:cNvPicPr>
          <p:nvPr/>
        </p:nvPicPr>
        <p:blipFill>
          <a:blip r:embed="rId2"/>
          <a:stretch>
            <a:fillRect/>
          </a:stretch>
        </p:blipFill>
        <p:spPr>
          <a:xfrm>
            <a:off x="758952" y="3931920"/>
            <a:ext cx="594360" cy="594360"/>
          </a:xfrm>
          <a:prstGeom prst="rect">
            <a:avLst/>
          </a:prstGeom>
        </p:spPr>
      </p:pic>
      <p:sp>
        <p:nvSpPr>
          <p:cNvPr id="23" name="Text 18"/>
          <p:cNvSpPr txBox="1"/>
          <p:nvPr/>
        </p:nvSpPr>
        <p:spPr>
          <a:xfrm>
            <a:off x="75895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15 bis 120 Minuten</a:t>
            </a:r>
            <a:endParaRPr lang="en-US" sz="1600" dirty="0"/>
          </a:p>
        </p:txBody>
      </p:sp>
      <p:sp>
        <p:nvSpPr>
          <p:cNvPr id="24" name="Text 19"/>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Dauer in Schritten von 15 Minuten. Der Termin muss im Zeitfenster enden.</a:t>
            </a:r>
            <a:endParaRPr lang="en-US" sz="1200" dirty="0"/>
          </a:p>
        </p:txBody>
      </p:sp>
      <p:sp>
        <p:nvSpPr>
          <p:cNvPr id="25" name="Shape 20"/>
          <p:cNvSpPr/>
          <p:nvPr/>
        </p:nvSpPr>
        <p:spPr>
          <a:xfrm>
            <a:off x="3364992" y="3749040"/>
            <a:ext cx="2606040" cy="2331720"/>
          </a:xfrm>
          <a:prstGeom prst="rect">
            <a:avLst/>
          </a:prstGeom>
          <a:solidFill>
            <a:srgbClr val="F5F5F5"/>
          </a:solidFill>
          <a:ln w="12700">
            <a:solidFill>
              <a:srgbClr val="F5F5F5"/>
            </a:solidFill>
            <a:prstDash val="solid"/>
          </a:ln>
        </p:spPr>
      </p:sp>
      <p:pic>
        <p:nvPicPr>
          <p:cNvPr id="26" name="Image 2" descr="/tmp/deck/ic/people_m.png">    </p:cNvPr>
          <p:cNvPicPr>
            <a:picLocks noChangeAspect="1"/>
          </p:cNvPicPr>
          <p:nvPr/>
        </p:nvPicPr>
        <p:blipFill>
          <a:blip r:embed="rId3"/>
          <a:stretch>
            <a:fillRect/>
          </a:stretch>
        </p:blipFill>
        <p:spPr>
          <a:xfrm>
            <a:off x="3593592" y="3931920"/>
            <a:ext cx="594360" cy="594360"/>
          </a:xfrm>
          <a:prstGeom prst="rect">
            <a:avLst/>
          </a:prstGeom>
        </p:spPr>
      </p:pic>
      <p:sp>
        <p:nvSpPr>
          <p:cNvPr id="27" name="Text 21"/>
          <p:cNvSpPr txBox="1"/>
          <p:nvPr/>
        </p:nvSpPr>
        <p:spPr>
          <a:xfrm>
            <a:off x="359359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Bis zu 50 Personen</a:t>
            </a:r>
            <a:endParaRPr lang="en-US" sz="1600" dirty="0"/>
          </a:p>
        </p:txBody>
      </p:sp>
      <p:sp>
        <p:nvSpPr>
          <p:cNvPr id="28" name="Text 22"/>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Die Platzzahl legt die anbietende Person fest. Ausgebuchte Termine sind gesperrt.</a:t>
            </a:r>
            <a:endParaRPr lang="en-US" sz="1200" dirty="0"/>
          </a:p>
        </p:txBody>
      </p:sp>
      <p:sp>
        <p:nvSpPr>
          <p:cNvPr id="29" name="Shape 23"/>
          <p:cNvSpPr/>
          <p:nvPr/>
        </p:nvSpPr>
        <p:spPr>
          <a:xfrm>
            <a:off x="6199632" y="3749040"/>
            <a:ext cx="2606040" cy="2331720"/>
          </a:xfrm>
          <a:prstGeom prst="rect">
            <a:avLst/>
          </a:prstGeom>
          <a:solidFill>
            <a:srgbClr val="F5F5F5"/>
          </a:solidFill>
          <a:ln w="12700">
            <a:solidFill>
              <a:srgbClr val="F5F5F5"/>
            </a:solidFill>
            <a:prstDash val="solid"/>
          </a:ln>
        </p:spPr>
      </p:sp>
      <p:pic>
        <p:nvPicPr>
          <p:cNvPr id="30" name="Image 3" descr="/tmp/deck/ic/video_m.png">    </p:cNvPr>
          <p:cNvPicPr>
            <a:picLocks noChangeAspect="1"/>
          </p:cNvPicPr>
          <p:nvPr/>
        </p:nvPicPr>
        <p:blipFill>
          <a:blip r:embed="rId4"/>
          <a:stretch>
            <a:fillRect/>
          </a:stretch>
        </p:blipFill>
        <p:spPr>
          <a:xfrm>
            <a:off x="6428232" y="3931920"/>
            <a:ext cx="594360" cy="594360"/>
          </a:xfrm>
          <a:prstGeom prst="rect">
            <a:avLst/>
          </a:prstGeom>
        </p:spPr>
      </p:pic>
      <p:sp>
        <p:nvSpPr>
          <p:cNvPr id="31" name="Text 24"/>
          <p:cNvSpPr txBox="1"/>
          <p:nvPr/>
        </p:nvSpPr>
        <p:spPr>
          <a:xfrm>
            <a:off x="642823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Online in Teams</a:t>
            </a:r>
            <a:endParaRPr lang="en-US" sz="1600" dirty="0"/>
          </a:p>
        </p:txBody>
      </p:sp>
      <p:sp>
        <p:nvSpPr>
          <p:cNvPr id="32" name="Text 25"/>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Alle Termine finden in Microsoft Teams statt.</a:t>
            </a:r>
            <a:endParaRPr lang="en-US" sz="1200" dirty="0"/>
          </a:p>
        </p:txBody>
      </p:sp>
      <p:sp>
        <p:nvSpPr>
          <p:cNvPr id="33" name="Shape 26"/>
          <p:cNvSpPr/>
          <p:nvPr/>
        </p:nvSpPr>
        <p:spPr>
          <a:xfrm>
            <a:off x="9034272" y="3749040"/>
            <a:ext cx="2606040" cy="2331720"/>
          </a:xfrm>
          <a:prstGeom prst="rect">
            <a:avLst/>
          </a:prstGeom>
          <a:solidFill>
            <a:srgbClr val="F5F5F5"/>
          </a:solidFill>
          <a:ln w="12700">
            <a:solidFill>
              <a:srgbClr val="F5F5F5"/>
            </a:solidFill>
            <a:prstDash val="solid"/>
          </a:ln>
        </p:spPr>
      </p:sp>
      <p:pic>
        <p:nvPicPr>
          <p:cNvPr id="34" name="Image 4" descr="/tmp/deck/ic/shield_m.png">    </p:cNvPr>
          <p:cNvPicPr>
            <a:picLocks noChangeAspect="1"/>
          </p:cNvPicPr>
          <p:nvPr/>
        </p:nvPicPr>
        <p:blipFill>
          <a:blip r:embed="rId5"/>
          <a:stretch>
            <a:fillRect/>
          </a:stretch>
        </p:blipFill>
        <p:spPr>
          <a:xfrm>
            <a:off x="9262872" y="3931920"/>
            <a:ext cx="594360" cy="594360"/>
          </a:xfrm>
          <a:prstGeom prst="rect">
            <a:avLst/>
          </a:prstGeom>
        </p:spPr>
      </p:pic>
      <p:sp>
        <p:nvSpPr>
          <p:cNvPr id="35" name="Text 27"/>
          <p:cNvSpPr txBox="1"/>
          <p:nvPr/>
        </p:nvSpPr>
        <p:spPr>
          <a:xfrm>
            <a:off x="926287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Respektvoll und legal</a:t>
            </a:r>
            <a:endParaRPr lang="en-US" sz="1600" dirty="0"/>
          </a:p>
        </p:txBody>
      </p:sp>
      <p:sp>
        <p:nvSpPr>
          <p:cNvPr id="36" name="Text 28"/>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Inhalte müssen legal, respektvoll und jugendfrei sein.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Arbeitszeit: dienstlich ja, privat nein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Wer an dienstlichen Sessions teilnimmt, stempelt sich selbst ein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1965960"/>
          </a:xfrm>
          <a:prstGeom prst="rect">
            <a:avLst/>
          </a:prstGeom>
          <a:solidFill>
            <a:srgbClr val="001957"/>
          </a:solidFill>
          <a:ln w="12700">
            <a:solidFill>
              <a:srgbClr val="001957"/>
            </a:solidFill>
            <a:prstDash val="solid"/>
          </a:ln>
        </p:spPr>
      </p:sp>
      <p:sp>
        <p:nvSpPr>
          <p:cNvPr id="9" name="Text 5"/>
          <p:cNvSpPr txBox="1"/>
          <p:nvPr/>
        </p:nvSpPr>
        <p:spPr>
          <a:xfrm>
            <a:off x="822960" y="1645920"/>
            <a:ext cx="49377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Dienstliche Sessions</a:t>
            </a:r>
            <a:endParaRPr lang="en-US" sz="2000" dirty="0"/>
          </a:p>
        </p:txBody>
      </p:sp>
      <p:sp>
        <p:nvSpPr>
          <p:cNvPr id="10" name="Text 6"/>
          <p:cNvSpPr txBox="1"/>
          <p:nvPr/>
        </p:nvSpPr>
        <p:spPr>
          <a:xfrm>
            <a:off x="822960" y="2103120"/>
            <a:ext cx="4937760" cy="12801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Teilnahme kann als Arbeitszeit angerechnet werden. Das geschieht nicht im Nachgang, sondern über die eigene Zeiterfassung.</a:t>
            </a:r>
            <a:endParaRPr lang="en-US" sz="1600" dirty="0"/>
          </a:p>
        </p:txBody>
      </p:sp>
      <p:sp>
        <p:nvSpPr>
          <p:cNvPr id="11" name="Shape 7"/>
          <p:cNvSpPr/>
          <p:nvPr/>
        </p:nvSpPr>
        <p:spPr>
          <a:xfrm>
            <a:off x="6199632" y="1508760"/>
            <a:ext cx="5486400" cy="1965960"/>
          </a:xfrm>
          <a:prstGeom prst="rect">
            <a:avLst/>
          </a:prstGeom>
          <a:solidFill>
            <a:srgbClr val="F5F5F5"/>
          </a:solidFill>
          <a:ln w="12700">
            <a:solidFill>
              <a:srgbClr val="F5F5F5"/>
            </a:solidFill>
            <a:prstDash val="solid"/>
          </a:ln>
        </p:spPr>
      </p:sp>
      <p:sp>
        <p:nvSpPr>
          <p:cNvPr id="12" name="Text 8"/>
          <p:cNvSpPr txBox="1"/>
          <p:nvPr/>
        </p:nvSpPr>
        <p:spPr>
          <a:xfrm>
            <a:off x="6492240" y="1645920"/>
            <a:ext cx="49377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Private Sessions</a:t>
            </a:r>
            <a:endParaRPr lang="en-US" sz="2000" dirty="0"/>
          </a:p>
        </p:txBody>
      </p:sp>
      <p:sp>
        <p:nvSpPr>
          <p:cNvPr id="13" name="Text 9"/>
          <p:cNvSpPr txBox="1"/>
          <p:nvPr/>
        </p:nvSpPr>
        <p:spPr>
          <a:xfrm>
            <a:off x="6492240" y="2103120"/>
            <a:ext cx="4937760" cy="128016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Teilnahme zählt nicht als Arbeitszeit. Private Sessions finden in der Freizeit statt und bleiben freiwillig.</a:t>
            </a:r>
            <a:endParaRPr lang="en-US" sz="1500" dirty="0"/>
          </a:p>
        </p:txBody>
      </p:sp>
      <p:sp>
        <p:nvSpPr>
          <p:cNvPr id="14" name="Text 10"/>
          <p:cNvSpPr txBox="1"/>
          <p:nvPr/>
        </p:nvSpPr>
        <p:spPr>
          <a:xfrm>
            <a:off x="530352" y="3703320"/>
            <a:ext cx="11155680" cy="365760"/>
          </a:xfrm>
          <a:prstGeom prst="rect">
            <a:avLst/>
          </a:prstGeom>
          <a:noFill/>
          <a:ln/>
        </p:spPr>
        <p:txBody>
          <a:bodyPr wrap="square" lIns="0" tIns="0" rIns="0" bIns="0" rtlCol="0" anchor="t"/>
          <a:lstStyle/>
          <a:p>
            <a:pPr indent="0" marL="0">
              <a:buNone/>
            </a:pPr>
            <a:r>
              <a:rPr lang="en-US" sz="1800" b="1" dirty="0">
                <a:solidFill>
                  <a:srgbClr val="EB6504"/>
                </a:solidFill>
                <a:latin typeface="Arial" pitchFamily="34" charset="0"/>
                <a:ea typeface="Arial" pitchFamily="34" charset="-122"/>
                <a:cs typeface="Arial" pitchFamily="34" charset="-120"/>
              </a:rPr>
              <a:t>So läuft es bei dienstlichen Sessions</a:t>
            </a:r>
            <a:endParaRPr lang="en-US" sz="1800" dirty="0"/>
          </a:p>
        </p:txBody>
      </p:sp>
      <p:sp>
        <p:nvSpPr>
          <p:cNvPr id="15" name="Shape 11"/>
          <p:cNvSpPr/>
          <p:nvPr/>
        </p:nvSpPr>
        <p:spPr>
          <a:xfrm>
            <a:off x="530352" y="4160520"/>
            <a:ext cx="2606040" cy="1920240"/>
          </a:xfrm>
          <a:prstGeom prst="rect">
            <a:avLst/>
          </a:prstGeom>
          <a:solidFill>
            <a:srgbClr val="F5F5F5"/>
          </a:solidFill>
          <a:ln w="12700">
            <a:solidFill>
              <a:srgbClr val="F5F5F5"/>
            </a:solidFill>
            <a:prstDash val="solid"/>
          </a:ln>
        </p:spPr>
      </p:sp>
      <p:pic>
        <p:nvPicPr>
          <p:cNvPr id="16" name="Image 1" descr="/tmp/deck/ic/search_m.png">    </p:cNvPr>
          <p:cNvPicPr>
            <a:picLocks noChangeAspect="1"/>
          </p:cNvPicPr>
          <p:nvPr/>
        </p:nvPicPr>
        <p:blipFill>
          <a:blip r:embed="rId2"/>
          <a:stretch>
            <a:fillRect/>
          </a:stretch>
        </p:blipFill>
        <p:spPr>
          <a:xfrm>
            <a:off x="758952" y="4315968"/>
            <a:ext cx="548640" cy="548640"/>
          </a:xfrm>
          <a:prstGeom prst="rect">
            <a:avLst/>
          </a:prstGeom>
        </p:spPr>
      </p:pic>
      <p:sp>
        <p:nvSpPr>
          <p:cNvPr id="17" name="Text 12"/>
          <p:cNvSpPr txBox="1"/>
          <p:nvPr/>
        </p:nvSpPr>
        <p:spPr>
          <a:xfrm>
            <a:off x="144475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Session wählen</a:t>
            </a:r>
            <a:endParaRPr lang="en-US" sz="1700" dirty="0"/>
          </a:p>
        </p:txBody>
      </p:sp>
      <p:sp>
        <p:nvSpPr>
          <p:cNvPr id="18" name="Text 13"/>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Im Katalog eine dienstliche Session mit dem Chip „Dienstlich“ wählen.</a:t>
            </a:r>
            <a:endParaRPr lang="en-US" sz="1300" dirty="0"/>
          </a:p>
        </p:txBody>
      </p:sp>
      <p:pic>
        <p:nvPicPr>
          <p:cNvPr id="19" name="Image 2" descr="/tmp/deck/ic/arrow_p.png">    </p:cNvPr>
          <p:cNvPicPr>
            <a:picLocks noChangeAspect="1"/>
          </p:cNvPicPr>
          <p:nvPr/>
        </p:nvPicPr>
        <p:blipFill>
          <a:blip r:embed="rId3"/>
          <a:stretch>
            <a:fillRect/>
          </a:stretch>
        </p:blipFill>
        <p:spPr>
          <a:xfrm>
            <a:off x="3163824" y="5029200"/>
            <a:ext cx="201168" cy="201168"/>
          </a:xfrm>
          <a:prstGeom prst="rect">
            <a:avLst/>
          </a:prstGeom>
        </p:spPr>
      </p:pic>
      <p:sp>
        <p:nvSpPr>
          <p:cNvPr id="20" name="Shape 14"/>
          <p:cNvSpPr/>
          <p:nvPr/>
        </p:nvSpPr>
        <p:spPr>
          <a:xfrm>
            <a:off x="3364992" y="4160520"/>
            <a:ext cx="2606040" cy="1920240"/>
          </a:xfrm>
          <a:prstGeom prst="rect">
            <a:avLst/>
          </a:prstGeom>
          <a:solidFill>
            <a:srgbClr val="F5F5F5"/>
          </a:solidFill>
          <a:ln w="12700">
            <a:solidFill>
              <a:srgbClr val="F5F5F5"/>
            </a:solidFill>
            <a:prstDash val="solid"/>
          </a:ln>
        </p:spPr>
      </p:sp>
      <p:pic>
        <p:nvPicPr>
          <p:cNvPr id="21" name="Image 3" descr="/tmp/deck/ic/clock_m.png">    </p:cNvPr>
          <p:cNvPicPr>
            <a:picLocks noChangeAspect="1"/>
          </p:cNvPicPr>
          <p:nvPr/>
        </p:nvPicPr>
        <p:blipFill>
          <a:blip r:embed="rId4"/>
          <a:stretch>
            <a:fillRect/>
          </a:stretch>
        </p:blipFill>
        <p:spPr>
          <a:xfrm>
            <a:off x="3593592" y="4315968"/>
            <a:ext cx="548640" cy="548640"/>
          </a:xfrm>
          <a:prstGeom prst="rect">
            <a:avLst/>
          </a:prstGeom>
        </p:spPr>
      </p:pic>
      <p:sp>
        <p:nvSpPr>
          <p:cNvPr id="22" name="Text 15"/>
          <p:cNvSpPr txBox="1"/>
          <p:nvPr/>
        </p:nvSpPr>
        <p:spPr>
          <a:xfrm>
            <a:off x="427939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Einstechen</a:t>
            </a:r>
            <a:endParaRPr lang="en-US" sz="1700" dirty="0"/>
          </a:p>
        </p:txBody>
      </p:sp>
      <p:sp>
        <p:nvSpPr>
          <p:cNvPr id="23" name="Text 16"/>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Vor Beginn die Zeiterfassung selbst starten.</a:t>
            </a:r>
            <a:endParaRPr lang="en-US" sz="1300" dirty="0"/>
          </a:p>
        </p:txBody>
      </p:sp>
      <p:pic>
        <p:nvPicPr>
          <p:cNvPr id="24" name="Image 4" descr="/tmp/deck/ic/arrow_p.png">    </p:cNvPr>
          <p:cNvPicPr>
            <a:picLocks noChangeAspect="1"/>
          </p:cNvPicPr>
          <p:nvPr/>
        </p:nvPicPr>
        <p:blipFill>
          <a:blip r:embed="rId5"/>
          <a:stretch>
            <a:fillRect/>
          </a:stretch>
        </p:blipFill>
        <p:spPr>
          <a:xfrm>
            <a:off x="5998464" y="5029200"/>
            <a:ext cx="201168" cy="201168"/>
          </a:xfrm>
          <a:prstGeom prst="rect">
            <a:avLst/>
          </a:prstGeom>
        </p:spPr>
      </p:pic>
      <p:sp>
        <p:nvSpPr>
          <p:cNvPr id="25" name="Shape 17"/>
          <p:cNvSpPr/>
          <p:nvPr/>
        </p:nvSpPr>
        <p:spPr>
          <a:xfrm>
            <a:off x="6199632" y="4160520"/>
            <a:ext cx="2606040" cy="1920240"/>
          </a:xfrm>
          <a:prstGeom prst="rect">
            <a:avLst/>
          </a:prstGeom>
          <a:solidFill>
            <a:srgbClr val="F5F5F5"/>
          </a:solidFill>
          <a:ln w="12700">
            <a:solidFill>
              <a:srgbClr val="F5F5F5"/>
            </a:solidFill>
            <a:prstDash val="solid"/>
          </a:ln>
        </p:spPr>
      </p:sp>
      <p:pic>
        <p:nvPicPr>
          <p:cNvPr id="26" name="Image 5" descr="/tmp/deck/ic/video_m.png">    </p:cNvPr>
          <p:cNvPicPr>
            <a:picLocks noChangeAspect="1"/>
          </p:cNvPicPr>
          <p:nvPr/>
        </p:nvPicPr>
        <p:blipFill>
          <a:blip r:embed="rId6"/>
          <a:stretch>
            <a:fillRect/>
          </a:stretch>
        </p:blipFill>
        <p:spPr>
          <a:xfrm>
            <a:off x="6428232" y="4315968"/>
            <a:ext cx="548640" cy="548640"/>
          </a:xfrm>
          <a:prstGeom prst="rect">
            <a:avLst/>
          </a:prstGeom>
        </p:spPr>
      </p:pic>
      <p:sp>
        <p:nvSpPr>
          <p:cNvPr id="27" name="Text 18"/>
          <p:cNvSpPr txBox="1"/>
          <p:nvPr/>
        </p:nvSpPr>
        <p:spPr>
          <a:xfrm>
            <a:off x="711403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Teilnehmen</a:t>
            </a:r>
            <a:endParaRPr lang="en-US" sz="1700" dirty="0"/>
          </a:p>
        </p:txBody>
      </p:sp>
      <p:sp>
        <p:nvSpPr>
          <p:cNvPr id="28" name="Text 19"/>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Über den Teams-Link beitreten und mitlernen.</a:t>
            </a:r>
            <a:endParaRPr lang="en-US" sz="1300" dirty="0"/>
          </a:p>
        </p:txBody>
      </p:sp>
      <p:pic>
        <p:nvPicPr>
          <p:cNvPr id="29" name="Image 6" descr="/tmp/deck/ic/arrow_p.png">    </p:cNvPr>
          <p:cNvPicPr>
            <a:picLocks noChangeAspect="1"/>
          </p:cNvPicPr>
          <p:nvPr/>
        </p:nvPicPr>
        <p:blipFill>
          <a:blip r:embed="rId7"/>
          <a:stretch>
            <a:fillRect/>
          </a:stretch>
        </p:blipFill>
        <p:spPr>
          <a:xfrm>
            <a:off x="8833104" y="5029200"/>
            <a:ext cx="201168" cy="201168"/>
          </a:xfrm>
          <a:prstGeom prst="rect">
            <a:avLst/>
          </a:prstGeom>
        </p:spPr>
      </p:pic>
      <p:sp>
        <p:nvSpPr>
          <p:cNvPr id="30" name="Shape 20"/>
          <p:cNvSpPr/>
          <p:nvPr/>
        </p:nvSpPr>
        <p:spPr>
          <a:xfrm>
            <a:off x="9034272" y="4160520"/>
            <a:ext cx="2606040" cy="1920240"/>
          </a:xfrm>
          <a:prstGeom prst="rect">
            <a:avLst/>
          </a:prstGeom>
          <a:solidFill>
            <a:srgbClr val="F5F5F5"/>
          </a:solidFill>
          <a:ln w="12700">
            <a:solidFill>
              <a:srgbClr val="F5F5F5"/>
            </a:solidFill>
            <a:prstDash val="solid"/>
          </a:ln>
        </p:spPr>
      </p:sp>
      <p:pic>
        <p:nvPicPr>
          <p:cNvPr id="31" name="Image 7" descr="/tmp/deck/ic/check_m.png">    </p:cNvPr>
          <p:cNvPicPr>
            <a:picLocks noChangeAspect="1"/>
          </p:cNvPicPr>
          <p:nvPr/>
        </p:nvPicPr>
        <p:blipFill>
          <a:blip r:embed="rId8"/>
          <a:stretch>
            <a:fillRect/>
          </a:stretch>
        </p:blipFill>
        <p:spPr>
          <a:xfrm>
            <a:off x="9262872" y="4315968"/>
            <a:ext cx="548640" cy="548640"/>
          </a:xfrm>
          <a:prstGeom prst="rect">
            <a:avLst/>
          </a:prstGeom>
        </p:spPr>
      </p:pic>
      <p:sp>
        <p:nvSpPr>
          <p:cNvPr id="32" name="Text 21"/>
          <p:cNvSpPr txBox="1"/>
          <p:nvPr/>
        </p:nvSpPr>
        <p:spPr>
          <a:xfrm>
            <a:off x="994867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Ausstechen</a:t>
            </a:r>
            <a:endParaRPr lang="en-US" sz="1700" dirty="0"/>
          </a:p>
        </p:txBody>
      </p:sp>
      <p:sp>
        <p:nvSpPr>
          <p:cNvPr id="33" name="Text 22"/>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Nach dem Ende die Zeiterfassung selbst beenden.</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Zielgruppe und Rollen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im Außendienst, offen für alle, betreut von Training &amp; Entwicklung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Teilnehmende</a:t>
            </a:r>
            <a:endParaRPr lang="en-US" sz="2200" dirty="0"/>
          </a:p>
        </p:txBody>
      </p:sp>
      <p:sp>
        <p:nvSpPr>
          <p:cNvPr id="11" name="Text 6"/>
          <p:cNvSpPr txBox="1"/>
          <p:nvPr/>
        </p:nvSpPr>
        <p:spPr>
          <a:xfrm>
            <a:off x="80467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lernen möchten</a:t>
            </a:r>
            <a:endParaRPr lang="en-US" sz="1400" dirty="0"/>
          </a:p>
        </p:txBody>
      </p:sp>
      <p:sp>
        <p:nvSpPr>
          <p:cNvPr id="12" name="Text 7"/>
          <p:cNvSpPr txBox="1"/>
          <p:nvPr/>
        </p:nvSpPr>
        <p:spPr>
          <a:xfrm>
            <a:off x="80467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Außendienst als Zielgruppe der Kommunikation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Innendienst ist willkommen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Anmeldung mit Name und E-Mail</a:t>
            </a:r>
            <a:endParaRPr lang="en-US" sz="1400" dirty="0"/>
          </a:p>
        </p:txBody>
      </p:sp>
      <p:sp>
        <p:nvSpPr>
          <p:cNvPr id="13" name="Shape 8"/>
          <p:cNvSpPr/>
          <p:nvPr/>
        </p:nvSpPr>
        <p:spPr>
          <a:xfrm>
            <a:off x="4325112" y="1508760"/>
            <a:ext cx="3566160" cy="4572000"/>
          </a:xfrm>
          <a:prstGeom prst="rect">
            <a:avLst/>
          </a:prstGeom>
          <a:solidFill>
            <a:srgbClr val="F5F5F5"/>
          </a:solidFill>
          <a:ln w="12700">
            <a:solidFill>
              <a:srgbClr val="F5F5F5"/>
            </a:solidFill>
            <a:prstDash val="solid"/>
          </a:ln>
        </p:spPr>
      </p:sp>
      <p:pic>
        <p:nvPicPr>
          <p:cNvPr id="14" name="Image 2" descr="/tmp/deck/ic/pencil_m.png">    </p:cNvPr>
          <p:cNvPicPr>
            <a:picLocks noChangeAspect="1"/>
          </p:cNvPicPr>
          <p:nvPr/>
        </p:nvPicPr>
        <p:blipFill>
          <a:blip r:embed="rId3"/>
          <a:stretch>
            <a:fillRect/>
          </a:stretch>
        </p:blipFill>
        <p:spPr>
          <a:xfrm>
            <a:off x="4599432" y="1783080"/>
            <a:ext cx="731520" cy="731520"/>
          </a:xfrm>
          <a:prstGeom prst="rect">
            <a:avLst/>
          </a:prstGeom>
        </p:spPr>
      </p:pic>
      <p:sp>
        <p:nvSpPr>
          <p:cNvPr id="15" name="Text 9"/>
          <p:cNvSpPr txBox="1"/>
          <p:nvPr/>
        </p:nvSpPr>
        <p:spPr>
          <a:xfrm>
            <a:off x="459943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Anbietende</a:t>
            </a:r>
            <a:endParaRPr lang="en-US" sz="2200" dirty="0"/>
          </a:p>
        </p:txBody>
      </p:sp>
      <p:sp>
        <p:nvSpPr>
          <p:cNvPr id="16" name="Text 10"/>
          <p:cNvSpPr txBox="1"/>
          <p:nvPr/>
        </p:nvSpPr>
        <p:spPr>
          <a:xfrm>
            <a:off x="459943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etwas teilen möchten</a:t>
            </a:r>
            <a:endParaRPr lang="en-US" sz="1400" dirty="0"/>
          </a:p>
        </p:txBody>
      </p:sp>
      <p:sp>
        <p:nvSpPr>
          <p:cNvPr id="17" name="Text 11"/>
          <p:cNvSpPr txBox="1"/>
          <p:nvPr/>
        </p:nvSpPr>
        <p:spPr>
          <a:xfrm>
            <a:off x="459943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Fachliche, vertriebliche oder private Themen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 Termine anlegen und bearbeiten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Teilnehmerliste mit Veranstaltungscode</a:t>
            </a:r>
            <a:endParaRPr lang="en-US" sz="1400" dirty="0"/>
          </a:p>
        </p:txBody>
      </p:sp>
      <p:sp>
        <p:nvSpPr>
          <p:cNvPr id="18" name="Shape 12"/>
          <p:cNvSpPr/>
          <p:nvPr/>
        </p:nvSpPr>
        <p:spPr>
          <a:xfrm>
            <a:off x="8119872" y="1508760"/>
            <a:ext cx="3566160" cy="4572000"/>
          </a:xfrm>
          <a:prstGeom prst="rect">
            <a:avLst/>
          </a:prstGeom>
          <a:solidFill>
            <a:srgbClr val="001957"/>
          </a:solidFill>
          <a:ln w="12700">
            <a:solidFill>
              <a:srgbClr val="001957"/>
            </a:solidFill>
            <a:prstDash val="solid"/>
          </a:ln>
        </p:spPr>
      </p:sp>
      <p:pic>
        <p:nvPicPr>
          <p:cNvPr id="19" name="Image 3" descr="/tmp/deck/ic/shield_m.png">    </p:cNvPr>
          <p:cNvPicPr>
            <a:picLocks noChangeAspect="1"/>
          </p:cNvPicPr>
          <p:nvPr/>
        </p:nvPicPr>
        <p:blipFill>
          <a:blip r:embed="rId4"/>
          <a:stretch>
            <a:fillRect/>
          </a:stretch>
        </p:blipFill>
        <p:spPr>
          <a:xfrm>
            <a:off x="8394192" y="1783080"/>
            <a:ext cx="731520" cy="731520"/>
          </a:xfrm>
          <a:prstGeom prst="rect">
            <a:avLst/>
          </a:prstGeom>
        </p:spPr>
      </p:pic>
      <p:sp>
        <p:nvSpPr>
          <p:cNvPr id="20" name="Text 13"/>
          <p:cNvSpPr txBox="1"/>
          <p:nvPr/>
        </p:nvSpPr>
        <p:spPr>
          <a:xfrm>
            <a:off x="8394192" y="269748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Administration</a:t>
            </a:r>
            <a:endParaRPr lang="en-US" sz="2200" dirty="0"/>
          </a:p>
        </p:txBody>
      </p:sp>
      <p:sp>
        <p:nvSpPr>
          <p:cNvPr id="21" name="Text 14"/>
          <p:cNvSpPr txBox="1"/>
          <p:nvPr/>
        </p:nvSpPr>
        <p:spPr>
          <a:xfrm>
            <a:off x="8394192" y="3154680"/>
            <a:ext cx="3017520" cy="64008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sp>
        <p:nvSpPr>
          <p:cNvPr id="22" name="Text 15"/>
          <p:cNvSpPr txBox="1"/>
          <p:nvPr/>
        </p:nvSpPr>
        <p:spPr>
          <a:xfrm>
            <a:off x="839419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Themen, Arten und Texte pflegen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Veranstaltungen und Anmeldungen verwalten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Statistik und Berichte auswerten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Einziger Zugriff auf personenbezogene Daten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Nutzen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Wissen weitergeben, Menschen verbinden, Bindung stärken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den Außendienst</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aus erster Hand von Kolleginnen und Kollegen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Kurze Termine, die in den Alltag passen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Neue Kontakte über Regionen hinweg</a:t>
            </a:r>
            <a:endParaRPr lang="en-US" sz="1500" dirty="0"/>
          </a:p>
        </p:txBody>
      </p:sp>
      <p:sp>
        <p:nvSpPr>
          <p:cNvPr id="12" name="Shape 7"/>
          <p:cNvSpPr/>
          <p:nvPr/>
        </p:nvSpPr>
        <p:spPr>
          <a:xfrm>
            <a:off x="4325112" y="1508760"/>
            <a:ext cx="3566160" cy="4572000"/>
          </a:xfrm>
          <a:prstGeom prst="rect">
            <a:avLst/>
          </a:prstGeom>
          <a:solidFill>
            <a:srgbClr val="F5F5F5"/>
          </a:solidFill>
          <a:ln w="12700">
            <a:solidFill>
              <a:srgbClr val="F5F5F5"/>
            </a:solidFill>
            <a:prstDash val="solid"/>
          </a:ln>
        </p:spPr>
      </p:sp>
      <p:pic>
        <p:nvPicPr>
          <p:cNvPr id="13" name="Image 2" descr="/tmp/deck/ic/building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Führungskräfte</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Ein einfaches Angebot für das eigene Team</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Eigene Fachthemen sichtbar machen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Vorbild sein und Lernzeit ermöglichen</a:t>
            </a:r>
            <a:endParaRPr lang="en-US" sz="15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heart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die R+V</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bleibt im Haus und wächst weiter</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Verbundenheit zum Arbeitgeber wächst</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Lernen als Teil der Kultur, mit geringem Aufwand</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Wie wir den Erfolg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eigener Statistikbereich zeigt Zahlen, keine Personen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dm-statistik.jpg">    </p:cNvPr>
          <p:cNvPicPr>
            <a:picLocks noChangeAspect="1"/>
          </p:cNvPicPr>
          <p:nvPr/>
        </p:nvPicPr>
        <p:blipFill>
          <a:blip r:embed="rId2"/>
          <a:stretch>
            <a:fillRect/>
          </a:stretch>
        </p:blipFill>
        <p:spPr>
          <a:xfrm>
            <a:off x="530352" y="1463040"/>
            <a:ext cx="6903720" cy="4530566"/>
          </a:xfrm>
          <a:prstGeom prst="rect">
            <a:avLst/>
          </a:prstGeom>
        </p:spPr>
      </p:pic>
      <p:sp>
        <p:nvSpPr>
          <p:cNvPr id="9" name="Text 4"/>
          <p:cNvSpPr txBox="1"/>
          <p:nvPr/>
        </p:nvSpPr>
        <p:spPr>
          <a:xfrm>
            <a:off x="7772400" y="1508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Angebot</a:t>
            </a:r>
            <a:endParaRPr lang="en-US" sz="1800" dirty="0"/>
          </a:p>
        </p:txBody>
      </p:sp>
      <p:sp>
        <p:nvSpPr>
          <p:cNvPr id="10" name="Text 5"/>
          <p:cNvSpPr txBox="1"/>
          <p:nvPr/>
        </p:nvSpPr>
        <p:spPr>
          <a:xfrm>
            <a:off x="7772400" y="1892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pro Monat, Themen, Arten, Anbietende</a:t>
            </a:r>
            <a:endParaRPr lang="en-US" sz="1400" dirty="0"/>
          </a:p>
        </p:txBody>
      </p:sp>
      <p:sp>
        <p:nvSpPr>
          <p:cNvPr id="11" name="Text 6"/>
          <p:cNvSpPr txBox="1"/>
          <p:nvPr/>
        </p:nvSpPr>
        <p:spPr>
          <a:xfrm>
            <a:off x="7772400" y="2651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Nachfrage</a:t>
            </a:r>
            <a:endParaRPr lang="en-US" sz="1800" dirty="0"/>
          </a:p>
        </p:txBody>
      </p:sp>
      <p:sp>
        <p:nvSpPr>
          <p:cNvPr id="12" name="Text 7"/>
          <p:cNvSpPr txBox="1"/>
          <p:nvPr/>
        </p:nvSpPr>
        <p:spPr>
          <a:xfrm>
            <a:off x="7772400" y="3035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pro Monat, Auslastung, ausgebuchte Termine</a:t>
            </a:r>
            <a:endParaRPr lang="en-US" sz="1400" dirty="0"/>
          </a:p>
        </p:txBody>
      </p:sp>
      <p:sp>
        <p:nvSpPr>
          <p:cNvPr id="13" name="Text 8"/>
          <p:cNvSpPr txBox="1"/>
          <p:nvPr/>
        </p:nvSpPr>
        <p:spPr>
          <a:xfrm>
            <a:off x="7772400" y="3794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Wirkung</a:t>
            </a:r>
            <a:endParaRPr lang="en-US" sz="1800" dirty="0"/>
          </a:p>
        </p:txBody>
      </p:sp>
      <p:sp>
        <p:nvSpPr>
          <p:cNvPr id="14" name="Text 9"/>
          <p:cNvSpPr txBox="1"/>
          <p:nvPr/>
        </p:nvSpPr>
        <p:spPr>
          <a:xfrm>
            <a:off x="7772400" y="4178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Wiederkehrende Anbietende, Vorlauf der Anmeldungen</a:t>
            </a:r>
            <a:endParaRPr lang="en-US" sz="1400" dirty="0"/>
          </a:p>
        </p:txBody>
      </p:sp>
      <p:sp>
        <p:nvSpPr>
          <p:cNvPr id="15" name="Text 10"/>
          <p:cNvSpPr txBox="1"/>
          <p:nvPr/>
        </p:nvSpPr>
        <p:spPr>
          <a:xfrm>
            <a:off x="7772400" y="4937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Bericht</a:t>
            </a:r>
            <a:endParaRPr lang="en-US" sz="1800" dirty="0"/>
          </a:p>
        </p:txBody>
      </p:sp>
      <p:sp>
        <p:nvSpPr>
          <p:cNvPr id="16" name="Text 11"/>
          <p:cNvSpPr txBox="1"/>
          <p:nvPr/>
        </p:nvSpPr>
        <p:spPr>
          <a:xfrm>
            <a:off x="7772400" y="5321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 Auswertung und der Gesamtbericht als PDF</a:t>
            </a:r>
            <a:endParaRPr lang="en-US" sz="1400" dirty="0"/>
          </a:p>
        </p:txBody>
      </p:sp>
      <p:sp>
        <p:nvSpPr>
          <p:cNvPr id="17" name="Text 12"/>
          <p:cNvSpPr txBox="1"/>
          <p:nvPr/>
        </p:nvSpPr>
        <p:spPr>
          <a:xfrm>
            <a:off x="530352" y="603504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IDD-Anrechnung: heute noch nicht möglich</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Sie ist in Planung und bleibt ein zentrales Ziel</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463040"/>
            <a:ext cx="11155680" cy="914400"/>
          </a:xfrm>
          <a:prstGeom prst="rect">
            <a:avLst/>
          </a:prstGeom>
          <a:solidFill>
            <a:srgbClr val="001957"/>
          </a:solidFill>
          <a:ln w="12700">
            <a:solidFill>
              <a:srgbClr val="001957"/>
            </a:solidFill>
            <a:prstDash val="solid"/>
          </a:ln>
        </p:spPr>
      </p:sp>
      <p:sp>
        <p:nvSpPr>
          <p:cNvPr id="9" name="Text 5"/>
          <p:cNvSpPr txBox="1"/>
          <p:nvPr/>
        </p:nvSpPr>
        <p:spPr>
          <a:xfrm>
            <a:off x="822960" y="1463040"/>
            <a:ext cx="10607040" cy="914400"/>
          </a:xfrm>
          <a:prstGeom prst="rect">
            <a:avLst/>
          </a:prstGeom>
          <a:noFill/>
          <a:ln/>
        </p:spPr>
        <p:txBody>
          <a:bodyPr wrap="square" lIns="0" tIns="0" rIns="0" bIns="0" rtlCol="0" anchor="ctr"/>
          <a:lstStyle/>
          <a:p>
            <a:pPr indent="0" marL="0">
              <a:buNone/>
            </a:pPr>
            <a:r>
              <a:rPr lang="en-US" sz="1400" b="1" dirty="0">
                <a:solidFill>
                  <a:srgbClr val="00DCDC"/>
                </a:solidFill>
                <a:latin typeface="Arial" pitchFamily="34" charset="0"/>
                <a:ea typeface="Arial" pitchFamily="34" charset="-122"/>
                <a:cs typeface="Arial" pitchFamily="34" charset="-120"/>
              </a:rPr>
              <a:t>STATUS  </a:t>
            </a:r>
            <a:pPr indent="0" marL="0">
              <a:buNone/>
            </a:pPr>
            <a:r>
              <a:rPr lang="en-US" sz="2600" b="1" dirty="0">
                <a:solidFill>
                  <a:srgbClr val="F79506"/>
                </a:solidFill>
                <a:latin typeface="Arial" pitchFamily="34" charset="0"/>
                <a:ea typeface="Arial" pitchFamily="34" charset="-122"/>
                <a:cs typeface="Arial" pitchFamily="34" charset="-120"/>
              </a:rPr>
              <a:t>Noch nicht möglich. In Planung.</a:t>
            </a:r>
            <a:endParaRPr lang="en-US" sz="1600" dirty="0"/>
          </a:p>
        </p:txBody>
      </p:sp>
      <p:sp>
        <p:nvSpPr>
          <p:cNvPr id="10" name="Shape 6"/>
          <p:cNvSpPr/>
          <p:nvPr/>
        </p:nvSpPr>
        <p:spPr>
          <a:xfrm>
            <a:off x="530352" y="2606040"/>
            <a:ext cx="3566160" cy="3474720"/>
          </a:xfrm>
          <a:prstGeom prst="rect">
            <a:avLst/>
          </a:prstGeom>
          <a:solidFill>
            <a:srgbClr val="F5F5F5"/>
          </a:solidFill>
          <a:ln w="12700">
            <a:solidFill>
              <a:srgbClr val="F5F5F5"/>
            </a:solidFill>
            <a:prstDash val="solid"/>
          </a:ln>
        </p:spPr>
      </p:sp>
      <p:pic>
        <p:nvPicPr>
          <p:cNvPr id="11" name="Image 1" descr="/tmp/deck/ic/info_m.png">    </p:cNvPr>
          <p:cNvPicPr>
            <a:picLocks noChangeAspect="1"/>
          </p:cNvPicPr>
          <p:nvPr/>
        </p:nvPicPr>
        <p:blipFill>
          <a:blip r:embed="rId2"/>
          <a:stretch>
            <a:fillRect/>
          </a:stretch>
        </p:blipFill>
        <p:spPr>
          <a:xfrm>
            <a:off x="804672" y="2788920"/>
            <a:ext cx="548640" cy="548640"/>
          </a:xfrm>
          <a:prstGeom prst="rect">
            <a:avLst/>
          </a:prstGeom>
        </p:spPr>
      </p:pic>
      <p:sp>
        <p:nvSpPr>
          <p:cNvPr id="12" name="Text 7"/>
          <p:cNvSpPr txBox="1"/>
          <p:nvPr/>
        </p:nvSpPr>
        <p:spPr>
          <a:xfrm>
            <a:off x="1536192"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Heute</a:t>
            </a:r>
            <a:endParaRPr lang="en-US" sz="1800" dirty="0"/>
          </a:p>
        </p:txBody>
      </p:sp>
      <p:sp>
        <p:nvSpPr>
          <p:cNvPr id="13" name="Text 8"/>
          <p:cNvSpPr txBox="1"/>
          <p:nvPr/>
        </p:nvSpPr>
        <p:spPr>
          <a:xfrm>
            <a:off x="804672"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werden nicht als IDD-Weiterbildung gebucht.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Teilnehmende erhalten keine IDD-Bestätigung.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Das sagen wir in der Kommunikation klar.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Pilot startet trotzdem: Wissen teilen und Vernetzen zählen auch ohne IDD.</a:t>
            </a:r>
            <a:endParaRPr lang="en-US" sz="1300" dirty="0"/>
          </a:p>
        </p:txBody>
      </p:sp>
      <p:sp>
        <p:nvSpPr>
          <p:cNvPr id="14" name="Shape 9"/>
          <p:cNvSpPr/>
          <p:nvPr/>
        </p:nvSpPr>
        <p:spPr>
          <a:xfrm>
            <a:off x="4315968" y="2606040"/>
            <a:ext cx="3566160" cy="3474720"/>
          </a:xfrm>
          <a:prstGeom prst="rect">
            <a:avLst/>
          </a:prstGeom>
          <a:solidFill>
            <a:srgbClr val="FFF4E0"/>
          </a:solidFill>
          <a:ln w="12700">
            <a:solidFill>
              <a:srgbClr val="FFF4E0"/>
            </a:solidFill>
            <a:prstDash val="solid"/>
          </a:ln>
        </p:spPr>
      </p:sp>
      <p:pic>
        <p:nvPicPr>
          <p:cNvPr id="15" name="Image 2" descr="/tmp/deck/ic/target_m.png">    </p:cNvPr>
          <p:cNvPicPr>
            <a:picLocks noChangeAspect="1"/>
          </p:cNvPicPr>
          <p:nvPr/>
        </p:nvPicPr>
        <p:blipFill>
          <a:blip r:embed="rId3"/>
          <a:stretch>
            <a:fillRect/>
          </a:stretch>
        </p:blipFill>
        <p:spPr>
          <a:xfrm>
            <a:off x="4590288" y="2788920"/>
            <a:ext cx="548640" cy="548640"/>
          </a:xfrm>
          <a:prstGeom prst="rect">
            <a:avLst/>
          </a:prstGeom>
        </p:spPr>
      </p:pic>
      <p:sp>
        <p:nvSpPr>
          <p:cNvPr id="16" name="Text 10"/>
          <p:cNvSpPr txBox="1"/>
          <p:nvPr/>
        </p:nvSpPr>
        <p:spPr>
          <a:xfrm>
            <a:off x="5321808"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Ziel</a:t>
            </a:r>
            <a:endParaRPr lang="en-US" sz="1800" dirty="0"/>
          </a:p>
        </p:txBody>
      </p:sp>
      <p:sp>
        <p:nvSpPr>
          <p:cNvPr id="17" name="Text 11"/>
          <p:cNvSpPr txBox="1"/>
          <p:nvPr/>
        </p:nvSpPr>
        <p:spPr>
          <a:xfrm>
            <a:off x="4590288"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mit IDD-fähigen Inhalten werden angerechnet.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Grundlage: 15 Stunden Weiterbildung pro Jahr.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Nachweis läuft über gespeicherte Daten der Anbietenden und Teilnehmenden.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Diese Daten dienen nur dem Nachweis und der Anrechnung.</a:t>
            </a:r>
            <a:endParaRPr lang="en-US" sz="1300" dirty="0"/>
          </a:p>
        </p:txBody>
      </p:sp>
      <p:sp>
        <p:nvSpPr>
          <p:cNvPr id="18" name="Shape 12"/>
          <p:cNvSpPr/>
          <p:nvPr/>
        </p:nvSpPr>
        <p:spPr>
          <a:xfrm>
            <a:off x="8101584" y="2606040"/>
            <a:ext cx="3566160" cy="3474720"/>
          </a:xfrm>
          <a:prstGeom prst="rect">
            <a:avLst/>
          </a:prstGeom>
          <a:solidFill>
            <a:srgbClr val="F5F5F5"/>
          </a:solidFill>
          <a:ln w="12700">
            <a:solidFill>
              <a:srgbClr val="F5F5F5"/>
            </a:solidFill>
            <a:prstDash val="solid"/>
          </a:ln>
        </p:spPr>
      </p:sp>
      <p:pic>
        <p:nvPicPr>
          <p:cNvPr id="19" name="Image 3" descr="/tmp/deck/ic/doc_m.png">    </p:cNvPr>
          <p:cNvPicPr>
            <a:picLocks noChangeAspect="1"/>
          </p:cNvPicPr>
          <p:nvPr/>
        </p:nvPicPr>
        <p:blipFill>
          <a:blip r:embed="rId4"/>
          <a:stretch>
            <a:fillRect/>
          </a:stretch>
        </p:blipFill>
        <p:spPr>
          <a:xfrm>
            <a:off x="8375904" y="2788920"/>
            <a:ext cx="548640" cy="548640"/>
          </a:xfrm>
          <a:prstGeom prst="rect">
            <a:avLst/>
          </a:prstGeom>
        </p:spPr>
      </p:pic>
      <p:sp>
        <p:nvSpPr>
          <p:cNvPr id="20" name="Text 13"/>
          <p:cNvSpPr txBox="1"/>
          <p:nvPr/>
        </p:nvSpPr>
        <p:spPr>
          <a:xfrm>
            <a:off x="9107424"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Offene Punkte</a:t>
            </a:r>
            <a:endParaRPr lang="en-US" sz="1800" dirty="0"/>
          </a:p>
        </p:txBody>
      </p:sp>
      <p:sp>
        <p:nvSpPr>
          <p:cNvPr id="21" name="Text 14"/>
          <p:cNvSpPr txBox="1"/>
          <p:nvPr/>
        </p:nvSpPr>
        <p:spPr>
          <a:xfrm>
            <a:off x="8375904"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Welche Inhalte sind IDD-fähig und wer prüft das?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Wie sieht die Lernerfolgskontrolle bei kurzen Terminen aus?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bestätigen wir die Teilnahme verlässlich?</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kommt die Bestätigung in das Bildungskonto?</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Personenbezogene Daten: sparsam und zweckgebunden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Private Sessions werden am Tag danach anonymisiert, dienstliche nach fünf Jahren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3246120"/>
          </a:xfrm>
          <a:prstGeom prst="rect">
            <a:avLst/>
          </a:prstGeom>
          <a:solidFill>
            <a:srgbClr val="F5F5F5"/>
          </a:solidFill>
          <a:ln w="12700">
            <a:solidFill>
              <a:srgbClr val="F5F5F5"/>
            </a:solidFill>
            <a:prstDash val="solid"/>
          </a:ln>
        </p:spPr>
      </p:sp>
      <p:pic>
        <p:nvPicPr>
          <p:cNvPr id="9" name="Image 1" descr="/tmp/deck/ic/eye_m.png">    </p:cNvPr>
          <p:cNvPicPr>
            <a:picLocks noChangeAspect="1"/>
          </p:cNvPicPr>
          <p:nvPr/>
        </p:nvPicPr>
        <p:blipFill>
          <a:blip r:embed="rId2"/>
          <a:stretch>
            <a:fillRect/>
          </a:stretch>
        </p:blipFill>
        <p:spPr>
          <a:xfrm>
            <a:off x="804672" y="1691640"/>
            <a:ext cx="594360" cy="594360"/>
          </a:xfrm>
          <a:prstGeom prst="rect">
            <a:avLst/>
          </a:prstGeom>
        </p:spPr>
      </p:pic>
      <p:sp>
        <p:nvSpPr>
          <p:cNvPr id="10" name="Text 5"/>
          <p:cNvSpPr txBox="1"/>
          <p:nvPr/>
        </p:nvSpPr>
        <p:spPr>
          <a:xfrm>
            <a:off x="1554480" y="1691640"/>
            <a:ext cx="4297680" cy="59436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Private Sessions</a:t>
            </a:r>
            <a:endParaRPr lang="en-US" sz="2000" dirty="0"/>
          </a:p>
        </p:txBody>
      </p:sp>
      <p:sp>
        <p:nvSpPr>
          <p:cNvPr id="11" name="Text 6"/>
          <p:cNvSpPr txBox="1"/>
          <p:nvPr/>
        </p:nvSpPr>
        <p:spPr>
          <a:xfrm>
            <a:off x="80467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Name und E-Mail werden am Tag nach der Veranstaltung automatisch anonymisiert.</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Im Admin-Bereich und im Archiv bleiben nur Zahlen für die Statistik.</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Niemand kann später nachvollziehen, wer teilgenommen hat.</a:t>
            </a:r>
            <a:endParaRPr lang="en-US" sz="1400" dirty="0"/>
          </a:p>
        </p:txBody>
      </p:sp>
      <p:sp>
        <p:nvSpPr>
          <p:cNvPr id="12" name="Shape 7"/>
          <p:cNvSpPr/>
          <p:nvPr/>
        </p:nvSpPr>
        <p:spPr>
          <a:xfrm>
            <a:off x="6199632" y="1508760"/>
            <a:ext cx="5486400" cy="3246120"/>
          </a:xfrm>
          <a:prstGeom prst="rect">
            <a:avLst/>
          </a:prstGeom>
          <a:solidFill>
            <a:srgbClr val="001957"/>
          </a:solidFill>
          <a:ln w="12700">
            <a:solidFill>
              <a:srgbClr val="001957"/>
            </a:solidFill>
            <a:prstDash val="solid"/>
          </a:ln>
        </p:spPr>
      </p:sp>
      <p:pic>
        <p:nvPicPr>
          <p:cNvPr id="13" name="Image 2" descr="/tmp/deck/ic/doc_m.png">    </p:cNvPr>
          <p:cNvPicPr>
            <a:picLocks noChangeAspect="1"/>
          </p:cNvPicPr>
          <p:nvPr/>
        </p:nvPicPr>
        <p:blipFill>
          <a:blip r:embed="rId3"/>
          <a:stretch>
            <a:fillRect/>
          </a:stretch>
        </p:blipFill>
        <p:spPr>
          <a:xfrm>
            <a:off x="6473952" y="1691640"/>
            <a:ext cx="594360" cy="594360"/>
          </a:xfrm>
          <a:prstGeom prst="rect">
            <a:avLst/>
          </a:prstGeom>
        </p:spPr>
      </p:pic>
      <p:sp>
        <p:nvSpPr>
          <p:cNvPr id="14" name="Text 8"/>
          <p:cNvSpPr txBox="1"/>
          <p:nvPr/>
        </p:nvSpPr>
        <p:spPr>
          <a:xfrm>
            <a:off x="7223760" y="1691640"/>
            <a:ext cx="4297680" cy="5943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Dienstliche Sessions</a:t>
            </a:r>
            <a:endParaRPr lang="en-US" sz="2000" dirty="0"/>
          </a:p>
        </p:txBody>
      </p:sp>
      <p:sp>
        <p:nvSpPr>
          <p:cNvPr id="15" name="Text 9"/>
          <p:cNvSpPr txBox="1"/>
          <p:nvPr/>
        </p:nvSpPr>
        <p:spPr>
          <a:xfrm>
            <a:off x="647395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Daten der Anbietenden und Teilnehmenden bleiben fünf Jahre gespeichert.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Zweck: ausschließlich Nachweis und Anrechnung (IDD).</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Danach werden sie automatisch anonymisiert.</a:t>
            </a:r>
            <a:endParaRPr lang="en-US" sz="1400" dirty="0"/>
          </a:p>
        </p:txBody>
      </p:sp>
      <p:sp>
        <p:nvSpPr>
          <p:cNvPr id="16" name="Text 10"/>
          <p:cNvSpPr txBox="1"/>
          <p:nvPr/>
        </p:nvSpPr>
        <p:spPr>
          <a:xfrm>
            <a:off x="530352" y="4937760"/>
            <a:ext cx="11155680" cy="320040"/>
          </a:xfrm>
          <a:prstGeom prst="rect">
            <a:avLst/>
          </a:prstGeom>
          <a:noFill/>
          <a:ln/>
        </p:spPr>
        <p:txBody>
          <a:bodyPr wrap="square" lIns="0" tIns="0" rIns="0" bIns="0" rtlCol="0" anchor="t"/>
          <a:lstStyle/>
          <a:p>
            <a:pPr indent="0" marL="0">
              <a:buNone/>
            </a:pPr>
            <a:r>
              <a:rPr lang="en-US" sz="1600" b="1" dirty="0">
                <a:solidFill>
                  <a:srgbClr val="EB6504"/>
                </a:solidFill>
                <a:latin typeface="Arial" pitchFamily="34" charset="0"/>
                <a:ea typeface="Arial" pitchFamily="34" charset="-122"/>
                <a:cs typeface="Arial" pitchFamily="34" charset="-120"/>
              </a:rPr>
              <a:t>Der Zugriff auf personenbezogene Daten ist klar begrenzt</a:t>
            </a:r>
            <a:endParaRPr lang="en-US" sz="1600" dirty="0"/>
          </a:p>
        </p:txBody>
      </p:sp>
      <p:sp>
        <p:nvSpPr>
          <p:cNvPr id="17" name="Shape 11"/>
          <p:cNvSpPr/>
          <p:nvPr/>
        </p:nvSpPr>
        <p:spPr>
          <a:xfrm>
            <a:off x="530352" y="5349240"/>
            <a:ext cx="3566160" cy="731520"/>
          </a:xfrm>
          <a:prstGeom prst="rect">
            <a:avLst/>
          </a:prstGeom>
          <a:solidFill>
            <a:srgbClr val="FFF4E0"/>
          </a:solidFill>
          <a:ln w="12700">
            <a:solidFill>
              <a:srgbClr val="FFF4E0"/>
            </a:solidFill>
            <a:prstDash val="solid"/>
          </a:ln>
        </p:spPr>
      </p:sp>
      <p:pic>
        <p:nvPicPr>
          <p:cNvPr id="18" name="Image 3" descr="/tmp/deck/ic/lock_m.png">    </p:cNvPr>
          <p:cNvPicPr>
            <a:picLocks noChangeAspect="1"/>
          </p:cNvPicPr>
          <p:nvPr/>
        </p:nvPicPr>
        <p:blipFill>
          <a:blip r:embed="rId4"/>
          <a:stretch>
            <a:fillRect/>
          </a:stretch>
        </p:blipFill>
        <p:spPr>
          <a:xfrm>
            <a:off x="713232" y="5468112"/>
            <a:ext cx="493776" cy="493776"/>
          </a:xfrm>
          <a:prstGeom prst="rect">
            <a:avLst/>
          </a:prstGeom>
        </p:spPr>
      </p:pic>
      <p:sp>
        <p:nvSpPr>
          <p:cNvPr id="19" name="Text 12"/>
          <p:cNvSpPr txBox="1"/>
          <p:nvPr/>
        </p:nvSpPr>
        <p:spPr>
          <a:xfrm>
            <a:off x="135331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Nur Administratoren aus VH-VP-TV haben Zugriff</a:t>
            </a:r>
            <a:endParaRPr lang="en-US" sz="1300" dirty="0"/>
          </a:p>
        </p:txBody>
      </p:sp>
      <p:sp>
        <p:nvSpPr>
          <p:cNvPr id="20" name="Shape 13"/>
          <p:cNvSpPr/>
          <p:nvPr/>
        </p:nvSpPr>
        <p:spPr>
          <a:xfrm>
            <a:off x="4325112" y="5349240"/>
            <a:ext cx="3566160" cy="731520"/>
          </a:xfrm>
          <a:prstGeom prst="rect">
            <a:avLst/>
          </a:prstGeom>
          <a:solidFill>
            <a:srgbClr val="FFF4E0"/>
          </a:solidFill>
          <a:ln w="12700">
            <a:solidFill>
              <a:srgbClr val="FFF4E0"/>
            </a:solidFill>
            <a:prstDash val="solid"/>
          </a:ln>
        </p:spPr>
      </p:sp>
      <p:pic>
        <p:nvPicPr>
          <p:cNvPr id="21" name="Image 4" descr="/tmp/deck/ic/shield_m.png">    </p:cNvPr>
          <p:cNvPicPr>
            <a:picLocks noChangeAspect="1"/>
          </p:cNvPicPr>
          <p:nvPr/>
        </p:nvPicPr>
        <p:blipFill>
          <a:blip r:embed="rId5"/>
          <a:stretch>
            <a:fillRect/>
          </a:stretch>
        </p:blipFill>
        <p:spPr>
          <a:xfrm>
            <a:off x="4507992" y="5468112"/>
            <a:ext cx="493776" cy="493776"/>
          </a:xfrm>
          <a:prstGeom prst="rect">
            <a:avLst/>
          </a:prstGeom>
        </p:spPr>
      </p:pic>
      <p:sp>
        <p:nvSpPr>
          <p:cNvPr id="22" name="Text 14"/>
          <p:cNvSpPr txBox="1"/>
          <p:nvPr/>
        </p:nvSpPr>
        <p:spPr>
          <a:xfrm>
            <a:off x="514807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Die Daten werden nicht veröffentlicht</a:t>
            </a:r>
            <a:endParaRPr lang="en-US" sz="1300" dirty="0"/>
          </a:p>
        </p:txBody>
      </p:sp>
      <p:sp>
        <p:nvSpPr>
          <p:cNvPr id="23" name="Shape 15"/>
          <p:cNvSpPr/>
          <p:nvPr/>
        </p:nvSpPr>
        <p:spPr>
          <a:xfrm>
            <a:off x="8119872" y="5349240"/>
            <a:ext cx="3566160" cy="731520"/>
          </a:xfrm>
          <a:prstGeom prst="rect">
            <a:avLst/>
          </a:prstGeom>
          <a:solidFill>
            <a:srgbClr val="FFF4E0"/>
          </a:solidFill>
          <a:ln w="12700">
            <a:solidFill>
              <a:srgbClr val="FFF4E0"/>
            </a:solidFill>
            <a:prstDash val="solid"/>
          </a:ln>
        </p:spPr>
      </p:sp>
      <p:pic>
        <p:nvPicPr>
          <p:cNvPr id="24" name="Image 5" descr="/tmp/deck/ic/mail_m.png">    </p:cNvPr>
          <p:cNvPicPr>
            <a:picLocks noChangeAspect="1"/>
          </p:cNvPicPr>
          <p:nvPr/>
        </p:nvPicPr>
        <p:blipFill>
          <a:blip r:embed="rId6"/>
          <a:stretch>
            <a:fillRect/>
          </a:stretch>
        </p:blipFill>
        <p:spPr>
          <a:xfrm>
            <a:off x="8302752" y="5468112"/>
            <a:ext cx="493776" cy="493776"/>
          </a:xfrm>
          <a:prstGeom prst="rect">
            <a:avLst/>
          </a:prstGeom>
        </p:spPr>
      </p:pic>
      <p:sp>
        <p:nvSpPr>
          <p:cNvPr id="25" name="Text 16"/>
          <p:cNvSpPr txBox="1"/>
          <p:nvPr/>
        </p:nvSpPr>
        <p:spPr>
          <a:xfrm>
            <a:off x="894283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Kein Benutzerkonto, kein E-Mail-Versand</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Mitbestimmung: früh und gemeinsam</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bitten um die Einleitung des Verfahrens mit dem Betriebsrat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scale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Warum</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Nahezu jedes IT-System mit Beschäftigtendaten unterliegt der Mitbestimmung (§ 87 Abs. 1 Nr. 6 BetrVG).</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Die Plattform verarbeitet Name und E-Mail-Adresse.</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Je früher wir sprechen, desto besser wird die Lösung.</a:t>
            </a:r>
            <a:endParaRPr lang="en-US" sz="1400" dirty="0"/>
          </a:p>
        </p:txBody>
      </p:sp>
      <p:sp>
        <p:nvSpPr>
          <p:cNvPr id="12" name="Shape 7"/>
          <p:cNvSpPr/>
          <p:nvPr/>
        </p:nvSpPr>
        <p:spPr>
          <a:xfrm>
            <a:off x="4325112" y="1508760"/>
            <a:ext cx="3566160" cy="4572000"/>
          </a:xfrm>
          <a:prstGeom prst="rect">
            <a:avLst/>
          </a:prstGeom>
          <a:solidFill>
            <a:srgbClr val="001957"/>
          </a:solidFill>
          <a:ln w="12700">
            <a:solidFill>
              <a:srgbClr val="001957"/>
            </a:solidFill>
            <a:prstDash val="solid"/>
          </a:ln>
        </p:spPr>
      </p:sp>
      <p:pic>
        <p:nvPicPr>
          <p:cNvPr id="13" name="Image 2" descr="/tmp/deck/ic/check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Unser Vorschlag</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Zweck, Datenarten, Zugriffe und Fristen schriftlich regeln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Keine Auswertung einzelner Personen, keine Leistungskontrolle</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Teilnahme und Angebot bleiben freiwillig</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Arbeitszeitregel für dienstliche Sessions abstimmen</a:t>
            </a:r>
            <a:endParaRPr lang="en-US" sz="14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team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Nächste Schritte</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Vorstellung im Führungskreis</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Abstimmung mit Datenschutz</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Gespräch mit dem Betriebsrat</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Freigabe des Pilots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Risiken und Gegenmaßnahmen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kennen die Stolpersteine und haben eine Antwort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3474720"/>
                <a:gridCol w="768096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Risiko</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Gegenmaßnahme</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Zu wenige Angebote am Anfang</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Führungskräfte und Fachleute bieten die ersten Termine an. Die Administration spricht gezielt Anbietende an.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914400">
                <a:tc>
                  <a:txBody>
                    <a:bodyPr/>
                    <a:lstStyle/>
                    <a:p>
                      <a:pPr indent="0" marL="0">
                        <a:buNone/>
                      </a:pPr>
                      <a:r>
                        <a:rPr lang="en-US" sz="1300" b="1" dirty="0">
                          <a:solidFill>
                            <a:srgbClr val="001957"/>
                          </a:solidFill>
                          <a:latin typeface="Arial" pitchFamily="34" charset="0"/>
                          <a:ea typeface="Arial" pitchFamily="34" charset="-122"/>
                          <a:cs typeface="Arial" pitchFamily="34" charset="-120"/>
                        </a:rPr>
                        <a:t>Falsche Erwartungen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 kommunizieren: Die IDD-Anrechnung funktioniert noch nicht, private Sessions sind keine Arbeitszeit, dienstliche Sessions erfordern das Einstechen.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Datenschutz und Vertrauen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Datensparsame Plattform, automatische Anonymisierung, Zugriff nur für VH-VP-TV, Einbindung des Betriebsrats.</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Schwankende Qualität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Klare Spielregeln, Rückmeldungen der Teilnehmenden, Termine lassen sich bearbeiten oder entfernen.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IDD-Anrechnung dauert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Der Pilot läuft unabhängig davon. Das IDD-Konzept läuft parallel und wird schrittweise freigeschaltet.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Fahrplan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Drei Phasen vom Pilot bis zum Ausbau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868680"/>
          </a:xfrm>
          <a:prstGeom prst="rect">
            <a:avLst/>
          </a:prstGeom>
          <a:solidFill>
            <a:srgbClr val="109DA8"/>
          </a:solidFill>
          <a:ln w="12700">
            <a:solidFill>
              <a:srgbClr val="109DA8"/>
            </a:solidFill>
            <a:prstDash val="solid"/>
          </a:ln>
        </p:spPr>
      </p:sp>
      <p:sp>
        <p:nvSpPr>
          <p:cNvPr id="9" name="Text 5"/>
          <p:cNvSpPr txBox="1"/>
          <p:nvPr/>
        </p:nvSpPr>
        <p:spPr>
          <a:xfrm>
            <a:off x="80467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6"/>
          <p:cNvSpPr txBox="1"/>
          <p:nvPr/>
        </p:nvSpPr>
        <p:spPr>
          <a:xfrm>
            <a:off x="80467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Pilot im Außendienst</a:t>
            </a:r>
            <a:endParaRPr lang="en-US" sz="2000" dirty="0"/>
          </a:p>
        </p:txBody>
      </p:sp>
      <p:sp>
        <p:nvSpPr>
          <p:cNvPr id="11" name="Shape 7"/>
          <p:cNvSpPr/>
          <p:nvPr/>
        </p:nvSpPr>
        <p:spPr>
          <a:xfrm>
            <a:off x="530352" y="2377440"/>
            <a:ext cx="3566160" cy="3703320"/>
          </a:xfrm>
          <a:prstGeom prst="rect">
            <a:avLst/>
          </a:prstGeom>
          <a:solidFill>
            <a:srgbClr val="F5F5F5"/>
          </a:solidFill>
          <a:ln w="12700">
            <a:solidFill>
              <a:srgbClr val="F5F5F5"/>
            </a:solidFill>
            <a:prstDash val="solid"/>
          </a:ln>
        </p:spPr>
      </p:sp>
      <p:sp>
        <p:nvSpPr>
          <p:cNvPr id="12" name="Text 8"/>
          <p:cNvSpPr txBox="1"/>
          <p:nvPr/>
        </p:nvSpPr>
        <p:spPr>
          <a:xfrm>
            <a:off x="80467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Freigaben und Mitbestimmung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Datenkonzept mit Datenschutz abstimmen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Regeln klar kommunizieren: Arbeitszeit, keine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Erste Anbietende gewinnen, auch Führungskräfte</a:t>
            </a:r>
            <a:endParaRPr lang="en-US" sz="1500" dirty="0"/>
          </a:p>
        </p:txBody>
      </p:sp>
      <p:sp>
        <p:nvSpPr>
          <p:cNvPr id="13" name="Shape 9"/>
          <p:cNvSpPr/>
          <p:nvPr/>
        </p:nvSpPr>
        <p:spPr>
          <a:xfrm>
            <a:off x="4325112" y="1508760"/>
            <a:ext cx="3566160" cy="868680"/>
          </a:xfrm>
          <a:prstGeom prst="rect">
            <a:avLst/>
          </a:prstGeom>
          <a:solidFill>
            <a:srgbClr val="001957"/>
          </a:solidFill>
          <a:ln w="12700">
            <a:solidFill>
              <a:srgbClr val="001957"/>
            </a:solidFill>
            <a:prstDash val="solid"/>
          </a:ln>
        </p:spPr>
      </p:sp>
      <p:sp>
        <p:nvSpPr>
          <p:cNvPr id="14" name="Text 10"/>
          <p:cNvSpPr txBox="1"/>
          <p:nvPr/>
        </p:nvSpPr>
        <p:spPr>
          <a:xfrm>
            <a:off x="459943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15" name="Text 11"/>
          <p:cNvSpPr txBox="1"/>
          <p:nvPr/>
        </p:nvSpPr>
        <p:spPr>
          <a:xfrm>
            <a:off x="459943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IDD klären</a:t>
            </a:r>
            <a:endParaRPr lang="en-US" sz="2000" dirty="0"/>
          </a:p>
        </p:txBody>
      </p:sp>
      <p:sp>
        <p:nvSpPr>
          <p:cNvPr id="16" name="Shape 12"/>
          <p:cNvSpPr/>
          <p:nvPr/>
        </p:nvSpPr>
        <p:spPr>
          <a:xfrm>
            <a:off x="4325112" y="2377440"/>
            <a:ext cx="3566160" cy="3703320"/>
          </a:xfrm>
          <a:prstGeom prst="rect">
            <a:avLst/>
          </a:prstGeom>
          <a:solidFill>
            <a:srgbClr val="F5F5F5"/>
          </a:solidFill>
          <a:ln w="12700">
            <a:solidFill>
              <a:srgbClr val="F5F5F5"/>
            </a:solidFill>
            <a:prstDash val="solid"/>
          </a:ln>
        </p:spPr>
      </p:sp>
      <p:sp>
        <p:nvSpPr>
          <p:cNvPr id="17" name="Text 13"/>
          <p:cNvSpPr txBox="1"/>
          <p:nvPr/>
        </p:nvSpPr>
        <p:spPr>
          <a:xfrm>
            <a:off x="459943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Konzept für die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Technischen Nachweis umsetzen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Pilot auswerten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Themen und Regeln schärfen</a:t>
            </a:r>
            <a:endParaRPr lang="en-US" sz="1500" dirty="0"/>
          </a:p>
        </p:txBody>
      </p:sp>
      <p:sp>
        <p:nvSpPr>
          <p:cNvPr id="18" name="Shape 14"/>
          <p:cNvSpPr/>
          <p:nvPr/>
        </p:nvSpPr>
        <p:spPr>
          <a:xfrm>
            <a:off x="8119872" y="1508760"/>
            <a:ext cx="3566160" cy="868680"/>
          </a:xfrm>
          <a:prstGeom prst="rect">
            <a:avLst/>
          </a:prstGeom>
          <a:solidFill>
            <a:srgbClr val="EB6504"/>
          </a:solidFill>
          <a:ln w="12700">
            <a:solidFill>
              <a:srgbClr val="EB6504"/>
            </a:solidFill>
            <a:prstDash val="solid"/>
          </a:ln>
        </p:spPr>
      </p:sp>
      <p:sp>
        <p:nvSpPr>
          <p:cNvPr id="19" name="Text 15"/>
          <p:cNvSpPr txBox="1"/>
          <p:nvPr/>
        </p:nvSpPr>
        <p:spPr>
          <a:xfrm>
            <a:off x="839419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20" name="Text 16"/>
          <p:cNvSpPr txBox="1"/>
          <p:nvPr/>
        </p:nvSpPr>
        <p:spPr>
          <a:xfrm>
            <a:off x="839419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Ausbau</a:t>
            </a:r>
            <a:endParaRPr lang="en-US" sz="2000" dirty="0"/>
          </a:p>
        </p:txBody>
      </p:sp>
      <p:sp>
        <p:nvSpPr>
          <p:cNvPr id="21" name="Shape 17"/>
          <p:cNvSpPr/>
          <p:nvPr/>
        </p:nvSpPr>
        <p:spPr>
          <a:xfrm>
            <a:off x="8119872" y="2377440"/>
            <a:ext cx="3566160" cy="3703320"/>
          </a:xfrm>
          <a:prstGeom prst="rect">
            <a:avLst/>
          </a:prstGeom>
          <a:solidFill>
            <a:srgbClr val="F5F5F5"/>
          </a:solidFill>
          <a:ln w="12700">
            <a:solidFill>
              <a:srgbClr val="F5F5F5"/>
            </a:solidFill>
            <a:prstDash val="solid"/>
          </a:ln>
        </p:spPr>
      </p:sp>
      <p:sp>
        <p:nvSpPr>
          <p:cNvPr id="22" name="Text 18"/>
          <p:cNvSpPr txBox="1"/>
          <p:nvPr/>
        </p:nvSpPr>
        <p:spPr>
          <a:xfrm>
            <a:off x="839419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IDD-Termine im Regelbetrieb</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Mehr Anbietende und Themen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Innendienst gezielt einladen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Community-Formate ergänzen</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Entscheidung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Das bitten wir zu entscheiden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2057400"/>
          </a:xfrm>
          <a:prstGeom prst="rect">
            <a:avLst/>
          </a:prstGeom>
          <a:solidFill>
            <a:srgbClr val="001957"/>
          </a:solidFill>
          <a:ln w="12700">
            <a:solidFill>
              <a:srgbClr val="001957"/>
            </a:solidFill>
            <a:prstDash val="solid"/>
          </a:ln>
        </p:spPr>
      </p:sp>
      <p:pic>
        <p:nvPicPr>
          <p:cNvPr id="9" name="Image 1" descr="/tmp/deck/ic/check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1810512" y="1783080"/>
            <a:ext cx="393192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Freigabe für den Pilot</a:t>
            </a:r>
            <a:endParaRPr lang="en-US" sz="2000" dirty="0"/>
          </a:p>
        </p:txBody>
      </p:sp>
      <p:sp>
        <p:nvSpPr>
          <p:cNvPr id="11" name="Text 6"/>
          <p:cNvSpPr txBox="1"/>
          <p:nvPr/>
        </p:nvSpPr>
        <p:spPr>
          <a:xfrm>
            <a:off x="1810512" y="2560320"/>
            <a:ext cx="39319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LearnTogether@AD startet als Pilot für den R+V-Außendienst, zunächst ohne IDD-Anrechnung.</a:t>
            </a:r>
            <a:endParaRPr lang="en-US" sz="1400" dirty="0"/>
          </a:p>
        </p:txBody>
      </p:sp>
      <p:sp>
        <p:nvSpPr>
          <p:cNvPr id="12" name="Shape 7"/>
          <p:cNvSpPr/>
          <p:nvPr/>
        </p:nvSpPr>
        <p:spPr>
          <a:xfrm>
            <a:off x="6199632" y="1508760"/>
            <a:ext cx="5394960" cy="2057400"/>
          </a:xfrm>
          <a:prstGeom prst="rect">
            <a:avLst/>
          </a:prstGeom>
          <a:solidFill>
            <a:srgbClr val="F5F5F5"/>
          </a:solidFill>
          <a:ln w="12700">
            <a:solidFill>
              <a:srgbClr val="F5F5F5"/>
            </a:solidFill>
            <a:prstDash val="solid"/>
          </a:ln>
        </p:spPr>
      </p:sp>
      <p:pic>
        <p:nvPicPr>
          <p:cNvPr id="13" name="Image 2" descr="/tmp/deck/ic/scale_m.png">    </p:cNvPr>
          <p:cNvPicPr>
            <a:picLocks noChangeAspect="1"/>
          </p:cNvPicPr>
          <p:nvPr/>
        </p:nvPicPr>
        <p:blipFill>
          <a:blip r:embed="rId3"/>
          <a:stretch>
            <a:fillRect/>
          </a:stretch>
        </p:blipFill>
        <p:spPr>
          <a:xfrm>
            <a:off x="6473952" y="1783080"/>
            <a:ext cx="731520" cy="731520"/>
          </a:xfrm>
          <a:prstGeom prst="rect">
            <a:avLst/>
          </a:prstGeom>
        </p:spPr>
      </p:pic>
      <p:sp>
        <p:nvSpPr>
          <p:cNvPr id="14" name="Text 8"/>
          <p:cNvSpPr txBox="1"/>
          <p:nvPr/>
        </p:nvSpPr>
        <p:spPr>
          <a:xfrm>
            <a:off x="7479792" y="1783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Mitbestimmung und Datenkonzept</a:t>
            </a:r>
            <a:endParaRPr lang="en-US" sz="2000" dirty="0"/>
          </a:p>
        </p:txBody>
      </p:sp>
      <p:sp>
        <p:nvSpPr>
          <p:cNvPr id="15" name="Text 9"/>
          <p:cNvSpPr txBox="1"/>
          <p:nvPr/>
        </p:nvSpPr>
        <p:spPr>
          <a:xfrm>
            <a:off x="7479792" y="2560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Verfahren mit dem Betriebsrat einleiten. Datenkonzept und Arbeitszeitregel gemeinsam festlegen.</a:t>
            </a:r>
            <a:endParaRPr lang="en-US" sz="1400" dirty="0"/>
          </a:p>
        </p:txBody>
      </p:sp>
      <p:sp>
        <p:nvSpPr>
          <p:cNvPr id="16" name="Shape 10"/>
          <p:cNvSpPr/>
          <p:nvPr/>
        </p:nvSpPr>
        <p:spPr>
          <a:xfrm>
            <a:off x="530352" y="3794760"/>
            <a:ext cx="5394960" cy="2057400"/>
          </a:xfrm>
          <a:prstGeom prst="rect">
            <a:avLst/>
          </a:prstGeom>
          <a:solidFill>
            <a:srgbClr val="F5F5F5"/>
          </a:solidFill>
          <a:ln w="12700">
            <a:solidFill>
              <a:srgbClr val="F5F5F5"/>
            </a:solidFill>
            <a:prstDash val="solid"/>
          </a:ln>
        </p:spPr>
      </p:sp>
      <p:pic>
        <p:nvPicPr>
          <p:cNvPr id="17" name="Image 3" descr="/tmp/deck/ic/target_m.png">    </p:cNvPr>
          <p:cNvPicPr>
            <a:picLocks noChangeAspect="1"/>
          </p:cNvPicPr>
          <p:nvPr/>
        </p:nvPicPr>
        <p:blipFill>
          <a:blip r:embed="rId4"/>
          <a:stretch>
            <a:fillRect/>
          </a:stretch>
        </p:blipFill>
        <p:spPr>
          <a:xfrm>
            <a:off x="804672" y="4069080"/>
            <a:ext cx="731520" cy="731520"/>
          </a:xfrm>
          <a:prstGeom prst="rect">
            <a:avLst/>
          </a:prstGeom>
        </p:spPr>
      </p:pic>
      <p:sp>
        <p:nvSpPr>
          <p:cNvPr id="18" name="Text 11"/>
          <p:cNvSpPr txBox="1"/>
          <p:nvPr/>
        </p:nvSpPr>
        <p:spPr>
          <a:xfrm>
            <a:off x="181051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Auftrag für die IDD-Anrechnung</a:t>
            </a:r>
            <a:endParaRPr lang="en-US" sz="2000" dirty="0"/>
          </a:p>
        </p:txBody>
      </p:sp>
      <p:sp>
        <p:nvSpPr>
          <p:cNvPr id="19" name="Text 12"/>
          <p:cNvSpPr txBox="1"/>
          <p:nvPr/>
        </p:nvSpPr>
        <p:spPr>
          <a:xfrm>
            <a:off x="181051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Konzept und technischen Nachweis zügig erarbeiten. Das ist das wichtigste Folgeprojekt.</a:t>
            </a:r>
            <a:endParaRPr lang="en-US" sz="1400" dirty="0"/>
          </a:p>
        </p:txBody>
      </p:sp>
      <p:sp>
        <p:nvSpPr>
          <p:cNvPr id="20" name="Shape 13"/>
          <p:cNvSpPr/>
          <p:nvPr/>
        </p:nvSpPr>
        <p:spPr>
          <a:xfrm>
            <a:off x="6199632" y="3794760"/>
            <a:ext cx="5394960" cy="2057400"/>
          </a:xfrm>
          <a:prstGeom prst="rect">
            <a:avLst/>
          </a:prstGeom>
          <a:solidFill>
            <a:srgbClr val="F5F5F5"/>
          </a:solidFill>
          <a:ln w="12700">
            <a:solidFill>
              <a:srgbClr val="F5F5F5"/>
            </a:solidFill>
            <a:prstDash val="solid"/>
          </a:ln>
        </p:spPr>
      </p:sp>
      <p:pic>
        <p:nvPicPr>
          <p:cNvPr id="21" name="Image 4" descr="/tmp/deck/ic/team_m.png">    </p:cNvPr>
          <p:cNvPicPr>
            <a:picLocks noChangeAspect="1"/>
          </p:cNvPicPr>
          <p:nvPr/>
        </p:nvPicPr>
        <p:blipFill>
          <a:blip r:embed="rId5"/>
          <a:stretch>
            <a:fillRect/>
          </a:stretch>
        </p:blipFill>
        <p:spPr>
          <a:xfrm>
            <a:off x="6473952" y="4069080"/>
            <a:ext cx="731520" cy="731520"/>
          </a:xfrm>
          <a:prstGeom prst="rect">
            <a:avLst/>
          </a:prstGeom>
        </p:spPr>
      </p:pic>
      <p:sp>
        <p:nvSpPr>
          <p:cNvPr id="22" name="Text 14"/>
          <p:cNvSpPr txBox="1"/>
          <p:nvPr/>
        </p:nvSpPr>
        <p:spPr>
          <a:xfrm>
            <a:off x="747979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Betrieb in VH-VP-TV</a:t>
            </a:r>
            <a:endParaRPr lang="en-US" sz="2000" dirty="0"/>
          </a:p>
        </p:txBody>
      </p:sp>
      <p:sp>
        <p:nvSpPr>
          <p:cNvPr id="23" name="Text 15"/>
          <p:cNvSpPr txBox="1"/>
          <p:nvPr/>
        </p:nvSpPr>
        <p:spPr>
          <a:xfrm>
            <a:off x="747979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Administration liegt bei Training &amp; Entwicklung Vertrieb, Gruppe Produktion. Führungskräfte gehen mit ersten Terminen voran.</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7936992" y="0"/>
            <a:ext cx="4254703" cy="6858000"/>
          </a:xfrm>
          <a:prstGeom prst="rect">
            <a:avLst/>
          </a:prstGeom>
        </p:spPr>
      </p:pic>
      <p:sp>
        <p:nvSpPr>
          <p:cNvPr id="3" name="Text 0"/>
          <p:cNvSpPr txBox="1"/>
          <p:nvPr/>
        </p:nvSpPr>
        <p:spPr>
          <a:xfrm>
            <a:off x="530352" y="411480"/>
            <a:ext cx="6858000" cy="365760"/>
          </a:xfrm>
          <a:prstGeom prst="rect">
            <a:avLst/>
          </a:prstGeom>
          <a:noFill/>
          <a:ln/>
        </p:spPr>
        <p:txBody>
          <a:bodyPr wrap="square" lIns="0" tIns="0" rIns="0" bIns="0" rtlCol="0" anchor="t"/>
          <a:lstStyle/>
          <a:p>
            <a:pPr indent="0" marL="0">
              <a:buNone/>
            </a:pPr>
            <a:r>
              <a:rPr lang="en-US" sz="1600" b="1" dirty="0">
                <a:solidFill>
                  <a:srgbClr val="F79506"/>
                </a:solidFill>
                <a:latin typeface="Georgia" pitchFamily="34" charset="0"/>
                <a:ea typeface="Georgia" pitchFamily="34" charset="-122"/>
                <a:cs typeface="Georgia" pitchFamily="34" charset="-120"/>
              </a:rPr>
              <a:t>Mitmachen</a:t>
            </a:r>
            <a:endParaRPr lang="en-US" sz="1600" dirty="0"/>
          </a:p>
        </p:txBody>
      </p:sp>
      <p:sp>
        <p:nvSpPr>
          <p:cNvPr id="4" name="Text 1"/>
          <p:cNvSpPr txBox="1"/>
          <p:nvPr/>
        </p:nvSpPr>
        <p:spPr>
          <a:xfrm>
            <a:off x="530352" y="822960"/>
            <a:ext cx="713232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Werden Sie </a:t>
            </a:r>
            <a:pPr indent="0" marL="0">
              <a:buNone/>
            </a:pPr>
            <a:r>
              <a:rPr lang="en-US" sz="4400" b="1" dirty="0">
                <a:solidFill>
                  <a:srgbClr val="F79506"/>
                </a:solidFill>
                <a:latin typeface="Arial" pitchFamily="34" charset="0"/>
                <a:ea typeface="Arial" pitchFamily="34" charset="-122"/>
                <a:cs typeface="Arial" pitchFamily="34" charset="-120"/>
              </a:rPr>
              <a:t>Lern-Host</a:t>
            </a:r>
            <a:endParaRPr lang="en-US" sz="4400" dirty="0"/>
          </a:p>
        </p:txBody>
      </p:sp>
      <p:sp>
        <p:nvSpPr>
          <p:cNvPr id="5" name="Text 2"/>
          <p:cNvSpPr txBox="1"/>
          <p:nvPr/>
        </p:nvSpPr>
        <p:spPr>
          <a:xfrm>
            <a:off x="530352" y="1783080"/>
            <a:ext cx="6949440" cy="82296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Teilen Sie, was Sie wissen oder gerne tun. Bieten Sie einen Termin an und laden Sie Kolleginnen und Kollegen ein.</a:t>
            </a:r>
            <a:endParaRPr lang="en-US" sz="1800" dirty="0"/>
          </a:p>
        </p:txBody>
      </p:sp>
      <p:pic>
        <p:nvPicPr>
          <p:cNvPr id="6" name="Image 1" descr="/tmp/deck/ic/pencil_m.png">    </p:cNvPr>
          <p:cNvPicPr>
            <a:picLocks noChangeAspect="1"/>
          </p:cNvPicPr>
          <p:nvPr/>
        </p:nvPicPr>
        <p:blipFill>
          <a:blip r:embed="rId2"/>
          <a:stretch>
            <a:fillRect/>
          </a:stretch>
        </p:blipFill>
        <p:spPr>
          <a:xfrm>
            <a:off x="530352" y="2880360"/>
            <a:ext cx="685800" cy="685800"/>
          </a:xfrm>
          <a:prstGeom prst="rect">
            <a:avLst/>
          </a:prstGeom>
        </p:spPr>
      </p:pic>
      <p:sp>
        <p:nvSpPr>
          <p:cNvPr id="7" name="Text 3"/>
          <p:cNvSpPr txBox="1"/>
          <p:nvPr/>
        </p:nvSpPr>
        <p:spPr>
          <a:xfrm>
            <a:off x="1463040" y="283464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Termin anlegen</a:t>
            </a:r>
            <a:endParaRPr lang="en-US" sz="2000" dirty="0"/>
          </a:p>
        </p:txBody>
      </p:sp>
      <p:sp>
        <p:nvSpPr>
          <p:cNvPr id="8" name="Text 4"/>
          <p:cNvSpPr txBox="1"/>
          <p:nvPr/>
        </p:nvSpPr>
        <p:spPr>
          <a:xfrm>
            <a:off x="1463040" y="321868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Titel, Thema und Zeit wählen. Das dauert wenige Minuten.</a:t>
            </a:r>
            <a:endParaRPr lang="en-US" sz="1400" dirty="0"/>
          </a:p>
        </p:txBody>
      </p:sp>
      <p:pic>
        <p:nvPicPr>
          <p:cNvPr id="9" name="Image 2" descr="/tmp/deck/ic/video_m.png">    </p:cNvPr>
          <p:cNvPicPr>
            <a:picLocks noChangeAspect="1"/>
          </p:cNvPicPr>
          <p:nvPr/>
        </p:nvPicPr>
        <p:blipFill>
          <a:blip r:embed="rId3"/>
          <a:stretch>
            <a:fillRect/>
          </a:stretch>
        </p:blipFill>
        <p:spPr>
          <a:xfrm>
            <a:off x="530352" y="3840480"/>
            <a:ext cx="685800" cy="685800"/>
          </a:xfrm>
          <a:prstGeom prst="rect">
            <a:avLst/>
          </a:prstGeom>
        </p:spPr>
      </p:pic>
      <p:sp>
        <p:nvSpPr>
          <p:cNvPr id="10" name="Text 5"/>
          <p:cNvSpPr txBox="1"/>
          <p:nvPr/>
        </p:nvSpPr>
        <p:spPr>
          <a:xfrm>
            <a:off x="1463040" y="379476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Teams-Link einfügen</a:t>
            </a:r>
            <a:endParaRPr lang="en-US" sz="2000" dirty="0"/>
          </a:p>
        </p:txBody>
      </p:sp>
      <p:sp>
        <p:nvSpPr>
          <p:cNvPr id="11" name="Text 6"/>
          <p:cNvSpPr txBox="1"/>
          <p:nvPr/>
        </p:nvSpPr>
        <p:spPr>
          <a:xfrm>
            <a:off x="1463040" y="417880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Eine Teams-Besprechung genügt. Mehr Technik braucht es nicht.</a:t>
            </a:r>
            <a:endParaRPr lang="en-US" sz="1400" dirty="0"/>
          </a:p>
        </p:txBody>
      </p:sp>
      <p:pic>
        <p:nvPicPr>
          <p:cNvPr id="12" name="Image 3" descr="/tmp/deck/ic/people_m.png">    </p:cNvPr>
          <p:cNvPicPr>
            <a:picLocks noChangeAspect="1"/>
          </p:cNvPicPr>
          <p:nvPr/>
        </p:nvPicPr>
        <p:blipFill>
          <a:blip r:embed="rId4"/>
          <a:stretch>
            <a:fillRect/>
          </a:stretch>
        </p:blipFill>
        <p:spPr>
          <a:xfrm>
            <a:off x="530352" y="4800600"/>
            <a:ext cx="685800" cy="685800"/>
          </a:xfrm>
          <a:prstGeom prst="rect">
            <a:avLst/>
          </a:prstGeom>
        </p:spPr>
      </p:pic>
      <p:sp>
        <p:nvSpPr>
          <p:cNvPr id="13" name="Text 7"/>
          <p:cNvSpPr txBox="1"/>
          <p:nvPr/>
        </p:nvSpPr>
        <p:spPr>
          <a:xfrm>
            <a:off x="1463040" y="475488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Gastgeber sein</a:t>
            </a:r>
            <a:endParaRPr lang="en-US" sz="2000" dirty="0"/>
          </a:p>
        </p:txBody>
      </p:sp>
      <p:sp>
        <p:nvSpPr>
          <p:cNvPr id="14" name="Text 8"/>
          <p:cNvSpPr txBox="1"/>
          <p:nvPr/>
        </p:nvSpPr>
        <p:spPr>
          <a:xfrm>
            <a:off x="1463040" y="513892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Kolleginnen und Kollegen melden sich an. Sie erzählen, zeigen, diskutieren.</a:t>
            </a:r>
            <a:endParaRPr lang="en-US" sz="1400" dirty="0"/>
          </a:p>
        </p:txBody>
      </p:sp>
      <p:sp>
        <p:nvSpPr>
          <p:cNvPr id="15" name="Text 9"/>
          <p:cNvSpPr txBox="1"/>
          <p:nvPr/>
        </p:nvSpPr>
        <p:spPr>
          <a:xfrm>
            <a:off x="530352" y="5669280"/>
            <a:ext cx="7132320" cy="36576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Dienstlich: Beratung, Vertrieb, Produkte. Privat: Sport, Reisen, Fotografie, Kochen.</a:t>
            </a:r>
            <a:endParaRPr lang="en-US" sz="1400" dirty="0"/>
          </a:p>
        </p:txBody>
      </p:sp>
      <p:sp>
        <p:nvSpPr>
          <p:cNvPr id="16" name="Shape 10"/>
          <p:cNvSpPr/>
          <p:nvPr/>
        </p:nvSpPr>
        <p:spPr>
          <a:xfrm>
            <a:off x="530352" y="6217920"/>
            <a:ext cx="3017520" cy="457200"/>
          </a:xfrm>
          <a:prstGeom prst="rect">
            <a:avLst/>
          </a:prstGeom>
          <a:solidFill>
            <a:srgbClr val="00DCDC"/>
          </a:solidFill>
          <a:ln w="12700">
            <a:solidFill>
              <a:srgbClr val="00DCDC"/>
            </a:solidFill>
            <a:prstDash val="solid"/>
          </a:ln>
        </p:spPr>
      </p:sp>
      <p:sp>
        <p:nvSpPr>
          <p:cNvPr id="17" name="Text 11"/>
          <p:cNvSpPr txBox="1"/>
          <p:nvPr/>
        </p:nvSpPr>
        <p:spPr>
          <a:xfrm>
            <a:off x="530352" y="6217920"/>
            <a:ext cx="3017520" cy="457200"/>
          </a:xfrm>
          <a:prstGeom prst="rect">
            <a:avLst/>
          </a:prstGeom>
          <a:noFill/>
          <a:ln/>
        </p:spPr>
        <p:txBody>
          <a:bodyPr wrap="square" lIns="0" tIns="0" rIns="0" bIns="0" rtlCol="0" anchor="ctr"/>
          <a:lstStyle/>
          <a:p>
            <a:pPr algn="ctr" indent="0" marL="0">
              <a:buNone/>
            </a:pPr>
            <a:r>
              <a:rPr lang="en-US" sz="1600" b="1" dirty="0">
                <a:solidFill>
                  <a:srgbClr val="001957"/>
                </a:solidFill>
                <a:latin typeface="Arial" pitchFamily="34" charset="0"/>
                <a:ea typeface="Arial" pitchFamily="34" charset="-122"/>
                <a:cs typeface="Arial" pitchFamily="34" charset="-120"/>
              </a:rPr>
              <a:t>Jetzt Termin anbieten</a:t>
            </a:r>
            <a:endParaRPr lang="en-US" sz="1600" dirty="0"/>
          </a:p>
        </p:txBody>
      </p:sp>
      <p:sp>
        <p:nvSpPr>
          <p:cNvPr id="18" name="Text 12"/>
          <p:cNvSpPr txBox="1"/>
          <p:nvPr/>
        </p:nvSpPr>
        <p:spPr>
          <a:xfrm>
            <a:off x="3749040" y="621792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LearnTogether@AD</a:t>
            </a:r>
            <a:endParaRPr lang="en-US" sz="1400" dirty="0"/>
          </a:p>
        </p:txBody>
      </p:sp>
      <p:pic>
        <p:nvPicPr>
          <p:cNvPr id="19" name="Image 4" descr="/tmp/deck/logo_w.png">    </p:cNvPr>
          <p:cNvPicPr>
            <a:picLocks noChangeAspect="1"/>
          </p:cNvPicPr>
          <p:nvPr/>
        </p:nvPicPr>
        <p:blipFill>
          <a:blip r:embed="rId5"/>
          <a:stretch>
            <a:fillRect/>
          </a:stretch>
        </p:blipFill>
        <p:spPr>
          <a:xfrm>
            <a:off x="10881360" y="6236208"/>
            <a:ext cx="822960" cy="33709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926080"/>
            <a:ext cx="5303520" cy="82296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Vielen Dank</a:t>
            </a:r>
            <a:endParaRPr lang="en-US" sz="4000" dirty="0"/>
          </a:p>
        </p:txBody>
      </p:sp>
      <p:sp>
        <p:nvSpPr>
          <p:cNvPr id="5" name="Text 1"/>
          <p:cNvSpPr txBox="1"/>
          <p:nvPr/>
        </p:nvSpPr>
        <p:spPr>
          <a:xfrm>
            <a:off x="539496" y="3931920"/>
            <a:ext cx="5303520" cy="13716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Fragen, Ideen und Anregungen?</a:t>
            </a:r>
            <a:endParaRPr lang="en-US" sz="2200" dirty="0"/>
          </a:p>
          <a:p>
            <a:pPr indent="0" marL="0">
              <a:buNone/>
            </a:pPr>
            <a:r>
              <a:rPr lang="en-US" sz="2200" b="1" dirty="0">
                <a:solidFill>
                  <a:srgbClr val="FFFFFF"/>
                </a:solidFill>
                <a:latin typeface="Arial" pitchFamily="34" charset="0"/>
                <a:ea typeface="Arial" pitchFamily="34" charset="-122"/>
                <a:cs typeface="Arial" pitchFamily="34" charset="-120"/>
              </a:rPr>
              <a:t>Gemeinsam machen wir aus Wissen im Haus Lernen im Team.</a:t>
            </a:r>
            <a:endParaRPr lang="en-US" sz="2200" dirty="0"/>
          </a:p>
        </p:txBody>
      </p:sp>
      <p:sp>
        <p:nvSpPr>
          <p:cNvPr id="6" name="Text 2"/>
          <p:cNvSpPr txBox="1"/>
          <p:nvPr/>
        </p:nvSpPr>
        <p:spPr>
          <a:xfrm>
            <a:off x="539496" y="5394960"/>
            <a:ext cx="5303520" cy="54864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pic>
        <p:nvPicPr>
          <p:cNvPr id="7"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Anhang: der Vergleich im Überblick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Was LearnTogether@AD übernimmt und was es anders macht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1463040"/>
                <a:gridCol w="2194560"/>
                <a:gridCol w="2194560"/>
                <a:gridCol w="2377440"/>
                <a:gridCol w="2926080"/>
              </a:tblGrid>
              <a:tr h="457200">
                <a:tc>
                  <a:txBody>
                    <a:bodyPr/>
                    <a:lstStyle/>
                    <a:p>
                      <a:pPr indent="0" marL="0">
                        <a:buNone/>
                      </a:pP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Telekom LEX</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Bosch Club</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DATEV wDw</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LearnTogether@AD</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109DA8"/>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Wer bietet an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freiwillig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ohne Freigabe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mit zentralem Rahmen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Kolleginnen und Kollegen, mit Rahmen durch die Administration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Technik</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Netzwerk mit Sessions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SharePoint-Kalender und Teams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Plattform wDw</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Web-App mit Katalog, Teams für die Termine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234440">
                <a:tc>
                  <a:txBody>
                    <a:bodyPr/>
                    <a:lstStyle/>
                    <a:p>
                      <a:pPr indent="0" marL="0">
                        <a:buNone/>
                      </a:pPr>
                      <a:r>
                        <a:rPr lang="en-US" sz="1200" b="1" dirty="0">
                          <a:solidFill>
                            <a:srgbClr val="001957"/>
                          </a:solidFill>
                          <a:latin typeface="Arial" pitchFamily="34" charset="0"/>
                          <a:ea typeface="Arial" pitchFamily="34" charset="-122"/>
                          <a:cs typeface="Arial" pitchFamily="34" charset="-120"/>
                        </a:rPr>
                        <a:t>Besonderheit</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Größte Lerngemeinschaft bei der Telekom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Einfacher Start, schnelles Wachstum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Communities of Practice, Barcamps, Lernmentoring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Feste Zeitfenster, dienstlich und privat, IDD-Anrechnung als Ziel</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bl>
          </a:graphicData>
        </a:graphic>
      </p:graphicFrame>
      <p:sp>
        <p:nvSpPr>
          <p:cNvPr id="9" name="Text 4"/>
          <p:cNvSpPr txBox="1"/>
          <p:nvPr/>
        </p:nvSpPr>
        <p:spPr>
          <a:xfrm>
            <a:off x="530352" y="5943600"/>
            <a:ext cx="11155680" cy="274320"/>
          </a:xfrm>
          <a:prstGeom prst="rect">
            <a:avLst/>
          </a:prstGeom>
          <a:noFill/>
          <a:ln/>
        </p:spPr>
        <p:txBody>
          <a:bodyPr wrap="square" lIns="0" tIns="0" rIns="0" bIns="0" rtlCol="0" anchor="t"/>
          <a:lstStyle/>
          <a:p>
            <a:pPr indent="0" marL="0">
              <a:buNone/>
            </a:pPr>
            <a:r>
              <a:rPr lang="en-US" sz="1100" dirty="0">
                <a:solidFill>
                  <a:srgbClr val="707070"/>
                </a:solidFill>
                <a:latin typeface="Arial" pitchFamily="34" charset="0"/>
                <a:ea typeface="Arial" pitchFamily="34" charset="-122"/>
                <a:cs typeface="Arial" pitchFamily="34" charset="-120"/>
              </a:rPr>
              <a:t>Quellen: Telekom, Bosch Club (LernXP), DATEV (Springer, DATEV-Karriereblog). Stand der Veröffentlichungen, siehe Quellenfolie.</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Quellen und Hinweise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Anhang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Text 4"/>
          <p:cNvSpPr txBox="1"/>
          <p:nvPr/>
        </p:nvSpPr>
        <p:spPr>
          <a:xfrm>
            <a:off x="530352" y="1463040"/>
            <a:ext cx="11155680" cy="4754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Telekom: LEX, Lernen von Experten. telekom.com (Blog „Kleine Idee, große Wirkung“; LEX-Datenblatt; CR-Bericht 2024/2025). Zahlen: ca. 18.000 Mitglieder, über 6.500 Sessions, über 52.000 Teilnahmen.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Bosch Club: LernXP (lernxp.de), „Der Bosch Club“, Januar und Februar 2024. Start Oktober 2022, rund 2.200 Sessions, SharePoint-Kalender plus Teams, kein Freigabeverfahren.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DATEV: „Wenn Datev wüsste, was Datev weiß“ (wDw), Communities of Practice, Barcamps, Lernmentoring. Springer (Gruppe. Interaktion. Organisation, 2023), DATEV-Karriereblog (2024), colearn.de.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IDD: 15 Stunden Weiterbildung im Jahr, Nachweis fünf Jahre. Quellen: IHK-FAQ zur Weiterbildungsverpflichtung, Haufe Akademie, Brancheninitiative gut beraten.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Adult Education Survey 2022, Weiterbildungsverhalten in Deutschland, BMBF 2024: 58 Prozent Beteiligung.</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70:20:10 und informelles Lernen: Clardy (2018), „70-20-10 and the Dominance of Informal Learning“; Wenger (1998), „Communities of Practice“.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Mitbestimmung: § 87 Abs. 1 Nr. 6 BetrVG, technische Einrichtungen (u. a. Haufe, Kluge Seminare).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Alle Abbildungen der Plattform zeigen Beispieldaten. Fahrplan und Schutzmaßnahmen sind Vorschläge.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R+V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LearnTogether@AD: Voneinander lernen, miteinander wachsen</dc:title>
  <dc:subject>PptxGenJS Presentation</dc:subject>
  <dc:creator>Training &amp; Entwicklung Vertrieb (VH-VP-TV)</dc:creator>
  <cp:lastModifiedBy>Training &amp; Entwicklung Vertrieb (VH-VP-TV)</cp:lastModifiedBy>
  <cp:revision>1</cp:revision>
  <dcterms:created xsi:type="dcterms:W3CDTF">2026-10-01T20:19:24Z</dcterms:created>
  <dcterms:modified xsi:type="dcterms:W3CDTF">2026-10-01T20:19:24Z</dcterms:modified>
</cp:coreProperties>
</file>