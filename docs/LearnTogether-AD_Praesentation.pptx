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führe in sechs Schritten durch das Thema. Am Ende steht eine klare Bitte um Freigabe für den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die Idee in einem Satz. Alles Weitere in dieser Präsentation erklärt, wie wir sie umsetzen und absichern.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Wer sich anmeldet, erhält einen Buchungscode und eine Kalenderdatei mit dem Teams-Link. Wer anbietet, erhält einen Veranstaltungscode für die Teilnehmerliste.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Filter helfen bei Art, Dauer und Tageszeit. Chips zeigen, wenn ein Termin fast oder ganz ausgebucht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Anmeldefenster stehen Beschreibung und Termin. Nach der Anmeldung erscheinen Teams-Link, Kalenderdatei und Buchungscode. Der Buchungscode ist der Schlüssel, um die Anmeldung wieder aufzurufen oder zu stornieren.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fünf Abschnitten: wer, worum, wann, was und Teams-Link. Die Plattform prüft Zeitfenster und Dauer. Nach dem Speichern erhält die anbietende Person einen Veranstaltungscode.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IDD verlangt 15 Stunden Weiterbildung im Jahr. Anerkannt sind unter anderem interne Veranstaltungen und Selbststudium mit nachweisbarer Lernerfolgskontrolle; Nachweise sind fünf Jahre aufzubewahren. Unser Ziel ist, dass dienstliche Termine mit IDD-fähigen Inhalten angerechnet werden können. Dafür gibt es konzeptionelle und technische Hürden, die wir schnell klären wollen. Die Fragen auf der Folie sind offene Punkte, keine Festlegungen.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Plattform arbeitet sparsam mit Daten: Name, E-Mail-Adresse und Veranstaltungsdaten. Es gibt keine Benutzerkonten und keinen E-Mail-Versand. Die Statistik wertet Zahlen aus, nicht Personen. Trotzdem gilt: Nach § 87 Absatz 1 Nummer 6 BetrVG unterliegt nahezu jedes IT-System, das Beschäftigtendaten verarbeitet, der Mitbestimmung. Wir bitten deshalb um die Einleitung des Verfahrens und schlagen eine Regelung vor. Löschfristen sind als Vorschlag zu verstehen, die technische Umsetzung folgt.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8 Kennzahlen und 13 Auswertungen mit PDF-Export. Wir betrachten Termine pro Monat, Teilnehmende, Auslastung und Themen. Die Abbildung zeigt Beispieldaten. Die Auswertung bleibt aggregiert.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mit einem kleinen Kreis von Anbietenden. In Phase 2 klären wir die IDD-Anrechnung und werten aus. In Phase 3 bauen wir aus.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Wir starten klein, lernen schnell und binden alle Beteiligten ein. Der Aufwand für Training &amp; Entwicklung ist überschaubar, weil die Plattform schlank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3.png"/><Relationship Id="rId6" Type="http://schemas.openxmlformats.org/officeDocument/2006/relationships/image" Target="../media/image-11-6.png"/><Relationship Id="rId7" Type="http://schemas.openxmlformats.org/officeDocument/2006/relationships/image" Target="../media/image-11-3.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01.10.2026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Worum es heute geht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Sechs Schritte von der Idee bis zur Entscheidung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600200"/>
            <a:ext cx="5394960" cy="1234440"/>
          </a:xfrm>
          <a:prstGeom prst="rect">
            <a:avLst/>
          </a:prstGeom>
          <a:solidFill>
            <a:srgbClr val="F5F5F5"/>
          </a:solidFill>
          <a:ln w="12700">
            <a:solidFill>
              <a:srgbClr val="F5F5F5"/>
            </a:solidFill>
            <a:prstDash val="solid"/>
          </a:ln>
        </p:spPr>
      </p:sp>
      <p:sp>
        <p:nvSpPr>
          <p:cNvPr id="9" name="Shape 5"/>
          <p:cNvSpPr/>
          <p:nvPr/>
        </p:nvSpPr>
        <p:spPr>
          <a:xfrm>
            <a:off x="804672" y="1901952"/>
            <a:ext cx="640080" cy="640080"/>
          </a:xfrm>
          <a:prstGeom prst="ellipse">
            <a:avLst/>
          </a:prstGeom>
          <a:solidFill>
            <a:srgbClr val="00DCDC"/>
          </a:solidFill>
          <a:ln w="12700">
            <a:solidFill>
              <a:srgbClr val="00DCDC"/>
            </a:solidFill>
            <a:prstDash val="solid"/>
          </a:ln>
        </p:spPr>
      </p:sp>
      <p:sp>
        <p:nvSpPr>
          <p:cNvPr id="10" name="Text 6"/>
          <p:cNvSpPr txBox="1"/>
          <p:nvPr/>
        </p:nvSpPr>
        <p:spPr>
          <a:xfrm>
            <a:off x="804672" y="1901952"/>
            <a:ext cx="640080" cy="640080"/>
          </a:xfrm>
          <a:prstGeom prst="rect">
            <a:avLst/>
          </a:prstGeom>
          <a:noFill/>
          <a:ln/>
        </p:spPr>
        <p:txBody>
          <a:bodyPr wrap="square" lIns="0" tIns="0" rIns="0" bIns="0" rtlCol="0" anchor="ctr"/>
          <a:lstStyle/>
          <a:p>
            <a:pPr algn="ctr" indent="0" marL="0">
              <a:buNone/>
            </a:pPr>
            <a:r>
              <a:rPr lang="en-US" sz="2400" b="1" dirty="0">
                <a:solidFill>
                  <a:srgbClr val="001957"/>
                </a:solidFill>
                <a:latin typeface="Arial" pitchFamily="34" charset="0"/>
                <a:ea typeface="Arial" pitchFamily="34" charset="-122"/>
                <a:cs typeface="Arial" pitchFamily="34" charset="-120"/>
              </a:rPr>
              <a:t>1</a:t>
            </a:r>
            <a:endParaRPr lang="en-US" sz="2400" dirty="0"/>
          </a:p>
        </p:txBody>
      </p:sp>
      <p:sp>
        <p:nvSpPr>
          <p:cNvPr id="11" name="Text 7"/>
          <p:cNvSpPr txBox="1"/>
          <p:nvPr/>
        </p:nvSpPr>
        <p:spPr>
          <a:xfrm>
            <a:off x="1719072" y="1856232"/>
            <a:ext cx="40233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Warum sich Lernen verändert</a:t>
            </a:r>
            <a:endParaRPr lang="en-US" sz="2000" dirty="0"/>
          </a:p>
        </p:txBody>
      </p:sp>
      <p:sp>
        <p:nvSpPr>
          <p:cNvPr id="12" name="Text 8"/>
          <p:cNvSpPr txBox="1"/>
          <p:nvPr/>
        </p:nvSpPr>
        <p:spPr>
          <a:xfrm>
            <a:off x="1719072" y="2276856"/>
            <a:ext cx="4023360" cy="45720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Ausgangslage und Begriffe</a:t>
            </a:r>
            <a:endParaRPr lang="en-US" sz="1400" dirty="0"/>
          </a:p>
        </p:txBody>
      </p:sp>
      <p:sp>
        <p:nvSpPr>
          <p:cNvPr id="13" name="Shape 9"/>
          <p:cNvSpPr/>
          <p:nvPr/>
        </p:nvSpPr>
        <p:spPr>
          <a:xfrm>
            <a:off x="6199632" y="1600200"/>
            <a:ext cx="5394960" cy="1234440"/>
          </a:xfrm>
          <a:prstGeom prst="rect">
            <a:avLst/>
          </a:prstGeom>
          <a:solidFill>
            <a:srgbClr val="F5F5F5"/>
          </a:solidFill>
          <a:ln w="12700">
            <a:solidFill>
              <a:srgbClr val="F5F5F5"/>
            </a:solidFill>
            <a:prstDash val="solid"/>
          </a:ln>
        </p:spPr>
      </p:sp>
      <p:sp>
        <p:nvSpPr>
          <p:cNvPr id="14" name="Shape 10"/>
          <p:cNvSpPr/>
          <p:nvPr/>
        </p:nvSpPr>
        <p:spPr>
          <a:xfrm>
            <a:off x="6473952" y="1901952"/>
            <a:ext cx="640080" cy="640080"/>
          </a:xfrm>
          <a:prstGeom prst="ellipse">
            <a:avLst/>
          </a:prstGeom>
          <a:solidFill>
            <a:srgbClr val="00DCDC"/>
          </a:solidFill>
          <a:ln w="12700">
            <a:solidFill>
              <a:srgbClr val="00DCDC"/>
            </a:solidFill>
            <a:prstDash val="solid"/>
          </a:ln>
        </p:spPr>
      </p:sp>
      <p:sp>
        <p:nvSpPr>
          <p:cNvPr id="15" name="Text 11"/>
          <p:cNvSpPr txBox="1"/>
          <p:nvPr/>
        </p:nvSpPr>
        <p:spPr>
          <a:xfrm>
            <a:off x="6473952" y="1901952"/>
            <a:ext cx="640080" cy="640080"/>
          </a:xfrm>
          <a:prstGeom prst="rect">
            <a:avLst/>
          </a:prstGeom>
          <a:noFill/>
          <a:ln/>
        </p:spPr>
        <p:txBody>
          <a:bodyPr wrap="square" lIns="0" tIns="0" rIns="0" bIns="0" rtlCol="0" anchor="ctr"/>
          <a:lstStyle/>
          <a:p>
            <a:pPr algn="ctr" indent="0" marL="0">
              <a:buNone/>
            </a:pPr>
            <a:r>
              <a:rPr lang="en-US" sz="2400" b="1" dirty="0">
                <a:solidFill>
                  <a:srgbClr val="001957"/>
                </a:solidFill>
                <a:latin typeface="Arial" pitchFamily="34" charset="0"/>
                <a:ea typeface="Arial" pitchFamily="34" charset="-122"/>
                <a:cs typeface="Arial" pitchFamily="34" charset="-120"/>
              </a:rPr>
              <a:t>2</a:t>
            </a:r>
            <a:endParaRPr lang="en-US" sz="2400" dirty="0"/>
          </a:p>
        </p:txBody>
      </p:sp>
      <p:sp>
        <p:nvSpPr>
          <p:cNvPr id="16" name="Text 12"/>
          <p:cNvSpPr txBox="1"/>
          <p:nvPr/>
        </p:nvSpPr>
        <p:spPr>
          <a:xfrm>
            <a:off x="7388352" y="1856232"/>
            <a:ext cx="40233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Was andere erreichen</a:t>
            </a:r>
            <a:endParaRPr lang="en-US" sz="2000" dirty="0"/>
          </a:p>
        </p:txBody>
      </p:sp>
      <p:sp>
        <p:nvSpPr>
          <p:cNvPr id="17" name="Text 13"/>
          <p:cNvSpPr txBox="1"/>
          <p:nvPr/>
        </p:nvSpPr>
        <p:spPr>
          <a:xfrm>
            <a:off x="7388352" y="2276856"/>
            <a:ext cx="4023360" cy="45720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Telekom, Bosch und DATEV im Vergleich</a:t>
            </a:r>
            <a:endParaRPr lang="en-US" sz="1400" dirty="0"/>
          </a:p>
        </p:txBody>
      </p:sp>
      <p:sp>
        <p:nvSpPr>
          <p:cNvPr id="18" name="Shape 14"/>
          <p:cNvSpPr/>
          <p:nvPr/>
        </p:nvSpPr>
        <p:spPr>
          <a:xfrm>
            <a:off x="530352" y="3063240"/>
            <a:ext cx="5394960" cy="1234440"/>
          </a:xfrm>
          <a:prstGeom prst="rect">
            <a:avLst/>
          </a:prstGeom>
          <a:solidFill>
            <a:srgbClr val="F5F5F5"/>
          </a:solidFill>
          <a:ln w="12700">
            <a:solidFill>
              <a:srgbClr val="F5F5F5"/>
            </a:solidFill>
            <a:prstDash val="solid"/>
          </a:ln>
        </p:spPr>
      </p:sp>
      <p:sp>
        <p:nvSpPr>
          <p:cNvPr id="19" name="Shape 15"/>
          <p:cNvSpPr/>
          <p:nvPr/>
        </p:nvSpPr>
        <p:spPr>
          <a:xfrm>
            <a:off x="804672" y="3364992"/>
            <a:ext cx="640080" cy="640080"/>
          </a:xfrm>
          <a:prstGeom prst="ellipse">
            <a:avLst/>
          </a:prstGeom>
          <a:solidFill>
            <a:srgbClr val="00DCDC"/>
          </a:solidFill>
          <a:ln w="12700">
            <a:solidFill>
              <a:srgbClr val="00DCDC"/>
            </a:solidFill>
            <a:prstDash val="solid"/>
          </a:ln>
        </p:spPr>
      </p:sp>
      <p:sp>
        <p:nvSpPr>
          <p:cNvPr id="20" name="Text 16"/>
          <p:cNvSpPr txBox="1"/>
          <p:nvPr/>
        </p:nvSpPr>
        <p:spPr>
          <a:xfrm>
            <a:off x="804672" y="3364992"/>
            <a:ext cx="640080" cy="640080"/>
          </a:xfrm>
          <a:prstGeom prst="rect">
            <a:avLst/>
          </a:prstGeom>
          <a:noFill/>
          <a:ln/>
        </p:spPr>
        <p:txBody>
          <a:bodyPr wrap="square" lIns="0" tIns="0" rIns="0" bIns="0" rtlCol="0" anchor="ctr"/>
          <a:lstStyle/>
          <a:p>
            <a:pPr algn="ctr" indent="0" marL="0">
              <a:buNone/>
            </a:pPr>
            <a:r>
              <a:rPr lang="en-US" sz="2400" b="1" dirty="0">
                <a:solidFill>
                  <a:srgbClr val="001957"/>
                </a:solidFill>
                <a:latin typeface="Arial" pitchFamily="34" charset="0"/>
                <a:ea typeface="Arial" pitchFamily="34" charset="-122"/>
                <a:cs typeface="Arial" pitchFamily="34" charset="-120"/>
              </a:rPr>
              <a:t>3</a:t>
            </a:r>
            <a:endParaRPr lang="en-US" sz="2400" dirty="0"/>
          </a:p>
        </p:txBody>
      </p:sp>
      <p:sp>
        <p:nvSpPr>
          <p:cNvPr id="21" name="Text 17"/>
          <p:cNvSpPr txBox="1"/>
          <p:nvPr/>
        </p:nvSpPr>
        <p:spPr>
          <a:xfrm>
            <a:off x="1719072" y="3319272"/>
            <a:ext cx="40233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Unsere Idee</a:t>
            </a:r>
            <a:endParaRPr lang="en-US" sz="2000" dirty="0"/>
          </a:p>
        </p:txBody>
      </p:sp>
      <p:sp>
        <p:nvSpPr>
          <p:cNvPr id="22" name="Text 18"/>
          <p:cNvSpPr txBox="1"/>
          <p:nvPr/>
        </p:nvSpPr>
        <p:spPr>
          <a:xfrm>
            <a:off x="1719072" y="3739896"/>
            <a:ext cx="4023360" cy="45720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LearnTogether@AD und wie die Plattform funktioniert</a:t>
            </a:r>
            <a:endParaRPr lang="en-US" sz="1400" dirty="0"/>
          </a:p>
        </p:txBody>
      </p:sp>
      <p:sp>
        <p:nvSpPr>
          <p:cNvPr id="23" name="Shape 19"/>
          <p:cNvSpPr/>
          <p:nvPr/>
        </p:nvSpPr>
        <p:spPr>
          <a:xfrm>
            <a:off x="6199632" y="3063240"/>
            <a:ext cx="5394960" cy="1234440"/>
          </a:xfrm>
          <a:prstGeom prst="rect">
            <a:avLst/>
          </a:prstGeom>
          <a:solidFill>
            <a:srgbClr val="F5F5F5"/>
          </a:solidFill>
          <a:ln w="12700">
            <a:solidFill>
              <a:srgbClr val="F5F5F5"/>
            </a:solidFill>
            <a:prstDash val="solid"/>
          </a:ln>
        </p:spPr>
      </p:sp>
      <p:sp>
        <p:nvSpPr>
          <p:cNvPr id="24" name="Shape 20"/>
          <p:cNvSpPr/>
          <p:nvPr/>
        </p:nvSpPr>
        <p:spPr>
          <a:xfrm>
            <a:off x="6473952" y="3364992"/>
            <a:ext cx="640080" cy="640080"/>
          </a:xfrm>
          <a:prstGeom prst="ellipse">
            <a:avLst/>
          </a:prstGeom>
          <a:solidFill>
            <a:srgbClr val="00DCDC"/>
          </a:solidFill>
          <a:ln w="12700">
            <a:solidFill>
              <a:srgbClr val="00DCDC"/>
            </a:solidFill>
            <a:prstDash val="solid"/>
          </a:ln>
        </p:spPr>
      </p:sp>
      <p:sp>
        <p:nvSpPr>
          <p:cNvPr id="25" name="Text 21"/>
          <p:cNvSpPr txBox="1"/>
          <p:nvPr/>
        </p:nvSpPr>
        <p:spPr>
          <a:xfrm>
            <a:off x="6473952" y="3364992"/>
            <a:ext cx="640080" cy="640080"/>
          </a:xfrm>
          <a:prstGeom prst="rect">
            <a:avLst/>
          </a:prstGeom>
          <a:noFill/>
          <a:ln/>
        </p:spPr>
        <p:txBody>
          <a:bodyPr wrap="square" lIns="0" tIns="0" rIns="0" bIns="0" rtlCol="0" anchor="ctr"/>
          <a:lstStyle/>
          <a:p>
            <a:pPr algn="ctr" indent="0" marL="0">
              <a:buNone/>
            </a:pPr>
            <a:r>
              <a:rPr lang="en-US" sz="2400" b="1" dirty="0">
                <a:solidFill>
                  <a:srgbClr val="001957"/>
                </a:solidFill>
                <a:latin typeface="Arial" pitchFamily="34" charset="0"/>
                <a:ea typeface="Arial" pitchFamily="34" charset="-122"/>
                <a:cs typeface="Arial" pitchFamily="34" charset="-120"/>
              </a:rPr>
              <a:t>4</a:t>
            </a:r>
            <a:endParaRPr lang="en-US" sz="2400" dirty="0"/>
          </a:p>
        </p:txBody>
      </p:sp>
      <p:sp>
        <p:nvSpPr>
          <p:cNvPr id="26" name="Text 22"/>
          <p:cNvSpPr txBox="1"/>
          <p:nvPr/>
        </p:nvSpPr>
        <p:spPr>
          <a:xfrm>
            <a:off x="7388352" y="3319272"/>
            <a:ext cx="40233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Rahmen</a:t>
            </a:r>
            <a:endParaRPr lang="en-US" sz="2000" dirty="0"/>
          </a:p>
        </p:txBody>
      </p:sp>
      <p:sp>
        <p:nvSpPr>
          <p:cNvPr id="27" name="Text 23"/>
          <p:cNvSpPr txBox="1"/>
          <p:nvPr/>
        </p:nvSpPr>
        <p:spPr>
          <a:xfrm>
            <a:off x="7388352" y="3739896"/>
            <a:ext cx="4023360" cy="45720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Spielregeln, Rollen, IDD, Datenschutz und Mitbestimmung</a:t>
            </a:r>
            <a:endParaRPr lang="en-US" sz="1400" dirty="0"/>
          </a:p>
        </p:txBody>
      </p:sp>
      <p:sp>
        <p:nvSpPr>
          <p:cNvPr id="28" name="Shape 24"/>
          <p:cNvSpPr/>
          <p:nvPr/>
        </p:nvSpPr>
        <p:spPr>
          <a:xfrm>
            <a:off x="530352" y="4526280"/>
            <a:ext cx="5394960" cy="1234440"/>
          </a:xfrm>
          <a:prstGeom prst="rect">
            <a:avLst/>
          </a:prstGeom>
          <a:solidFill>
            <a:srgbClr val="F5F5F5"/>
          </a:solidFill>
          <a:ln w="12700">
            <a:solidFill>
              <a:srgbClr val="F5F5F5"/>
            </a:solidFill>
            <a:prstDash val="solid"/>
          </a:ln>
        </p:spPr>
      </p:sp>
      <p:sp>
        <p:nvSpPr>
          <p:cNvPr id="29" name="Shape 25"/>
          <p:cNvSpPr/>
          <p:nvPr/>
        </p:nvSpPr>
        <p:spPr>
          <a:xfrm>
            <a:off x="804672" y="4828032"/>
            <a:ext cx="640080" cy="640080"/>
          </a:xfrm>
          <a:prstGeom prst="ellipse">
            <a:avLst/>
          </a:prstGeom>
          <a:solidFill>
            <a:srgbClr val="00DCDC"/>
          </a:solidFill>
          <a:ln w="12700">
            <a:solidFill>
              <a:srgbClr val="00DCDC"/>
            </a:solidFill>
            <a:prstDash val="solid"/>
          </a:ln>
        </p:spPr>
      </p:sp>
      <p:sp>
        <p:nvSpPr>
          <p:cNvPr id="30" name="Text 26"/>
          <p:cNvSpPr txBox="1"/>
          <p:nvPr/>
        </p:nvSpPr>
        <p:spPr>
          <a:xfrm>
            <a:off x="804672" y="4828032"/>
            <a:ext cx="640080" cy="640080"/>
          </a:xfrm>
          <a:prstGeom prst="rect">
            <a:avLst/>
          </a:prstGeom>
          <a:noFill/>
          <a:ln/>
        </p:spPr>
        <p:txBody>
          <a:bodyPr wrap="square" lIns="0" tIns="0" rIns="0" bIns="0" rtlCol="0" anchor="ctr"/>
          <a:lstStyle/>
          <a:p>
            <a:pPr algn="ctr" indent="0" marL="0">
              <a:buNone/>
            </a:pPr>
            <a:r>
              <a:rPr lang="en-US" sz="2400" b="1" dirty="0">
                <a:solidFill>
                  <a:srgbClr val="001957"/>
                </a:solidFill>
                <a:latin typeface="Arial" pitchFamily="34" charset="0"/>
                <a:ea typeface="Arial" pitchFamily="34" charset="-122"/>
                <a:cs typeface="Arial" pitchFamily="34" charset="-120"/>
              </a:rPr>
              <a:t>5</a:t>
            </a:r>
            <a:endParaRPr lang="en-US" sz="2400" dirty="0"/>
          </a:p>
        </p:txBody>
      </p:sp>
      <p:sp>
        <p:nvSpPr>
          <p:cNvPr id="31" name="Text 27"/>
          <p:cNvSpPr txBox="1"/>
          <p:nvPr/>
        </p:nvSpPr>
        <p:spPr>
          <a:xfrm>
            <a:off x="1719072" y="4782312"/>
            <a:ext cx="40233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Start</a:t>
            </a:r>
            <a:endParaRPr lang="en-US" sz="2000" dirty="0"/>
          </a:p>
        </p:txBody>
      </p:sp>
      <p:sp>
        <p:nvSpPr>
          <p:cNvPr id="32" name="Text 28"/>
          <p:cNvSpPr txBox="1"/>
          <p:nvPr/>
        </p:nvSpPr>
        <p:spPr>
          <a:xfrm>
            <a:off x="1719072" y="5202936"/>
            <a:ext cx="4023360" cy="45720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Messen, Fahrplan und Risiken</a:t>
            </a:r>
            <a:endParaRPr lang="en-US" sz="1400" dirty="0"/>
          </a:p>
        </p:txBody>
      </p:sp>
      <p:sp>
        <p:nvSpPr>
          <p:cNvPr id="33" name="Shape 29"/>
          <p:cNvSpPr/>
          <p:nvPr/>
        </p:nvSpPr>
        <p:spPr>
          <a:xfrm>
            <a:off x="6199632" y="4526280"/>
            <a:ext cx="5394960" cy="1234440"/>
          </a:xfrm>
          <a:prstGeom prst="rect">
            <a:avLst/>
          </a:prstGeom>
          <a:solidFill>
            <a:srgbClr val="F5F5F5"/>
          </a:solidFill>
          <a:ln w="12700">
            <a:solidFill>
              <a:srgbClr val="F5F5F5"/>
            </a:solidFill>
            <a:prstDash val="solid"/>
          </a:ln>
        </p:spPr>
      </p:sp>
      <p:sp>
        <p:nvSpPr>
          <p:cNvPr id="34" name="Shape 30"/>
          <p:cNvSpPr/>
          <p:nvPr/>
        </p:nvSpPr>
        <p:spPr>
          <a:xfrm>
            <a:off x="6473952" y="4828032"/>
            <a:ext cx="640080" cy="640080"/>
          </a:xfrm>
          <a:prstGeom prst="ellipse">
            <a:avLst/>
          </a:prstGeom>
          <a:solidFill>
            <a:srgbClr val="00DCDC"/>
          </a:solidFill>
          <a:ln w="12700">
            <a:solidFill>
              <a:srgbClr val="00DCDC"/>
            </a:solidFill>
            <a:prstDash val="solid"/>
          </a:ln>
        </p:spPr>
      </p:sp>
      <p:sp>
        <p:nvSpPr>
          <p:cNvPr id="35" name="Text 31"/>
          <p:cNvSpPr txBox="1"/>
          <p:nvPr/>
        </p:nvSpPr>
        <p:spPr>
          <a:xfrm>
            <a:off x="6473952" y="4828032"/>
            <a:ext cx="640080" cy="640080"/>
          </a:xfrm>
          <a:prstGeom prst="rect">
            <a:avLst/>
          </a:prstGeom>
          <a:noFill/>
          <a:ln/>
        </p:spPr>
        <p:txBody>
          <a:bodyPr wrap="square" lIns="0" tIns="0" rIns="0" bIns="0" rtlCol="0" anchor="ctr"/>
          <a:lstStyle/>
          <a:p>
            <a:pPr algn="ctr" indent="0" marL="0">
              <a:buNone/>
            </a:pPr>
            <a:r>
              <a:rPr lang="en-US" sz="2400" b="1" dirty="0">
                <a:solidFill>
                  <a:srgbClr val="001957"/>
                </a:solidFill>
                <a:latin typeface="Arial" pitchFamily="34" charset="0"/>
                <a:ea typeface="Arial" pitchFamily="34" charset="-122"/>
                <a:cs typeface="Arial" pitchFamily="34" charset="-120"/>
              </a:rPr>
              <a:t>6</a:t>
            </a:r>
            <a:endParaRPr lang="en-US" sz="2400" dirty="0"/>
          </a:p>
        </p:txBody>
      </p:sp>
      <p:sp>
        <p:nvSpPr>
          <p:cNvPr id="36" name="Text 32"/>
          <p:cNvSpPr txBox="1"/>
          <p:nvPr/>
        </p:nvSpPr>
        <p:spPr>
          <a:xfrm>
            <a:off x="7388352" y="4782312"/>
            <a:ext cx="40233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 Entscheidung</a:t>
            </a:r>
            <a:endParaRPr lang="en-US" sz="2000" dirty="0"/>
          </a:p>
        </p:txBody>
      </p:sp>
      <p:sp>
        <p:nvSpPr>
          <p:cNvPr id="37" name="Text 33"/>
          <p:cNvSpPr txBox="1"/>
          <p:nvPr/>
        </p:nvSpPr>
        <p:spPr>
          <a:xfrm>
            <a:off x="7388352" y="5202936"/>
            <a:ext cx="4023360" cy="45720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Was wir von Ihnen brauchen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Kurz gesagt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Lernen von und mit Kolleginnen und Kollegen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4572000"/>
          </a:xfrm>
          <a:prstGeom prst="rect">
            <a:avLst/>
          </a:prstGeom>
          <a:solidFill>
            <a:srgbClr val="001957"/>
          </a:solidFill>
          <a:ln w="12700">
            <a:solidFill>
              <a:srgbClr val="001957"/>
            </a:solidFill>
            <a:prstDash val="solid"/>
          </a:ln>
        </p:spPr>
      </p:sp>
      <p:sp>
        <p:nvSpPr>
          <p:cNvPr id="9" name="Text 5"/>
          <p:cNvSpPr txBox="1"/>
          <p:nvPr/>
        </p:nvSpPr>
        <p:spPr>
          <a:xfrm>
            <a:off x="868680" y="1828800"/>
            <a:ext cx="4754880" cy="274320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Kolleginnen und Kollegen teilen ihr Wissen in kurzen Online-Terminen.</a:t>
            </a:r>
            <a:endParaRPr lang="en-US" sz="2600" dirty="0"/>
          </a:p>
          <a:p>
            <a:pPr indent="0" marL="0">
              <a:buNone/>
            </a:pPr>
            <a:r>
              <a:rPr lang="en-US" sz="1000" b="1" dirty="0">
                <a:solidFill>
                  <a:srgbClr val="FFFFFF"/>
                </a:solidFill>
                <a:latin typeface="Arial" pitchFamily="34" charset="0"/>
                <a:ea typeface="Arial" pitchFamily="34" charset="-122"/>
                <a:cs typeface="Arial" pitchFamily="34" charset="-120"/>
              </a:rPr>
              <a:t> </a:t>
            </a:r>
            <a:endParaRPr lang="en-US" sz="2600" dirty="0"/>
          </a:p>
          <a:p>
            <a:pPr indent="0" marL="0">
              <a:buNone/>
            </a:pPr>
            <a:r>
              <a:rPr lang="en-US" sz="2600" b="1" dirty="0">
                <a:solidFill>
                  <a:srgbClr val="FFFFFF"/>
                </a:solidFill>
                <a:latin typeface="Arial" pitchFamily="34" charset="0"/>
                <a:ea typeface="Arial" pitchFamily="34" charset="-122"/>
                <a:cs typeface="Arial" pitchFamily="34" charset="-120"/>
              </a:rPr>
              <a:t>Alle anderen melden sich an und lernen mit.</a:t>
            </a:r>
            <a:endParaRPr lang="en-US" sz="2600" dirty="0"/>
          </a:p>
        </p:txBody>
      </p:sp>
      <p:sp>
        <p:nvSpPr>
          <p:cNvPr id="10" name="Text 6"/>
          <p:cNvSpPr txBox="1"/>
          <p:nvPr/>
        </p:nvSpPr>
        <p:spPr>
          <a:xfrm>
            <a:off x="868680" y="4663440"/>
            <a:ext cx="4754880" cy="1097280"/>
          </a:xfrm>
          <a:prstGeom prst="rect">
            <a:avLst/>
          </a:prstGeom>
          <a:noFill/>
          <a:ln/>
        </p:spPr>
        <p:txBody>
          <a:bodyPr wrap="square" lIns="0" tIns="0" rIns="0" bIns="0" rtlCol="0" anchor="t"/>
          <a:lstStyle/>
          <a:p>
            <a:pPr indent="0" marL="0">
              <a:buNone/>
            </a:pPr>
            <a:r>
              <a:rPr lang="en-US" sz="1600" dirty="0">
                <a:solidFill>
                  <a:srgbClr val="00DCDC"/>
                </a:solidFill>
                <a:latin typeface="Arial" pitchFamily="34" charset="0"/>
                <a:ea typeface="Arial" pitchFamily="34" charset="-122"/>
                <a:cs typeface="Arial" pitchFamily="34" charset="-120"/>
              </a:rPr>
              <a:t>Dienstlich oder privat. Montags bis freitags, morgens oder abends. Als Pilot für den Außendienst.</a:t>
            </a:r>
            <a:endParaRPr lang="en-US" sz="1600" dirty="0"/>
          </a:p>
        </p:txBody>
      </p:sp>
      <p:sp>
        <p:nvSpPr>
          <p:cNvPr id="11" name="Shape 7"/>
          <p:cNvSpPr/>
          <p:nvPr/>
        </p:nvSpPr>
        <p:spPr>
          <a:xfrm>
            <a:off x="6263640" y="1508760"/>
            <a:ext cx="5394960" cy="1371600"/>
          </a:xfrm>
          <a:prstGeom prst="rect">
            <a:avLst/>
          </a:prstGeom>
          <a:solidFill>
            <a:srgbClr val="F5F5F5"/>
          </a:solidFill>
          <a:ln w="12700">
            <a:solidFill>
              <a:srgbClr val="F5F5F5"/>
            </a:solidFill>
            <a:prstDash val="solid"/>
          </a:ln>
        </p:spPr>
      </p:sp>
      <p:pic>
        <p:nvPicPr>
          <p:cNvPr id="12" name="Image 1" descr="/tmp/deck/ic/people_m.png">    </p:cNvPr>
          <p:cNvPicPr>
            <a:picLocks noChangeAspect="1"/>
          </p:cNvPicPr>
          <p:nvPr/>
        </p:nvPicPr>
        <p:blipFill>
          <a:blip r:embed="rId2"/>
          <a:stretch>
            <a:fillRect/>
          </a:stretch>
        </p:blipFill>
        <p:spPr>
          <a:xfrm>
            <a:off x="6537960" y="1874520"/>
            <a:ext cx="640080" cy="640080"/>
          </a:xfrm>
          <a:prstGeom prst="rect">
            <a:avLst/>
          </a:prstGeom>
        </p:spPr>
      </p:pic>
      <p:sp>
        <p:nvSpPr>
          <p:cNvPr id="13" name="Text 8"/>
          <p:cNvSpPr txBox="1"/>
          <p:nvPr/>
        </p:nvSpPr>
        <p:spPr>
          <a:xfrm>
            <a:off x="7406640" y="1709928"/>
            <a:ext cx="40233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allen für alle</a:t>
            </a:r>
            <a:endParaRPr lang="en-US" sz="2000" dirty="0"/>
          </a:p>
        </p:txBody>
      </p:sp>
      <p:sp>
        <p:nvSpPr>
          <p:cNvPr id="14" name="Text 9"/>
          <p:cNvSpPr txBox="1"/>
          <p:nvPr/>
        </p:nvSpPr>
        <p:spPr>
          <a:xfrm>
            <a:off x="7406640" y="2130552"/>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und jeder kann einen Termin anbieten und an Terminen teilnehmen.</a:t>
            </a:r>
            <a:endParaRPr lang="en-US" sz="1400" dirty="0"/>
          </a:p>
        </p:txBody>
      </p:sp>
      <p:sp>
        <p:nvSpPr>
          <p:cNvPr id="15" name="Shape 10"/>
          <p:cNvSpPr/>
          <p:nvPr/>
        </p:nvSpPr>
        <p:spPr>
          <a:xfrm>
            <a:off x="6263640" y="3063240"/>
            <a:ext cx="5394960" cy="1371600"/>
          </a:xfrm>
          <a:prstGeom prst="rect">
            <a:avLst/>
          </a:prstGeom>
          <a:solidFill>
            <a:srgbClr val="F5F5F5"/>
          </a:solidFill>
          <a:ln w="12700">
            <a:solidFill>
              <a:srgbClr val="F5F5F5"/>
            </a:solidFill>
            <a:prstDash val="solid"/>
          </a:ln>
        </p:spPr>
      </p:sp>
      <p:pic>
        <p:nvPicPr>
          <p:cNvPr id="16" name="Image 2" descr="/tmp/deck/ic/lock_m.png">    </p:cNvPr>
          <p:cNvPicPr>
            <a:picLocks noChangeAspect="1"/>
          </p:cNvPicPr>
          <p:nvPr/>
        </p:nvPicPr>
        <p:blipFill>
          <a:blip r:embed="rId3"/>
          <a:stretch>
            <a:fillRect/>
          </a:stretch>
        </p:blipFill>
        <p:spPr>
          <a:xfrm>
            <a:off x="6537960" y="3429000"/>
            <a:ext cx="640080" cy="640080"/>
          </a:xfrm>
          <a:prstGeom prst="rect">
            <a:avLst/>
          </a:prstGeom>
        </p:spPr>
      </p:pic>
      <p:sp>
        <p:nvSpPr>
          <p:cNvPr id="17" name="Text 11"/>
          <p:cNvSpPr txBox="1"/>
          <p:nvPr/>
        </p:nvSpPr>
        <p:spPr>
          <a:xfrm>
            <a:off x="7406640" y="3264408"/>
            <a:ext cx="40233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Einfach und sicher</a:t>
            </a:r>
            <a:endParaRPr lang="en-US" sz="2000" dirty="0"/>
          </a:p>
        </p:txBody>
      </p:sp>
      <p:sp>
        <p:nvSpPr>
          <p:cNvPr id="18" name="Text 12"/>
          <p:cNvSpPr txBox="1"/>
          <p:nvPr/>
        </p:nvSpPr>
        <p:spPr>
          <a:xfrm>
            <a:off x="7406640" y="3685032"/>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Kein Benutzerkonto, kein E-Mail-Versand. Name und E-Mail genügen.</a:t>
            </a:r>
            <a:endParaRPr lang="en-US" sz="1400" dirty="0"/>
          </a:p>
        </p:txBody>
      </p:sp>
      <p:sp>
        <p:nvSpPr>
          <p:cNvPr id="19" name="Shape 13"/>
          <p:cNvSpPr/>
          <p:nvPr/>
        </p:nvSpPr>
        <p:spPr>
          <a:xfrm>
            <a:off x="6263640" y="4617720"/>
            <a:ext cx="5394960" cy="1371600"/>
          </a:xfrm>
          <a:prstGeom prst="rect">
            <a:avLst/>
          </a:prstGeom>
          <a:solidFill>
            <a:srgbClr val="F5F5F5"/>
          </a:solidFill>
          <a:ln w="12700">
            <a:solidFill>
              <a:srgbClr val="F5F5F5"/>
            </a:solidFill>
            <a:prstDash val="solid"/>
          </a:ln>
        </p:spPr>
      </p:sp>
      <p:pic>
        <p:nvPicPr>
          <p:cNvPr id="20" name="Image 3" descr="/tmp/deck/ic/target_m.png">    </p:cNvPr>
          <p:cNvPicPr>
            <a:picLocks noChangeAspect="1"/>
          </p:cNvPicPr>
          <p:nvPr/>
        </p:nvPicPr>
        <p:blipFill>
          <a:blip r:embed="rId4"/>
          <a:stretch>
            <a:fillRect/>
          </a:stretch>
        </p:blipFill>
        <p:spPr>
          <a:xfrm>
            <a:off x="6537960" y="4983480"/>
            <a:ext cx="640080" cy="640080"/>
          </a:xfrm>
          <a:prstGeom prst="rect">
            <a:avLst/>
          </a:prstGeom>
        </p:spPr>
      </p:pic>
      <p:sp>
        <p:nvSpPr>
          <p:cNvPr id="21" name="Text 14"/>
          <p:cNvSpPr txBox="1"/>
          <p:nvPr/>
        </p:nvSpPr>
        <p:spPr>
          <a:xfrm>
            <a:off x="7406640" y="4818888"/>
            <a:ext cx="40233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Mit Ziel</a:t>
            </a:r>
            <a:endParaRPr lang="en-US" sz="2000" dirty="0"/>
          </a:p>
        </p:txBody>
      </p:sp>
      <p:sp>
        <p:nvSpPr>
          <p:cNvPr id="22" name="Text 15"/>
          <p:cNvSpPr txBox="1"/>
          <p:nvPr/>
        </p:nvSpPr>
        <p:spPr>
          <a:xfrm>
            <a:off x="7406640" y="5239512"/>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Wissen weitergeben, Kontakte knüpfen und Verbundenheit stärken.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Warum sich Lernen verändert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andere Unternehmen erreichen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Es gibt keine Bewertung einzelner Personen.</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Kein Benutzerkonto, Anmeldung in zwei Klicks,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Das verbindet.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ganz ohne Benutzerkonto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Name und E-Mail eingeben.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Buchungscode merken, Termin in den Kalender übernehmen, über den Teams-Link beitreten.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Der Veranstaltungscode zeigt später die Teilnehmerliste.</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Kalenderdatei und Buchungscode erscheinen direkt nach der Anmeldung.</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Katalog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Entdecken wie in einer Mediathek</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6675120" cy="448484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Reihen nach Thema</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Thema hat eine eigene Reihe mit Kacheln.</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Bereich wechseln</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Dienstlich und privat haben eigene Farben.</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Gezielt filtern</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Suche, Art, Thema, Dauer und Tageszeit.</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Sofort sichtbar</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Chips zeigen, wann ein Termin fast oder ganz ausgebucht ist.</a:t>
            </a:r>
            <a:endParaRPr lang="en-US" sz="1400" dirty="0"/>
          </a:p>
        </p:txBody>
      </p:sp>
      <p:sp>
        <p:nvSpPr>
          <p:cNvPr id="17" name="Text 12"/>
          <p:cNvSpPr txBox="1"/>
          <p:nvPr/>
        </p:nvSpPr>
        <p:spPr>
          <a:xfrm>
            <a:off x="530352" y="6144768"/>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Anmelden in zwei Klicks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Danach hat man alles beisammen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buchung.jpg">    </p:cNvPr>
          <p:cNvPicPr>
            <a:picLocks noChangeAspect="1"/>
          </p:cNvPicPr>
          <p:nvPr/>
        </p:nvPicPr>
        <p:blipFill>
          <a:blip r:embed="rId2"/>
          <a:stretch>
            <a:fillRect/>
          </a:stretch>
        </p:blipFill>
        <p:spPr>
          <a:xfrm>
            <a:off x="530352" y="1463040"/>
            <a:ext cx="5486400" cy="2481111"/>
          </a:xfrm>
          <a:prstGeom prst="rect">
            <a:avLst/>
          </a:prstGeom>
        </p:spPr>
      </p:pic>
      <p:pic>
        <p:nvPicPr>
          <p:cNvPr id="9" name="Image 2" descr="/home/user/ruv_learntogether/src/handbuch/shots/angemeldet.jpg">    </p:cNvPr>
          <p:cNvPicPr>
            <a:picLocks noChangeAspect="1"/>
          </p:cNvPicPr>
          <p:nvPr/>
        </p:nvPicPr>
        <p:blipFill>
          <a:blip r:embed="rId3"/>
          <a:stretch>
            <a:fillRect/>
          </a:stretch>
        </p:blipFill>
        <p:spPr>
          <a:xfrm>
            <a:off x="6199632" y="1463040"/>
            <a:ext cx="5486400" cy="2551001"/>
          </a:xfrm>
          <a:prstGeom prst="rect">
            <a:avLst/>
          </a:prstGeom>
        </p:spPr>
      </p:pic>
      <p:sp>
        <p:nvSpPr>
          <p:cNvPr id="10" name="Text 4"/>
          <p:cNvSpPr txBox="1"/>
          <p:nvPr/>
        </p:nvSpPr>
        <p:spPr>
          <a:xfrm>
            <a:off x="530352" y="4114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Name und E-Mail genügen</a:t>
            </a:r>
            <a:endParaRPr lang="en-US" sz="1800" dirty="0"/>
          </a:p>
        </p:txBody>
      </p:sp>
      <p:sp>
        <p:nvSpPr>
          <p:cNvPr id="11" name="Text 5"/>
          <p:cNvSpPr txBox="1"/>
          <p:nvPr/>
        </p:nvSpPr>
        <p:spPr>
          <a:xfrm>
            <a:off x="530352" y="4526280"/>
            <a:ext cx="5486400" cy="82296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Platz wird sofort geprüft und reserviert. Ist der Termin voll, sagt die Plattform das ehrlich.</a:t>
            </a:r>
            <a:endParaRPr lang="en-US" sz="1400" dirty="0"/>
          </a:p>
        </p:txBody>
      </p:sp>
      <p:sp>
        <p:nvSpPr>
          <p:cNvPr id="12" name="Text 6"/>
          <p:cNvSpPr txBox="1"/>
          <p:nvPr/>
        </p:nvSpPr>
        <p:spPr>
          <a:xfrm>
            <a:off x="6199632" y="4114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 Kalenderdatei und Code</a:t>
            </a:r>
            <a:endParaRPr lang="en-US" sz="1800" dirty="0"/>
          </a:p>
        </p:txBody>
      </p:sp>
      <p:sp>
        <p:nvSpPr>
          <p:cNvPr id="13" name="Text 7"/>
          <p:cNvSpPr txBox="1"/>
          <p:nvPr/>
        </p:nvSpPr>
        <p:spPr>
          <a:xfrm>
            <a:off x="6199632" y="4526280"/>
            <a:ext cx="5486400" cy="82296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Buchungscode lässt sich die Anmeldung später wieder öffnen oder stornieren.</a:t>
            </a:r>
            <a:endParaRPr lang="en-US" sz="1400" dirty="0"/>
          </a:p>
        </p:txBody>
      </p:sp>
      <p:sp>
        <p:nvSpPr>
          <p:cNvPr id="14" name="Shape 8"/>
          <p:cNvSpPr/>
          <p:nvPr/>
        </p:nvSpPr>
        <p:spPr>
          <a:xfrm>
            <a:off x="530352" y="5257800"/>
            <a:ext cx="11155680" cy="731520"/>
          </a:xfrm>
          <a:prstGeom prst="rect">
            <a:avLst/>
          </a:prstGeom>
          <a:solidFill>
            <a:srgbClr val="001957"/>
          </a:solidFill>
          <a:ln w="12700">
            <a:solidFill>
              <a:srgbClr val="001957"/>
            </a:solidFill>
            <a:prstDash val="solid"/>
          </a:ln>
        </p:spPr>
      </p:sp>
      <p:sp>
        <p:nvSpPr>
          <p:cNvPr id="15" name="Text 9"/>
          <p:cNvSpPr txBox="1"/>
          <p:nvPr/>
        </p:nvSpPr>
        <p:spPr>
          <a:xfrm>
            <a:off x="822960" y="5257800"/>
            <a:ext cx="1060704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Kein E-Mail-Versand: Alle Angaben stehen direkt nach der Anmeldung zur Verfügung und später unter „Meine Anmeldung“.</a:t>
            </a:r>
            <a:endParaRPr lang="en-US" sz="1600" dirty="0"/>
          </a:p>
        </p:txBody>
      </p:sp>
      <p:sp>
        <p:nvSpPr>
          <p:cNvPr id="16" name="Text 10"/>
          <p:cNvSpPr txBox="1"/>
          <p:nvPr/>
        </p:nvSpPr>
        <p:spPr>
          <a:xfrm>
            <a:off x="530352" y="6053328"/>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Wer, 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Name, 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quadratisches 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Veranstaltungscode</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Er zeigt später die Teilnehmerliste mit den Namen.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Anmeldung mit Name und E-Mail</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und bearbeiten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Teilnehmerliste mit Veranstaltungscode</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Arten und Texte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und Anmeldungen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 Anrechnung auf die IDD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Dienstliche Veranstaltungen mit passenden Inhalten sollen zählen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017520" cy="1005840"/>
          </a:xfrm>
          <a:prstGeom prst="rect">
            <a:avLst/>
          </a:prstGeom>
          <a:noFill/>
          <a:ln/>
        </p:spPr>
        <p:txBody>
          <a:bodyPr wrap="square" lIns="0" tIns="0" rIns="0" bIns="0" rtlCol="0" anchor="t"/>
          <a:lstStyle/>
          <a:p>
            <a:pPr indent="0" marL="0">
              <a:buNone/>
            </a:pPr>
            <a:r>
              <a:rPr lang="en-US" sz="6600" b="1" dirty="0">
                <a:solidFill>
                  <a:srgbClr val="F79506"/>
                </a:solidFill>
                <a:latin typeface="Arial" pitchFamily="34" charset="0"/>
                <a:ea typeface="Arial" pitchFamily="34" charset="-122"/>
                <a:cs typeface="Arial" pitchFamily="34" charset="-120"/>
              </a:rPr>
              <a:t>15</a:t>
            </a:r>
            <a:endParaRPr lang="en-US" sz="6600" dirty="0"/>
          </a:p>
        </p:txBody>
      </p:sp>
      <p:sp>
        <p:nvSpPr>
          <p:cNvPr id="10" name="Text 6"/>
          <p:cNvSpPr txBox="1"/>
          <p:nvPr/>
        </p:nvSpPr>
        <p:spPr>
          <a:xfrm>
            <a:off x="822960" y="2834640"/>
            <a:ext cx="301752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Stunden Weiterbildung im Jahr verlangt die IDD für alle, die Versicherungen vermitteln oder beraten.</a:t>
            </a:r>
            <a:endParaRPr lang="en-US" sz="1500" dirty="0"/>
          </a:p>
        </p:txBody>
      </p:sp>
      <p:sp>
        <p:nvSpPr>
          <p:cNvPr id="11" name="Text 7"/>
          <p:cNvSpPr txBox="1"/>
          <p:nvPr/>
        </p:nvSpPr>
        <p:spPr>
          <a:xfrm>
            <a:off x="822960" y="4343400"/>
            <a:ext cx="3017520" cy="1554480"/>
          </a:xfrm>
          <a:prstGeom prst="rect">
            <a:avLst/>
          </a:prstGeom>
          <a:noFill/>
          <a:ln/>
        </p:spPr>
        <p:txBody>
          <a:bodyPr wrap="square" lIns="0" tIns="0" rIns="0" bIns="0" rtlCol="0" anchor="t"/>
          <a:lstStyle/>
          <a:p>
            <a:pPr indent="0" marL="0">
              <a:buNone/>
            </a:pPr>
            <a:r>
              <a:rPr lang="en-US" sz="1200" dirty="0">
                <a:solidFill>
                  <a:srgbClr val="00DCDC"/>
                </a:solidFill>
                <a:latin typeface="Arial" pitchFamily="34" charset="0"/>
                <a:ea typeface="Arial" pitchFamily="34" charset="-122"/>
                <a:cs typeface="Arial" pitchFamily="34" charset="-120"/>
              </a:rPr>
              <a:t>Nachweis fünf Jahre aufbewahren. Anerkannt sind auch interne Angebote und Selbststudium mit Lernerfolgskontrolle.</a:t>
            </a:r>
            <a:endParaRPr lang="en-US" sz="1200" dirty="0"/>
          </a:p>
        </p:txBody>
      </p:sp>
      <p:sp>
        <p:nvSpPr>
          <p:cNvPr id="12" name="Shape 8"/>
          <p:cNvSpPr/>
          <p:nvPr/>
        </p:nvSpPr>
        <p:spPr>
          <a:xfrm>
            <a:off x="4297680" y="1508760"/>
            <a:ext cx="3566160" cy="4572000"/>
          </a:xfrm>
          <a:prstGeom prst="rect">
            <a:avLst/>
          </a:prstGeom>
          <a:solidFill>
            <a:srgbClr val="F5F5F5"/>
          </a:solidFill>
          <a:ln w="12700">
            <a:solidFill>
              <a:srgbClr val="F5F5F5"/>
            </a:solidFill>
            <a:prstDash val="solid"/>
          </a:ln>
        </p:spPr>
      </p:sp>
      <p:pic>
        <p:nvPicPr>
          <p:cNvPr id="13" name="Image 1" descr="/tmp/deck/ic/doc_m.png">    </p:cNvPr>
          <p:cNvPicPr>
            <a:picLocks noChangeAspect="1"/>
          </p:cNvPicPr>
          <p:nvPr/>
        </p:nvPicPr>
        <p:blipFill>
          <a:blip r:embed="rId2"/>
          <a:stretch>
            <a:fillRect/>
          </a:stretch>
        </p:blipFill>
        <p:spPr>
          <a:xfrm>
            <a:off x="4572000" y="1737360"/>
            <a:ext cx="594360" cy="594360"/>
          </a:xfrm>
          <a:prstGeom prst="rect">
            <a:avLst/>
          </a:prstGeom>
        </p:spPr>
      </p:pic>
      <p:sp>
        <p:nvSpPr>
          <p:cNvPr id="14" name="Text 9"/>
          <p:cNvSpPr txBox="1"/>
          <p:nvPr/>
        </p:nvSpPr>
        <p:spPr>
          <a:xfrm>
            <a:off x="5303520" y="1737360"/>
            <a:ext cx="2377440" cy="59436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Konzeptionelle Hürden</a:t>
            </a:r>
            <a:endParaRPr lang="en-US" sz="1800" dirty="0"/>
          </a:p>
        </p:txBody>
      </p:sp>
      <p:sp>
        <p:nvSpPr>
          <p:cNvPr id="15" name="Text 10"/>
          <p:cNvSpPr txBox="1"/>
          <p:nvPr/>
        </p:nvSpPr>
        <p:spPr>
          <a:xfrm>
            <a:off x="4572000" y="2560320"/>
            <a:ext cx="3017520" cy="33832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Wie weisen wir die fachliche Qualität der Anbietenden nach?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Wie sieht eine Lernerfolgskontrolle für kurze Termine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Wie ordnen wir Termine den Themen der IDD zu?</a:t>
            </a:r>
            <a:endParaRPr lang="en-US" sz="1300" dirty="0"/>
          </a:p>
        </p:txBody>
      </p:sp>
      <p:sp>
        <p:nvSpPr>
          <p:cNvPr id="16" name="Shape 11"/>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2" descr="/tmp/deck/ic/cal_m.png">    </p:cNvPr>
          <p:cNvPicPr>
            <a:picLocks noChangeAspect="1"/>
          </p:cNvPicPr>
          <p:nvPr/>
        </p:nvPicPr>
        <p:blipFill>
          <a:blip r:embed="rId3"/>
          <a:stretch>
            <a:fillRect/>
          </a:stretch>
        </p:blipFill>
        <p:spPr>
          <a:xfrm>
            <a:off x="8394192" y="1737360"/>
            <a:ext cx="594360" cy="594360"/>
          </a:xfrm>
          <a:prstGeom prst="rect">
            <a:avLst/>
          </a:prstGeom>
        </p:spPr>
      </p:pic>
      <p:sp>
        <p:nvSpPr>
          <p:cNvPr id="18" name="Text 12"/>
          <p:cNvSpPr txBox="1"/>
          <p:nvPr/>
        </p:nvSpPr>
        <p:spPr>
          <a:xfrm>
            <a:off x="9125712" y="1737360"/>
            <a:ext cx="2377440" cy="59436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Technische Hürden</a:t>
            </a:r>
            <a:endParaRPr lang="en-US" sz="1800" dirty="0"/>
          </a:p>
        </p:txBody>
      </p:sp>
      <p:sp>
        <p:nvSpPr>
          <p:cNvPr id="19" name="Text 13"/>
          <p:cNvSpPr txBox="1"/>
          <p:nvPr/>
        </p:nvSpPr>
        <p:spPr>
          <a:xfrm>
            <a:off x="8394192" y="2560320"/>
            <a:ext cx="3017520" cy="33832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Wie kommt die Bestätigung in das Bildungskonto?</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Wie bleibt der Datenschutz gewahrt?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Wie trennen wir IDD-Termine von freien Terminen?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Datenschutz und Mitbestimmung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binden den Betriebsrat von Anfang an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4572000"/>
          </a:xfrm>
          <a:prstGeom prst="rect">
            <a:avLst/>
          </a:prstGeom>
          <a:solidFill>
            <a:srgbClr val="F5F5F5"/>
          </a:solidFill>
          <a:ln w="12700">
            <a:solidFill>
              <a:srgbClr val="F5F5F5"/>
            </a:solidFill>
            <a:prstDash val="solid"/>
          </a:ln>
        </p:spPr>
      </p:sp>
      <p:pic>
        <p:nvPicPr>
          <p:cNvPr id="9" name="Image 1" descr="/tmp/deck/ic/lock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1600200" y="1737360"/>
            <a:ext cx="4206240" cy="64008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die Plattform tut</a:t>
            </a:r>
            <a:endParaRPr lang="en-US" sz="2000" dirty="0"/>
          </a:p>
        </p:txBody>
      </p:sp>
      <p:sp>
        <p:nvSpPr>
          <p:cNvPr id="11" name="Text 6"/>
          <p:cNvSpPr txBox="1"/>
          <p:nvPr/>
        </p:nvSpPr>
        <p:spPr>
          <a:xfrm>
            <a:off x="804672" y="2606040"/>
            <a:ext cx="498348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Speichert Name und E-Mail-Adresse der Angemeldeten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Speichert Termine, Beschreibungen und Teams-Links</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Zeigt Teilnehmerlisten nur der Administration und den Anbietenden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Wertet nur Zahlen aus: Termine, Anmeldungen, Auslastung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Verschickt keine E-Mails und braucht kein Benutzerkonto</a:t>
            </a:r>
            <a:endParaRPr lang="en-US" sz="1400" dirty="0"/>
          </a:p>
        </p:txBody>
      </p:sp>
      <p:sp>
        <p:nvSpPr>
          <p:cNvPr id="12" name="Shape 7"/>
          <p:cNvSpPr/>
          <p:nvPr/>
        </p:nvSpPr>
        <p:spPr>
          <a:xfrm>
            <a:off x="6199632" y="1508760"/>
            <a:ext cx="5486400" cy="45720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6473952" y="1737360"/>
            <a:ext cx="640080" cy="640080"/>
          </a:xfrm>
          <a:prstGeom prst="rect">
            <a:avLst/>
          </a:prstGeom>
        </p:spPr>
      </p:pic>
      <p:sp>
        <p:nvSpPr>
          <p:cNvPr id="14" name="Text 8"/>
          <p:cNvSpPr txBox="1"/>
          <p:nvPr/>
        </p:nvSpPr>
        <p:spPr>
          <a:xfrm>
            <a:off x="7269480" y="1737360"/>
            <a:ext cx="4206240" cy="6400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Was wir vorschlagen</a:t>
            </a:r>
            <a:endParaRPr lang="en-US" sz="2000" dirty="0"/>
          </a:p>
        </p:txBody>
      </p:sp>
      <p:sp>
        <p:nvSpPr>
          <p:cNvPr id="15" name="Text 9"/>
          <p:cNvSpPr txBox="1"/>
          <p:nvPr/>
        </p:nvSpPr>
        <p:spPr>
          <a:xfrm>
            <a:off x="6473952" y="2606040"/>
            <a:ext cx="498348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Mitbestimmung nach § 87 Abs. 1 Nr. 6 BetrVG früh einleiten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Löschfristen schriftlich regeln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Auswertung einzelner Personen und keine Leistungskontrolle</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Datenschutz mit Datenschutzbeauftragten abstimmen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zeigt Zahlen, keine Personen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pro Monat, Auslastung, ausgebuchte Termine</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Wiederkehrende Anbietende, Vorlauf der Anmeldungen</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Kommunikation an den Außendienst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Rückmeldungen sammeln</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Zahlen und Rückmeldungen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 Nachweise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Rückmeldungen der Teilnehmenden und die Möglichkeit, Termine zu bearbeiten oder zu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Einbindung des Betriebsrats, keine Auswertung einzelner Personen.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Zeit im Arbeitsalltag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Feste Zeitfenster am Morgen und Abend, kurze Formate von 15 bis 120 Minuten.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einleiten</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Betriebsrat wird eingebunden. Wir legen Zweck, Daten und Löschfristen gemeinsam fest.</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Training &amp; Entwicklung Vertrieb betreut</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VH-VP-TV, Gruppe Produktion, übernimmt die Administration der Plattform.</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star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Führungskräfte gehen voran</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Erste Termine bieten Führungskräfte und Fachleute an. Das zeigt, wie es geht.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2026-10-01T14:20:43Z</dcterms:created>
  <dcterms:modified xsi:type="dcterms:W3CDTF">2026-10-01T14:20:43Z</dcterms:modified>
</cp:coreProperties>
</file>