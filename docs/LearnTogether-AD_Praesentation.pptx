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Idee in einem Satz: Kolleginnen und Kollegen teilen ihr Wissen in kurzen Online-Terminen, alle anderen lernen mit. Ich zeige gleich ehrlich, was heute schon funktioniert und was noch in Planung ist. Besonders wichtig: Die Anrechnung auf die IDD funktioniert heute noch nicht. Für dienstliche Sessions gilt die Arbeitszeitregel: Wer teilnimmt, stempelt sich selbst ein.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Alle registrieren sich einmal mit einem frei gewählten Benutzernamen. Teams-Link, Kalenderdatei, Abmeldung und Bewertung finden sie unter Meine Anmeldungen.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Nach der Anmeldung erscheinen Teams-Link und Kalenderdatei, später auch unter Meine Anmeldungen. Dort lässt sich die Anmeldung auch zurückgeben.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führt in vier Abschnitten: worum, wann, was und Teams-Link. Die Plattform prüft Zeitfenster und Dauer. Als Anbieter erscheint der Benutzername. Unter Meine Veranstaltungen lässt sich die Veranstaltung auch absagen. Angemeldete Personen sehen die Absage als Mitteilung, die Plattform verschickt keine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hat ein eigenes Profil mit Zählern, Bewertungen, Archiv und Abzeichen. Abzeichen in sechs Stufen zeigen, wie viele Sessions jemand angeboten hat. Die Rakete steht für den Expertenstatus in einem Thema. Wer möchte, macht sein Profil öffentlich. Dann wird der Benutzername auf der Kachel anklickbar. Was andere sehen, gibt jede Person selbst frei. Echter Name und XV-Nummer bleiben immer verborgen.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Teilnahme an dienstlichen Sessions kann als Arbeitszeit angerechnet werden. Das geschieht nicht im Nachgang: Teilnehmende müssen sich selbst einstempeln und wieder ausstempeln. Die Plattform erfasst keine Arbeitszeit. Die Teilnahme an privaten Sessions zählt nicht als Arbeitszeit. Diese Regel kommunizieren wir klar und stimmen sie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8 Kennzahlen und 13 Auswertungen mit PDF-Export. Wir betrachten Termine pro Monat, Teilnehmende, Auslastung und Themen. Die Abbildung zeigt Beispieldaten. Die Auswertung bleibt aggregiert.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Wichtig und ehrlich: Die Anrechnung von Zeiten auf die IDD funktioniert heute noch nicht. Teilnehmende erhalten aktuell keine IDD-Bestätigung. Das kommunizieren wir klar. Es ist aber in Planung. Die IDD verlangt 15 Stunden Weiterbildung im Jahr. Anerkannt sind unter anderem interne Veranstaltungen und Selbststudium mit Lernerfolgskontrolle, Nachweise sind fünf Jahre aufzubewahren. Es gibt konzeptionelle und technische Hürden, die wir schnellstmöglich beheben wollen. Die Fragen auf der Folie sind offene Punkte, keine Festlegungen. Der Pilot startet unabhängig davon.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Anonymisierung ist in der Plattform umgesetzt und läuft automatisch. Öffentlich sichtbar ist nur der Benutzername. Echter Name, XV-Nummer und E-Mail-Adresse sehen nur die betroffene Person und die Administration. Die Daten jeder Veranstaltung bleiben fünf Jahre nach dem Ende gespeichert, ausschließlich für Nachweis und Anrechnung. Das gilt für private und dienstliche Sessions gleichermaßen. Danach werden sie anonymisiert, nur Zähler bleiben. Zugriff haben nur die Administratoren in VH-VP-TV. Die Daten werden nicht veröffentlicht. Die Fristen und Zwecke stimmen wir mit Datenschutz und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 87 Absatz 1 Nummer 6 BetrVG unterliegt nahezu jedes IT-System, das Beschäftigtendaten verarbeitet, der Mitbestimmung. Deshalb binden wir den Betriebsrat von Anfang an ein. Unser Vorschlag: Zweck, Datenarten, Zugriffe und Fristen schriftlich regeln, keine Auswertung einzelner Personen, freiwillige Teilnahme und eine abgestimmte Arbeitszeitregel für dienstliche Sessions. Die rechtliche Einordnung bestätigen Datenschutz und Rechtsabteilung.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noch ohne IDD-Anrechnung. In Phase 2 klären wir die IDD-Anrechnung und werten den Pilot aus. In Phase 3 gehen die IDD-Termine in den Regelbetrieb.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vier Entscheidungen. Wir starten klein, lernen schnell und binden alle Beteiligten ein. Die IDD-Anrechnung funktioniert noch nicht und ist deshalb ein eigener Auftrag.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das Ziel, IDD-Inhalte anrechnen zu können.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6.png"/><Relationship Id="rId7" Type="http://schemas.openxmlformats.org/officeDocument/2006/relationships/image" Target="../media/image-9-3.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3.png"/><Relationship Id="rId6" Type="http://schemas.openxmlformats.org/officeDocument/2006/relationships/image" Target="../media/image-14-6.png"/><Relationship Id="rId7" Type="http://schemas.openxmlformats.org/officeDocument/2006/relationships/image" Target="../media/image-14-3.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01.10.2026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Wichtigste auf einer Seite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LearnTogether@AD bringt Lernen unter Kolleginnen und Kollegen im Außendienst in Gang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411480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566160" cy="3200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Die Idee</a:t>
            </a:r>
            <a:endParaRPr lang="en-US" sz="1400" dirty="0"/>
          </a:p>
        </p:txBody>
      </p:sp>
      <p:sp>
        <p:nvSpPr>
          <p:cNvPr id="10" name="Text 6"/>
          <p:cNvSpPr txBox="1"/>
          <p:nvPr/>
        </p:nvSpPr>
        <p:spPr>
          <a:xfrm>
            <a:off x="822960" y="2103120"/>
            <a:ext cx="3566160" cy="22860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Kolleginnen und Kollegen teilen ihr Wissen in kurzen Online-Terminen. Alle anderen lernen mit.</a:t>
            </a:r>
            <a:endParaRPr lang="en-US" sz="2200" dirty="0"/>
          </a:p>
        </p:txBody>
      </p:sp>
      <p:sp>
        <p:nvSpPr>
          <p:cNvPr id="11" name="Text 7"/>
          <p:cNvSpPr txBox="1"/>
          <p:nvPr/>
        </p:nvSpPr>
        <p:spPr>
          <a:xfrm>
            <a:off x="822960" y="4480560"/>
            <a:ext cx="356616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Ziele: Weiterbildung untereinander, mehr Vernetzung und mehr Verbundenheit zum Arbeitgeber.</a:t>
            </a:r>
            <a:endParaRPr lang="en-US" sz="1500" dirty="0"/>
          </a:p>
        </p:txBody>
      </p:sp>
      <p:sp>
        <p:nvSpPr>
          <p:cNvPr id="12" name="Shape 8"/>
          <p:cNvSpPr/>
          <p:nvPr/>
        </p:nvSpPr>
        <p:spPr>
          <a:xfrm>
            <a:off x="4846320" y="1508760"/>
            <a:ext cx="3383280" cy="548640"/>
          </a:xfrm>
          <a:prstGeom prst="rect">
            <a:avLst/>
          </a:prstGeom>
          <a:solidFill>
            <a:srgbClr val="00DCDC"/>
          </a:solidFill>
          <a:ln w="12700">
            <a:solidFill>
              <a:srgbClr val="00DCDC"/>
            </a:solidFill>
            <a:prstDash val="solid"/>
          </a:ln>
        </p:spPr>
      </p:sp>
      <p:sp>
        <p:nvSpPr>
          <p:cNvPr id="13" name="Text 9"/>
          <p:cNvSpPr txBox="1"/>
          <p:nvPr/>
        </p:nvSpPr>
        <p:spPr>
          <a:xfrm>
            <a:off x="5074920" y="1508760"/>
            <a:ext cx="301752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Heute möglich</a:t>
            </a:r>
            <a:endParaRPr lang="en-US" sz="1600" dirty="0"/>
          </a:p>
        </p:txBody>
      </p:sp>
      <p:sp>
        <p:nvSpPr>
          <p:cNvPr id="14" name="Shape 10"/>
          <p:cNvSpPr/>
          <p:nvPr/>
        </p:nvSpPr>
        <p:spPr>
          <a:xfrm>
            <a:off x="4846320" y="2057400"/>
            <a:ext cx="3383280" cy="2697480"/>
          </a:xfrm>
          <a:prstGeom prst="rect">
            <a:avLst/>
          </a:prstGeom>
          <a:solidFill>
            <a:srgbClr val="F5F5F5"/>
          </a:solidFill>
          <a:ln w="12700">
            <a:solidFill>
              <a:srgbClr val="F5F5F5"/>
            </a:solidFill>
            <a:prstDash val="solid"/>
          </a:ln>
        </p:spPr>
      </p:sp>
      <p:pic>
        <p:nvPicPr>
          <p:cNvPr id="15" name="Image 1" descr="/tmp/deck/ic/check_m.png">    </p:cNvPr>
          <p:cNvPicPr>
            <a:picLocks noChangeAspect="1"/>
          </p:cNvPicPr>
          <p:nvPr/>
        </p:nvPicPr>
        <p:blipFill>
          <a:blip r:embed="rId2"/>
          <a:stretch>
            <a:fillRect/>
          </a:stretch>
        </p:blipFill>
        <p:spPr>
          <a:xfrm>
            <a:off x="5047488" y="2212848"/>
            <a:ext cx="310896" cy="310896"/>
          </a:xfrm>
          <a:prstGeom prst="rect">
            <a:avLst/>
          </a:prstGeom>
        </p:spPr>
      </p:pic>
      <p:sp>
        <p:nvSpPr>
          <p:cNvPr id="16" name="Text 11"/>
          <p:cNvSpPr txBox="1"/>
          <p:nvPr/>
        </p:nvSpPr>
        <p:spPr>
          <a:xfrm>
            <a:off x="5486400" y="2176272"/>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Katalog mit Suche und Filtern</a:t>
            </a:r>
            <a:endParaRPr lang="en-US" sz="1250" dirty="0"/>
          </a:p>
        </p:txBody>
      </p:sp>
      <p:pic>
        <p:nvPicPr>
          <p:cNvPr id="17" name="Image 2" descr="/tmp/deck/ic/check_m.png">    </p:cNvPr>
          <p:cNvPicPr>
            <a:picLocks noChangeAspect="1"/>
          </p:cNvPicPr>
          <p:nvPr/>
        </p:nvPicPr>
        <p:blipFill>
          <a:blip r:embed="rId3"/>
          <a:stretch>
            <a:fillRect/>
          </a:stretch>
        </p:blipFill>
        <p:spPr>
          <a:xfrm>
            <a:off x="5047488" y="2743200"/>
            <a:ext cx="310896" cy="310896"/>
          </a:xfrm>
          <a:prstGeom prst="rect">
            <a:avLst/>
          </a:prstGeom>
        </p:spPr>
      </p:pic>
      <p:sp>
        <p:nvSpPr>
          <p:cNvPr id="18" name="Text 12"/>
          <p:cNvSpPr txBox="1"/>
          <p:nvPr/>
        </p:nvSpPr>
        <p:spPr>
          <a:xfrm>
            <a:off x="5486400" y="2706624"/>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Registrierung und Anmeldung mit Benutzername</a:t>
            </a:r>
            <a:endParaRPr lang="en-US" sz="1250" dirty="0"/>
          </a:p>
        </p:txBody>
      </p:sp>
      <p:pic>
        <p:nvPicPr>
          <p:cNvPr id="19" name="Image 3" descr="/tmp/deck/ic/check_m.png">    </p:cNvPr>
          <p:cNvPicPr>
            <a:picLocks noChangeAspect="1"/>
          </p:cNvPicPr>
          <p:nvPr/>
        </p:nvPicPr>
        <p:blipFill>
          <a:blip r:embed="rId4"/>
          <a:stretch>
            <a:fillRect/>
          </a:stretch>
        </p:blipFill>
        <p:spPr>
          <a:xfrm>
            <a:off x="5047488" y="3273552"/>
            <a:ext cx="310896" cy="310896"/>
          </a:xfrm>
          <a:prstGeom prst="rect">
            <a:avLst/>
          </a:prstGeom>
        </p:spPr>
      </p:pic>
      <p:sp>
        <p:nvSpPr>
          <p:cNvPr id="20" name="Text 13"/>
          <p:cNvSpPr txBox="1"/>
          <p:nvPr/>
        </p:nvSpPr>
        <p:spPr>
          <a:xfrm>
            <a:off x="5486400" y="3236976"/>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Termine anbieten und absagen</a:t>
            </a:r>
            <a:endParaRPr lang="en-US" sz="1250" dirty="0"/>
          </a:p>
        </p:txBody>
      </p:sp>
      <p:pic>
        <p:nvPicPr>
          <p:cNvPr id="21" name="Image 4" descr="/tmp/deck/ic/check_m.png">    </p:cNvPr>
          <p:cNvPicPr>
            <a:picLocks noChangeAspect="1"/>
          </p:cNvPicPr>
          <p:nvPr/>
        </p:nvPicPr>
        <p:blipFill>
          <a:blip r:embed="rId5"/>
          <a:stretch>
            <a:fillRect/>
          </a:stretch>
        </p:blipFill>
        <p:spPr>
          <a:xfrm>
            <a:off x="5047488" y="3803904"/>
            <a:ext cx="310896" cy="310896"/>
          </a:xfrm>
          <a:prstGeom prst="rect">
            <a:avLst/>
          </a:prstGeom>
        </p:spPr>
      </p:pic>
      <p:sp>
        <p:nvSpPr>
          <p:cNvPr id="22" name="Text 14"/>
          <p:cNvSpPr txBox="1"/>
          <p:nvPr/>
        </p:nvSpPr>
        <p:spPr>
          <a:xfrm>
            <a:off x="5486400" y="3767328"/>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Teams-Link und Kalenderdatei</a:t>
            </a:r>
            <a:endParaRPr lang="en-US" sz="1250" dirty="0"/>
          </a:p>
        </p:txBody>
      </p:sp>
      <p:pic>
        <p:nvPicPr>
          <p:cNvPr id="23" name="Image 5" descr="/tmp/deck/ic/check_m.png">    </p:cNvPr>
          <p:cNvPicPr>
            <a:picLocks noChangeAspect="1"/>
          </p:cNvPicPr>
          <p:nvPr/>
        </p:nvPicPr>
        <p:blipFill>
          <a:blip r:embed="rId6"/>
          <a:stretch>
            <a:fillRect/>
          </a:stretch>
        </p:blipFill>
        <p:spPr>
          <a:xfrm>
            <a:off x="5047488" y="4334256"/>
            <a:ext cx="310896" cy="310896"/>
          </a:xfrm>
          <a:prstGeom prst="rect">
            <a:avLst/>
          </a:prstGeom>
        </p:spPr>
      </p:pic>
      <p:sp>
        <p:nvSpPr>
          <p:cNvPr id="24" name="Text 15"/>
          <p:cNvSpPr txBox="1"/>
          <p:nvPr/>
        </p:nvSpPr>
        <p:spPr>
          <a:xfrm>
            <a:off x="5486400" y="4297680"/>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Bewertung, Abzeichen, Archiv, Statistik</a:t>
            </a:r>
            <a:endParaRPr lang="en-US" sz="1250" dirty="0"/>
          </a:p>
        </p:txBody>
      </p:sp>
      <p:sp>
        <p:nvSpPr>
          <p:cNvPr id="25" name="Shape 16"/>
          <p:cNvSpPr/>
          <p:nvPr/>
        </p:nvSpPr>
        <p:spPr>
          <a:xfrm>
            <a:off x="8394192" y="1508760"/>
            <a:ext cx="3291840" cy="548640"/>
          </a:xfrm>
          <a:prstGeom prst="rect">
            <a:avLst/>
          </a:prstGeom>
          <a:solidFill>
            <a:srgbClr val="F79506"/>
          </a:solidFill>
          <a:ln w="12700">
            <a:solidFill>
              <a:srgbClr val="F79506"/>
            </a:solidFill>
            <a:prstDash val="solid"/>
          </a:ln>
        </p:spPr>
      </p:sp>
      <p:sp>
        <p:nvSpPr>
          <p:cNvPr id="26" name="Text 17"/>
          <p:cNvSpPr txBox="1"/>
          <p:nvPr/>
        </p:nvSpPr>
        <p:spPr>
          <a:xfrm>
            <a:off x="8622792" y="1508760"/>
            <a:ext cx="292608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In Planung</a:t>
            </a:r>
            <a:endParaRPr lang="en-US" sz="1600" dirty="0"/>
          </a:p>
        </p:txBody>
      </p:sp>
      <p:sp>
        <p:nvSpPr>
          <p:cNvPr id="27" name="Shape 18"/>
          <p:cNvSpPr/>
          <p:nvPr/>
        </p:nvSpPr>
        <p:spPr>
          <a:xfrm>
            <a:off x="8394192" y="2057400"/>
            <a:ext cx="3291840" cy="2697480"/>
          </a:xfrm>
          <a:prstGeom prst="rect">
            <a:avLst/>
          </a:prstGeom>
          <a:solidFill>
            <a:srgbClr val="F5F5F5"/>
          </a:solidFill>
          <a:ln w="12700">
            <a:solidFill>
              <a:srgbClr val="F5F5F5"/>
            </a:solidFill>
            <a:prstDash val="solid"/>
          </a:ln>
        </p:spPr>
      </p:sp>
      <p:pic>
        <p:nvPicPr>
          <p:cNvPr id="28" name="Image 6" descr="/tmp/deck/ic/clock_m.png">    </p:cNvPr>
          <p:cNvPicPr>
            <a:picLocks noChangeAspect="1"/>
          </p:cNvPicPr>
          <p:nvPr/>
        </p:nvPicPr>
        <p:blipFill>
          <a:blip r:embed="rId7"/>
          <a:stretch>
            <a:fillRect/>
          </a:stretch>
        </p:blipFill>
        <p:spPr>
          <a:xfrm>
            <a:off x="8595360" y="2212848"/>
            <a:ext cx="310896" cy="310896"/>
          </a:xfrm>
          <a:prstGeom prst="rect">
            <a:avLst/>
          </a:prstGeom>
        </p:spPr>
      </p:pic>
      <p:sp>
        <p:nvSpPr>
          <p:cNvPr id="29" name="Text 19"/>
          <p:cNvSpPr txBox="1"/>
          <p:nvPr/>
        </p:nvSpPr>
        <p:spPr>
          <a:xfrm>
            <a:off x="9034272" y="2176272"/>
            <a:ext cx="2514600" cy="457200"/>
          </a:xfrm>
          <a:prstGeom prst="rect">
            <a:avLst/>
          </a:prstGeom>
          <a:noFill/>
          <a:ln/>
        </p:spPr>
        <p:txBody>
          <a:bodyPr wrap="square" lIns="0" tIns="0" rIns="0" bIns="0" rtlCol="0" anchor="ctr"/>
          <a:lstStyle/>
          <a:p>
            <a:pPr indent="0" marL="0">
              <a:buNone/>
            </a:pPr>
            <a:r>
              <a:rPr lang="en-US" sz="1250" b="1" dirty="0">
                <a:solidFill>
                  <a:srgbClr val="001957"/>
                </a:solidFill>
                <a:latin typeface="Arial" pitchFamily="34" charset="0"/>
                <a:ea typeface="Arial" pitchFamily="34" charset="-122"/>
                <a:cs typeface="Arial" pitchFamily="34" charset="-120"/>
              </a:rPr>
              <a:t>IDD-Anrechnung: noch nicht möglich</a:t>
            </a:r>
            <a:endParaRPr lang="en-US" sz="1250" dirty="0"/>
          </a:p>
        </p:txBody>
      </p:sp>
      <p:pic>
        <p:nvPicPr>
          <p:cNvPr id="30" name="Image 7" descr="/tmp/deck/ic/clock_m.png">    </p:cNvPr>
          <p:cNvPicPr>
            <a:picLocks noChangeAspect="1"/>
          </p:cNvPicPr>
          <p:nvPr/>
        </p:nvPicPr>
        <p:blipFill>
          <a:blip r:embed="rId8"/>
          <a:stretch>
            <a:fillRect/>
          </a:stretch>
        </p:blipFill>
        <p:spPr>
          <a:xfrm>
            <a:off x="8595360" y="2743200"/>
            <a:ext cx="310896" cy="310896"/>
          </a:xfrm>
          <a:prstGeom prst="rect">
            <a:avLst/>
          </a:prstGeom>
        </p:spPr>
      </p:pic>
      <p:sp>
        <p:nvSpPr>
          <p:cNvPr id="31" name="Text 20"/>
          <p:cNvSpPr txBox="1"/>
          <p:nvPr/>
        </p:nvSpPr>
        <p:spPr>
          <a:xfrm>
            <a:off x="9034272" y="2706624"/>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Technischer Nachweis für dienstliche Sessions</a:t>
            </a:r>
            <a:endParaRPr lang="en-US" sz="1250" dirty="0"/>
          </a:p>
        </p:txBody>
      </p:sp>
      <p:pic>
        <p:nvPicPr>
          <p:cNvPr id="32" name="Image 8" descr="/tmp/deck/ic/clock_m.png">    </p:cNvPr>
          <p:cNvPicPr>
            <a:picLocks noChangeAspect="1"/>
          </p:cNvPicPr>
          <p:nvPr/>
        </p:nvPicPr>
        <p:blipFill>
          <a:blip r:embed="rId9"/>
          <a:stretch>
            <a:fillRect/>
          </a:stretch>
        </p:blipFill>
        <p:spPr>
          <a:xfrm>
            <a:off x="8595360" y="3273552"/>
            <a:ext cx="310896" cy="310896"/>
          </a:xfrm>
          <a:prstGeom prst="rect">
            <a:avLst/>
          </a:prstGeom>
        </p:spPr>
      </p:pic>
      <p:sp>
        <p:nvSpPr>
          <p:cNvPr id="33" name="Text 21"/>
          <p:cNvSpPr txBox="1"/>
          <p:nvPr/>
        </p:nvSpPr>
        <p:spPr>
          <a:xfrm>
            <a:off x="9034272" y="3236976"/>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Abstimmung mit Datenschutz und Betriebsrat</a:t>
            </a:r>
            <a:endParaRPr lang="en-US" sz="1250" dirty="0"/>
          </a:p>
        </p:txBody>
      </p:sp>
      <p:sp>
        <p:nvSpPr>
          <p:cNvPr id="34" name="Shape 22"/>
          <p:cNvSpPr/>
          <p:nvPr/>
        </p:nvSpPr>
        <p:spPr>
          <a:xfrm>
            <a:off x="4846320" y="4937760"/>
            <a:ext cx="6839712" cy="1143000"/>
          </a:xfrm>
          <a:prstGeom prst="rect">
            <a:avLst/>
          </a:prstGeom>
          <a:solidFill>
            <a:srgbClr val="FFF4E0"/>
          </a:solidFill>
          <a:ln w="12700">
            <a:solidFill>
              <a:srgbClr val="FFF4E0"/>
            </a:solidFill>
            <a:prstDash val="solid"/>
          </a:ln>
        </p:spPr>
      </p:sp>
      <p:sp>
        <p:nvSpPr>
          <p:cNvPr id="35" name="Text 23"/>
          <p:cNvSpPr txBox="1"/>
          <p:nvPr/>
        </p:nvSpPr>
        <p:spPr>
          <a:xfrm>
            <a:off x="5120640" y="4937760"/>
            <a:ext cx="6309360" cy="114300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Arbeitszeit: </a:t>
            </a:r>
            <a:pPr indent="0" marL="0">
              <a:buNone/>
            </a:pPr>
            <a:r>
              <a:rPr lang="en-US" sz="1400" dirty="0">
                <a:solidFill>
                  <a:srgbClr val="001957"/>
                </a:solidFill>
                <a:latin typeface="Arial" pitchFamily="34" charset="0"/>
                <a:ea typeface="Arial" pitchFamily="34" charset="-122"/>
                <a:cs typeface="Arial" pitchFamily="34" charset="-120"/>
              </a:rPr>
              <a:t>Dienstliche Sessions können als Arbeitszeit zählen. Teilnehmende stechen sich dafür selbst ein. Private Sessions zählen nie als Arbeitszeit.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Ausgangslage: Wissen und Zeit sind knapp</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Anbietende,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Andere Unternehmen zeigen: Es funktioniert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Öffentlich erscheint nur der Benutzername.</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Einmal registrieren, dann Anmeldung in zwei Klicks und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Dienstlich kann als Arbeitszeit zählen, privat nicht.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mit eigenem 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Mit dem Konto anmelden.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 in den Kalender übernehmen, über den Teams-Link beitreten und danach bewerten.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Unter Meine Veranstaltungen siehst du Teilnehmende und Bewertungen.</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und Kalenderdatei erscheinen direkt nach der Anmeldung. Absagen erscheinen als Mitteilung.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Teilnehmen: entdecken und anmelden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Zwei Klicks bis zum Platz</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5486400" cy="3686175"/>
          </a:xfrm>
          <a:prstGeom prst="rect">
            <a:avLst/>
          </a:prstGeom>
        </p:spPr>
      </p:pic>
      <p:pic>
        <p:nvPicPr>
          <p:cNvPr id="9" name="Image 2" descr="/home/user/ruv_learntogether/src/handbuch/shots/buchung.jpg">    </p:cNvPr>
          <p:cNvPicPr>
            <a:picLocks noChangeAspect="1"/>
          </p:cNvPicPr>
          <p:nvPr/>
        </p:nvPicPr>
        <p:blipFill>
          <a:blip r:embed="rId3"/>
          <a:stretch>
            <a:fillRect/>
          </a:stretch>
        </p:blipFill>
        <p:spPr>
          <a:xfrm>
            <a:off x="6199632" y="1463040"/>
            <a:ext cx="5486400" cy="2481111"/>
          </a:xfrm>
          <a:prstGeom prst="rect">
            <a:avLst/>
          </a:prstGeom>
        </p:spPr>
      </p:pic>
      <p:sp>
        <p:nvSpPr>
          <p:cNvPr id="10" name="Text 4"/>
          <p:cNvSpPr txBox="1"/>
          <p:nvPr/>
        </p:nvSpPr>
        <p:spPr>
          <a:xfrm>
            <a:off x="530352" y="5257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Entdecken wie in einer Mediathek</a:t>
            </a:r>
            <a:endParaRPr lang="en-US" sz="1800" dirty="0"/>
          </a:p>
        </p:txBody>
      </p:sp>
      <p:sp>
        <p:nvSpPr>
          <p:cNvPr id="11" name="Text 5"/>
          <p:cNvSpPr txBox="1"/>
          <p:nvPr/>
        </p:nvSpPr>
        <p:spPr>
          <a:xfrm>
            <a:off x="530352" y="5641848"/>
            <a:ext cx="5486400" cy="5486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Reihen nach Thema, Filter für Art, Dauer und Tageszeit, Chips für fast ausgebuchte Termine.</a:t>
            </a:r>
            <a:endParaRPr lang="en-US" sz="1400" dirty="0"/>
          </a:p>
        </p:txBody>
      </p:sp>
      <p:sp>
        <p:nvSpPr>
          <p:cNvPr id="12" name="Text 6"/>
          <p:cNvSpPr txBox="1"/>
          <p:nvPr/>
        </p:nvSpPr>
        <p:spPr>
          <a:xfrm>
            <a:off x="6199632" y="425196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Anmelden in zwei Klicks</a:t>
            </a:r>
            <a:endParaRPr lang="en-US" sz="1800" dirty="0"/>
          </a:p>
        </p:txBody>
      </p:sp>
      <p:sp>
        <p:nvSpPr>
          <p:cNvPr id="13" name="Text 7"/>
          <p:cNvSpPr txBox="1"/>
          <p:nvPr/>
        </p:nvSpPr>
        <p:spPr>
          <a:xfrm>
            <a:off x="6199632" y="4636008"/>
            <a:ext cx="5486400" cy="10058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Klick genügt. Danach erscheinen Teams-Link und Kalenderdatei. Die Plattform verschickt keine E-Mails.</a:t>
            </a:r>
            <a:endParaRPr lang="en-US" sz="1400" dirty="0"/>
          </a:p>
        </p:txBody>
      </p:sp>
      <p:sp>
        <p:nvSpPr>
          <p:cNvPr id="14" name="Text 8"/>
          <p:cNvSpPr txBox="1"/>
          <p:nvPr/>
        </p:nvSpPr>
        <p:spPr>
          <a:xfrm>
            <a:off x="6199632" y="594360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Worum, wann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Titel, Thema und ein Termin im erlaubten Zeitfenster.</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Was wird angeboten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Art, Platzzahl bis 50, Beschreibung und ein quadratisches Bild.</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Teams-Link</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Der Link ist nur für angemeldete Personen sichtbar.</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mit Benutzernamen, Bewertung und Absage, selbst mit Anmeldungen.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eigene Profil</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Erfolge sichtbar machen, Kontakt ermöglichen, alles freiwillig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rofil-oeffentlich.jpg">    </p:cNvPr>
          <p:cNvPicPr>
            <a:picLocks noChangeAspect="1"/>
          </p:cNvPicPr>
          <p:nvPr/>
        </p:nvPicPr>
        <p:blipFill>
          <a:blip r:embed="rId2"/>
          <a:stretch>
            <a:fillRect/>
          </a:stretch>
        </p:blipFill>
        <p:spPr>
          <a:xfrm>
            <a:off x="530352" y="1463040"/>
            <a:ext cx="5120640" cy="4239414"/>
          </a:xfrm>
          <a:prstGeom prst="rect">
            <a:avLst/>
          </a:prstGeom>
        </p:spPr>
      </p:pic>
      <p:sp>
        <p:nvSpPr>
          <p:cNvPr id="9" name="Text 4"/>
          <p:cNvSpPr txBox="1"/>
          <p:nvPr/>
        </p:nvSpPr>
        <p:spPr>
          <a:xfrm>
            <a:off x="6126480" y="150876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 Profil</a:t>
            </a:r>
            <a:endParaRPr lang="en-US" sz="1800" dirty="0"/>
          </a:p>
        </p:txBody>
      </p:sp>
      <p:sp>
        <p:nvSpPr>
          <p:cNvPr id="10" name="Text 5"/>
          <p:cNvSpPr txBox="1"/>
          <p:nvPr/>
        </p:nvSpPr>
        <p:spPr>
          <a:xfrm>
            <a:off x="6126480" y="189280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Angebotene und besuchte Sessions, Gesamtbewertung, Archiv und Passwort.</a:t>
            </a:r>
            <a:endParaRPr lang="en-US" sz="1400" dirty="0"/>
          </a:p>
        </p:txBody>
      </p:sp>
      <p:sp>
        <p:nvSpPr>
          <p:cNvPr id="11" name="Text 6"/>
          <p:cNvSpPr txBox="1"/>
          <p:nvPr/>
        </p:nvSpPr>
        <p:spPr>
          <a:xfrm>
            <a:off x="6126480" y="260604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Abzeichen und Rakete</a:t>
            </a:r>
            <a:endParaRPr lang="en-US" sz="1800" dirty="0"/>
          </a:p>
        </p:txBody>
      </p:sp>
      <p:sp>
        <p:nvSpPr>
          <p:cNvPr id="12" name="Text 7"/>
          <p:cNvSpPr txBox="1"/>
          <p:nvPr/>
        </p:nvSpPr>
        <p:spPr>
          <a:xfrm>
            <a:off x="6126480" y="299008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Sechs Stufen von Bronze bis Diamant. Die Rakete zeigt Expertenstatus im Thema.</a:t>
            </a:r>
            <a:endParaRPr lang="en-US" sz="1400" dirty="0"/>
          </a:p>
        </p:txBody>
      </p:sp>
      <p:sp>
        <p:nvSpPr>
          <p:cNvPr id="13" name="Text 8"/>
          <p:cNvSpPr txBox="1"/>
          <p:nvPr/>
        </p:nvSpPr>
        <p:spPr>
          <a:xfrm>
            <a:off x="6126480" y="370332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Öffentliches Profil</a:t>
            </a:r>
            <a:endParaRPr lang="en-US" sz="1800" dirty="0"/>
          </a:p>
        </p:txBody>
      </p:sp>
      <p:sp>
        <p:nvSpPr>
          <p:cNvPr id="14" name="Text 9"/>
          <p:cNvSpPr txBox="1"/>
          <p:nvPr/>
        </p:nvSpPr>
        <p:spPr>
          <a:xfrm>
            <a:off x="6126480" y="408736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Freiwillig: Themen, Bio, wahlweise Bewertung, Expertenthemen und E-Mail.</a:t>
            </a:r>
            <a:endParaRPr lang="en-US" sz="1400" dirty="0"/>
          </a:p>
        </p:txBody>
      </p:sp>
      <p:sp>
        <p:nvSpPr>
          <p:cNvPr id="15" name="Text 10"/>
          <p:cNvSpPr txBox="1"/>
          <p:nvPr/>
        </p:nvSpPr>
        <p:spPr>
          <a:xfrm>
            <a:off x="6126480" y="480060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Direkt buchen</a:t>
            </a:r>
            <a:endParaRPr lang="en-US" sz="1800" dirty="0"/>
          </a:p>
        </p:txBody>
      </p:sp>
      <p:sp>
        <p:nvSpPr>
          <p:cNvPr id="16" name="Text 11"/>
          <p:cNvSpPr txBox="1"/>
          <p:nvPr/>
        </p:nvSpPr>
        <p:spPr>
          <a:xfrm>
            <a:off x="6126480" y="518464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Kommende Termine im Profil lassen sich mit einem Klick buchen.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die anbietende Person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Arbeitszeit: dienstlich ja, privat nein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Wer an dienstlichen Sessions teilnimmt, stempelt sich selbst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1965960"/>
          </a:xfrm>
          <a:prstGeom prst="rect">
            <a:avLst/>
          </a:prstGeom>
          <a:solidFill>
            <a:srgbClr val="001957"/>
          </a:solidFill>
          <a:ln w="12700">
            <a:solidFill>
              <a:srgbClr val="001957"/>
            </a:solidFill>
            <a:prstDash val="solid"/>
          </a:ln>
        </p:spPr>
      </p:sp>
      <p:sp>
        <p:nvSpPr>
          <p:cNvPr id="9" name="Text 5"/>
          <p:cNvSpPr txBox="1"/>
          <p:nvPr/>
        </p:nvSpPr>
        <p:spPr>
          <a:xfrm>
            <a:off x="822960" y="1645920"/>
            <a:ext cx="49377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0" name="Text 6"/>
          <p:cNvSpPr txBox="1"/>
          <p:nvPr/>
        </p:nvSpPr>
        <p:spPr>
          <a:xfrm>
            <a:off x="822960" y="2103120"/>
            <a:ext cx="4937760" cy="12801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Teilnahme kann als Arbeitszeit angerechnet werden. Das geschieht nicht im Nachgang, sondern über die eigene Zeiterfassung.</a:t>
            </a:r>
            <a:endParaRPr lang="en-US" sz="1600" dirty="0"/>
          </a:p>
        </p:txBody>
      </p:sp>
      <p:sp>
        <p:nvSpPr>
          <p:cNvPr id="11" name="Shape 7"/>
          <p:cNvSpPr/>
          <p:nvPr/>
        </p:nvSpPr>
        <p:spPr>
          <a:xfrm>
            <a:off x="6199632" y="1508760"/>
            <a:ext cx="5486400" cy="1965960"/>
          </a:xfrm>
          <a:prstGeom prst="rect">
            <a:avLst/>
          </a:prstGeom>
          <a:solidFill>
            <a:srgbClr val="F5F5F5"/>
          </a:solidFill>
          <a:ln w="12700">
            <a:solidFill>
              <a:srgbClr val="F5F5F5"/>
            </a:solidFill>
            <a:prstDash val="solid"/>
          </a:ln>
        </p:spPr>
      </p:sp>
      <p:sp>
        <p:nvSpPr>
          <p:cNvPr id="12" name="Text 8"/>
          <p:cNvSpPr txBox="1"/>
          <p:nvPr/>
        </p:nvSpPr>
        <p:spPr>
          <a:xfrm>
            <a:off x="6492240" y="1645920"/>
            <a:ext cx="49377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3" name="Text 9"/>
          <p:cNvSpPr txBox="1"/>
          <p:nvPr/>
        </p:nvSpPr>
        <p:spPr>
          <a:xfrm>
            <a:off x="6492240" y="2103120"/>
            <a:ext cx="4937760" cy="128016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Teilnahme zählt nicht als Arbeitszeit. Private Sessions finden in der Freizeit statt und bleiben freiwillig.</a:t>
            </a:r>
            <a:endParaRPr lang="en-US" sz="1500" dirty="0"/>
          </a:p>
        </p:txBody>
      </p:sp>
      <p:sp>
        <p:nvSpPr>
          <p:cNvPr id="14" name="Text 10"/>
          <p:cNvSpPr txBox="1"/>
          <p:nvPr/>
        </p:nvSpPr>
        <p:spPr>
          <a:xfrm>
            <a:off x="530352" y="3703320"/>
            <a:ext cx="11155680" cy="365760"/>
          </a:xfrm>
          <a:prstGeom prst="rect">
            <a:avLst/>
          </a:prstGeom>
          <a:noFill/>
          <a:ln/>
        </p:spPr>
        <p:txBody>
          <a:bodyPr wrap="square" lIns="0" tIns="0" rIns="0" bIns="0" rtlCol="0" anchor="t"/>
          <a:lstStyle/>
          <a:p>
            <a:pPr indent="0" marL="0">
              <a:buNone/>
            </a:pPr>
            <a:r>
              <a:rPr lang="en-US" sz="1800" b="1" dirty="0">
                <a:solidFill>
                  <a:srgbClr val="EB6504"/>
                </a:solidFill>
                <a:latin typeface="Arial" pitchFamily="34" charset="0"/>
                <a:ea typeface="Arial" pitchFamily="34" charset="-122"/>
                <a:cs typeface="Arial" pitchFamily="34" charset="-120"/>
              </a:rPr>
              <a:t>So läuft es bei dienstlichen Sessions</a:t>
            </a:r>
            <a:endParaRPr lang="en-US" sz="1800" dirty="0"/>
          </a:p>
        </p:txBody>
      </p:sp>
      <p:sp>
        <p:nvSpPr>
          <p:cNvPr id="15" name="Shape 11"/>
          <p:cNvSpPr/>
          <p:nvPr/>
        </p:nvSpPr>
        <p:spPr>
          <a:xfrm>
            <a:off x="530352" y="4160520"/>
            <a:ext cx="2606040" cy="1920240"/>
          </a:xfrm>
          <a:prstGeom prst="rect">
            <a:avLst/>
          </a:prstGeom>
          <a:solidFill>
            <a:srgbClr val="F5F5F5"/>
          </a:solidFill>
          <a:ln w="12700">
            <a:solidFill>
              <a:srgbClr val="F5F5F5"/>
            </a:solidFill>
            <a:prstDash val="solid"/>
          </a:ln>
        </p:spPr>
      </p:sp>
      <p:pic>
        <p:nvPicPr>
          <p:cNvPr id="16" name="Image 1" descr="/tmp/deck/ic/search_m.png">    </p:cNvPr>
          <p:cNvPicPr>
            <a:picLocks noChangeAspect="1"/>
          </p:cNvPicPr>
          <p:nvPr/>
        </p:nvPicPr>
        <p:blipFill>
          <a:blip r:embed="rId2"/>
          <a:stretch>
            <a:fillRect/>
          </a:stretch>
        </p:blipFill>
        <p:spPr>
          <a:xfrm>
            <a:off x="758952" y="4315968"/>
            <a:ext cx="548640" cy="548640"/>
          </a:xfrm>
          <a:prstGeom prst="rect">
            <a:avLst/>
          </a:prstGeom>
        </p:spPr>
      </p:pic>
      <p:sp>
        <p:nvSpPr>
          <p:cNvPr id="17" name="Text 12"/>
          <p:cNvSpPr txBox="1"/>
          <p:nvPr/>
        </p:nvSpPr>
        <p:spPr>
          <a:xfrm>
            <a:off x="144475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Session wählen</a:t>
            </a:r>
            <a:endParaRPr lang="en-US" sz="1700" dirty="0"/>
          </a:p>
        </p:txBody>
      </p:sp>
      <p:sp>
        <p:nvSpPr>
          <p:cNvPr id="18" name="Text 13"/>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Im Katalog eine dienstliche Session mit dem Chip „Dienstlich“ wählen.</a:t>
            </a:r>
            <a:endParaRPr lang="en-US" sz="1300" dirty="0"/>
          </a:p>
        </p:txBody>
      </p:sp>
      <p:pic>
        <p:nvPicPr>
          <p:cNvPr id="19" name="Image 2" descr="/tmp/deck/ic/arrow_p.png">    </p:cNvPr>
          <p:cNvPicPr>
            <a:picLocks noChangeAspect="1"/>
          </p:cNvPicPr>
          <p:nvPr/>
        </p:nvPicPr>
        <p:blipFill>
          <a:blip r:embed="rId3"/>
          <a:stretch>
            <a:fillRect/>
          </a:stretch>
        </p:blipFill>
        <p:spPr>
          <a:xfrm>
            <a:off x="3163824" y="5029200"/>
            <a:ext cx="201168" cy="201168"/>
          </a:xfrm>
          <a:prstGeom prst="rect">
            <a:avLst/>
          </a:prstGeom>
        </p:spPr>
      </p:pic>
      <p:sp>
        <p:nvSpPr>
          <p:cNvPr id="20" name="Shape 14"/>
          <p:cNvSpPr/>
          <p:nvPr/>
        </p:nvSpPr>
        <p:spPr>
          <a:xfrm>
            <a:off x="3364992" y="4160520"/>
            <a:ext cx="2606040" cy="1920240"/>
          </a:xfrm>
          <a:prstGeom prst="rect">
            <a:avLst/>
          </a:prstGeom>
          <a:solidFill>
            <a:srgbClr val="F5F5F5"/>
          </a:solidFill>
          <a:ln w="12700">
            <a:solidFill>
              <a:srgbClr val="F5F5F5"/>
            </a:solidFill>
            <a:prstDash val="solid"/>
          </a:ln>
        </p:spPr>
      </p:sp>
      <p:pic>
        <p:nvPicPr>
          <p:cNvPr id="21" name="Image 3" descr="/tmp/deck/ic/clock_m.png">    </p:cNvPr>
          <p:cNvPicPr>
            <a:picLocks noChangeAspect="1"/>
          </p:cNvPicPr>
          <p:nvPr/>
        </p:nvPicPr>
        <p:blipFill>
          <a:blip r:embed="rId4"/>
          <a:stretch>
            <a:fillRect/>
          </a:stretch>
        </p:blipFill>
        <p:spPr>
          <a:xfrm>
            <a:off x="3593592" y="4315968"/>
            <a:ext cx="548640" cy="548640"/>
          </a:xfrm>
          <a:prstGeom prst="rect">
            <a:avLst/>
          </a:prstGeom>
        </p:spPr>
      </p:pic>
      <p:sp>
        <p:nvSpPr>
          <p:cNvPr id="22" name="Text 15"/>
          <p:cNvSpPr txBox="1"/>
          <p:nvPr/>
        </p:nvSpPr>
        <p:spPr>
          <a:xfrm>
            <a:off x="427939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Einstechen</a:t>
            </a:r>
            <a:endParaRPr lang="en-US" sz="1700" dirty="0"/>
          </a:p>
        </p:txBody>
      </p:sp>
      <p:sp>
        <p:nvSpPr>
          <p:cNvPr id="23" name="Text 16"/>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Vor Beginn die Zeiterfassung selbst starten.</a:t>
            </a:r>
            <a:endParaRPr lang="en-US" sz="1300" dirty="0"/>
          </a:p>
        </p:txBody>
      </p:sp>
      <p:pic>
        <p:nvPicPr>
          <p:cNvPr id="24" name="Image 4" descr="/tmp/deck/ic/arrow_p.png">    </p:cNvPr>
          <p:cNvPicPr>
            <a:picLocks noChangeAspect="1"/>
          </p:cNvPicPr>
          <p:nvPr/>
        </p:nvPicPr>
        <p:blipFill>
          <a:blip r:embed="rId5"/>
          <a:stretch>
            <a:fillRect/>
          </a:stretch>
        </p:blipFill>
        <p:spPr>
          <a:xfrm>
            <a:off x="5998464" y="5029200"/>
            <a:ext cx="201168" cy="201168"/>
          </a:xfrm>
          <a:prstGeom prst="rect">
            <a:avLst/>
          </a:prstGeom>
        </p:spPr>
      </p:pic>
      <p:sp>
        <p:nvSpPr>
          <p:cNvPr id="25" name="Shape 17"/>
          <p:cNvSpPr/>
          <p:nvPr/>
        </p:nvSpPr>
        <p:spPr>
          <a:xfrm>
            <a:off x="6199632" y="4160520"/>
            <a:ext cx="2606040" cy="1920240"/>
          </a:xfrm>
          <a:prstGeom prst="rect">
            <a:avLst/>
          </a:prstGeom>
          <a:solidFill>
            <a:srgbClr val="F5F5F5"/>
          </a:solidFill>
          <a:ln w="12700">
            <a:solidFill>
              <a:srgbClr val="F5F5F5"/>
            </a:solidFill>
            <a:prstDash val="solid"/>
          </a:ln>
        </p:spPr>
      </p:sp>
      <p:pic>
        <p:nvPicPr>
          <p:cNvPr id="26" name="Image 5" descr="/tmp/deck/ic/video_m.png">    </p:cNvPr>
          <p:cNvPicPr>
            <a:picLocks noChangeAspect="1"/>
          </p:cNvPicPr>
          <p:nvPr/>
        </p:nvPicPr>
        <p:blipFill>
          <a:blip r:embed="rId6"/>
          <a:stretch>
            <a:fillRect/>
          </a:stretch>
        </p:blipFill>
        <p:spPr>
          <a:xfrm>
            <a:off x="6428232" y="4315968"/>
            <a:ext cx="548640" cy="548640"/>
          </a:xfrm>
          <a:prstGeom prst="rect">
            <a:avLst/>
          </a:prstGeom>
        </p:spPr>
      </p:pic>
      <p:sp>
        <p:nvSpPr>
          <p:cNvPr id="27" name="Text 18"/>
          <p:cNvSpPr txBox="1"/>
          <p:nvPr/>
        </p:nvSpPr>
        <p:spPr>
          <a:xfrm>
            <a:off x="711403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Teilnehmen</a:t>
            </a:r>
            <a:endParaRPr lang="en-US" sz="1700" dirty="0"/>
          </a:p>
        </p:txBody>
      </p:sp>
      <p:sp>
        <p:nvSpPr>
          <p:cNvPr id="28" name="Text 19"/>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Über den Teams-Link beitreten und mitlernen.</a:t>
            </a:r>
            <a:endParaRPr lang="en-US" sz="1300" dirty="0"/>
          </a:p>
        </p:txBody>
      </p:sp>
      <p:pic>
        <p:nvPicPr>
          <p:cNvPr id="29" name="Image 6" descr="/tmp/deck/ic/arrow_p.png">    </p:cNvPr>
          <p:cNvPicPr>
            <a:picLocks noChangeAspect="1"/>
          </p:cNvPicPr>
          <p:nvPr/>
        </p:nvPicPr>
        <p:blipFill>
          <a:blip r:embed="rId7"/>
          <a:stretch>
            <a:fillRect/>
          </a:stretch>
        </p:blipFill>
        <p:spPr>
          <a:xfrm>
            <a:off x="8833104" y="5029200"/>
            <a:ext cx="201168" cy="201168"/>
          </a:xfrm>
          <a:prstGeom prst="rect">
            <a:avLst/>
          </a:prstGeom>
        </p:spPr>
      </p:pic>
      <p:sp>
        <p:nvSpPr>
          <p:cNvPr id="30" name="Shape 20"/>
          <p:cNvSpPr/>
          <p:nvPr/>
        </p:nvSpPr>
        <p:spPr>
          <a:xfrm>
            <a:off x="9034272" y="4160520"/>
            <a:ext cx="2606040" cy="1920240"/>
          </a:xfrm>
          <a:prstGeom prst="rect">
            <a:avLst/>
          </a:prstGeom>
          <a:solidFill>
            <a:srgbClr val="F5F5F5"/>
          </a:solidFill>
          <a:ln w="12700">
            <a:solidFill>
              <a:srgbClr val="F5F5F5"/>
            </a:solidFill>
            <a:prstDash val="solid"/>
          </a:ln>
        </p:spPr>
      </p:sp>
      <p:pic>
        <p:nvPicPr>
          <p:cNvPr id="31" name="Image 7" descr="/tmp/deck/ic/check_m.png">    </p:cNvPr>
          <p:cNvPicPr>
            <a:picLocks noChangeAspect="1"/>
          </p:cNvPicPr>
          <p:nvPr/>
        </p:nvPicPr>
        <p:blipFill>
          <a:blip r:embed="rId8"/>
          <a:stretch>
            <a:fillRect/>
          </a:stretch>
        </p:blipFill>
        <p:spPr>
          <a:xfrm>
            <a:off x="9262872" y="4315968"/>
            <a:ext cx="548640" cy="548640"/>
          </a:xfrm>
          <a:prstGeom prst="rect">
            <a:avLst/>
          </a:prstGeom>
        </p:spPr>
      </p:pic>
      <p:sp>
        <p:nvSpPr>
          <p:cNvPr id="32" name="Text 21"/>
          <p:cNvSpPr txBox="1"/>
          <p:nvPr/>
        </p:nvSpPr>
        <p:spPr>
          <a:xfrm>
            <a:off x="994867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Ausstechen</a:t>
            </a:r>
            <a:endParaRPr lang="en-US" sz="1700" dirty="0"/>
          </a:p>
        </p:txBody>
      </p:sp>
      <p:sp>
        <p:nvSpPr>
          <p:cNvPr id="33" name="Text 22"/>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Nach dem Ende die Zeiterfassung selbst beenden.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Anmeldung mit Name und E-Mail</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Anbietende</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und bearbeiten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Teilnehmende, Bewertung, Abzeichen und Expertenstatus</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Arten und Texte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und Anmeldungen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Einziger Zugriff auf personenbezogene Daten</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zeigt Zahlen, keine Personen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Anbietende</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pro Monat, Auslastung, ausgebuchte Termine</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Wiederkehrende Anbietende, Vorlauf der Anmeldungen</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IDD-Anrechnung: heute noch nicht möglich</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Sie ist in Planung und bleibt ein zentrales Ziel</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463040"/>
            <a:ext cx="11155680" cy="914400"/>
          </a:xfrm>
          <a:prstGeom prst="rect">
            <a:avLst/>
          </a:prstGeom>
          <a:solidFill>
            <a:srgbClr val="001957"/>
          </a:solidFill>
          <a:ln w="12700">
            <a:solidFill>
              <a:srgbClr val="001957"/>
            </a:solidFill>
            <a:prstDash val="solid"/>
          </a:ln>
        </p:spPr>
      </p:sp>
      <p:sp>
        <p:nvSpPr>
          <p:cNvPr id="9" name="Text 5"/>
          <p:cNvSpPr txBox="1"/>
          <p:nvPr/>
        </p:nvSpPr>
        <p:spPr>
          <a:xfrm>
            <a:off x="822960" y="1463040"/>
            <a:ext cx="10607040" cy="914400"/>
          </a:xfrm>
          <a:prstGeom prst="rect">
            <a:avLst/>
          </a:prstGeom>
          <a:noFill/>
          <a:ln/>
        </p:spPr>
        <p:txBody>
          <a:bodyPr wrap="square" lIns="0" tIns="0" rIns="0" bIns="0" rtlCol="0" anchor="ctr"/>
          <a:lstStyle/>
          <a:p>
            <a:pPr indent="0" marL="0">
              <a:buNone/>
            </a:pPr>
            <a:r>
              <a:rPr lang="en-US" sz="1400" b="1" dirty="0">
                <a:solidFill>
                  <a:srgbClr val="00DCDC"/>
                </a:solidFill>
                <a:latin typeface="Arial" pitchFamily="34" charset="0"/>
                <a:ea typeface="Arial" pitchFamily="34" charset="-122"/>
                <a:cs typeface="Arial" pitchFamily="34" charset="-120"/>
              </a:rPr>
              <a:t>STATUS  </a:t>
            </a:r>
            <a:pPr indent="0" marL="0">
              <a:buNone/>
            </a:pPr>
            <a:r>
              <a:rPr lang="en-US" sz="2600" b="1" dirty="0">
                <a:solidFill>
                  <a:srgbClr val="F79506"/>
                </a:solidFill>
                <a:latin typeface="Arial" pitchFamily="34" charset="0"/>
                <a:ea typeface="Arial" pitchFamily="34" charset="-122"/>
                <a:cs typeface="Arial" pitchFamily="34" charset="-120"/>
              </a:rPr>
              <a:t>Noch nicht möglich. In Planung.</a:t>
            </a:r>
            <a:endParaRPr lang="en-US" sz="1600" dirty="0"/>
          </a:p>
        </p:txBody>
      </p:sp>
      <p:sp>
        <p:nvSpPr>
          <p:cNvPr id="10" name="Shape 6"/>
          <p:cNvSpPr/>
          <p:nvPr/>
        </p:nvSpPr>
        <p:spPr>
          <a:xfrm>
            <a:off x="530352" y="2606040"/>
            <a:ext cx="3566160" cy="3474720"/>
          </a:xfrm>
          <a:prstGeom prst="rect">
            <a:avLst/>
          </a:prstGeom>
          <a:solidFill>
            <a:srgbClr val="F5F5F5"/>
          </a:solidFill>
          <a:ln w="12700">
            <a:solidFill>
              <a:srgbClr val="F5F5F5"/>
            </a:solidFill>
            <a:prstDash val="solid"/>
          </a:ln>
        </p:spPr>
      </p:sp>
      <p:pic>
        <p:nvPicPr>
          <p:cNvPr id="11" name="Image 1" descr="/tmp/deck/ic/info_m.png">    </p:cNvPr>
          <p:cNvPicPr>
            <a:picLocks noChangeAspect="1"/>
          </p:cNvPicPr>
          <p:nvPr/>
        </p:nvPicPr>
        <p:blipFill>
          <a:blip r:embed="rId2"/>
          <a:stretch>
            <a:fillRect/>
          </a:stretch>
        </p:blipFill>
        <p:spPr>
          <a:xfrm>
            <a:off x="804672" y="2788920"/>
            <a:ext cx="548640" cy="548640"/>
          </a:xfrm>
          <a:prstGeom prst="rect">
            <a:avLst/>
          </a:prstGeom>
        </p:spPr>
      </p:pic>
      <p:sp>
        <p:nvSpPr>
          <p:cNvPr id="12" name="Text 7"/>
          <p:cNvSpPr txBox="1"/>
          <p:nvPr/>
        </p:nvSpPr>
        <p:spPr>
          <a:xfrm>
            <a:off x="1536192"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Heute</a:t>
            </a:r>
            <a:endParaRPr lang="en-US" sz="1800" dirty="0"/>
          </a:p>
        </p:txBody>
      </p:sp>
      <p:sp>
        <p:nvSpPr>
          <p:cNvPr id="13" name="Text 8"/>
          <p:cNvSpPr txBox="1"/>
          <p:nvPr/>
        </p:nvSpPr>
        <p:spPr>
          <a:xfrm>
            <a:off x="804672"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werden nicht als IDD-Weiterbildung gebucht.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Teilnehmende erhalten keine IDD-Bestätigung.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Das sagen wir in der Kommunikation klar.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Pilot startet trotzdem: Wissen teilen und Vernetzen zählen auch ohne IDD.</a:t>
            </a:r>
            <a:endParaRPr lang="en-US" sz="1300" dirty="0"/>
          </a:p>
        </p:txBody>
      </p:sp>
      <p:sp>
        <p:nvSpPr>
          <p:cNvPr id="14" name="Shape 9"/>
          <p:cNvSpPr/>
          <p:nvPr/>
        </p:nvSpPr>
        <p:spPr>
          <a:xfrm>
            <a:off x="4315968" y="2606040"/>
            <a:ext cx="3566160" cy="3474720"/>
          </a:xfrm>
          <a:prstGeom prst="rect">
            <a:avLst/>
          </a:prstGeom>
          <a:solidFill>
            <a:srgbClr val="FFF4E0"/>
          </a:solidFill>
          <a:ln w="12700">
            <a:solidFill>
              <a:srgbClr val="FFF4E0"/>
            </a:solidFill>
            <a:prstDash val="solid"/>
          </a:ln>
        </p:spPr>
      </p:sp>
      <p:pic>
        <p:nvPicPr>
          <p:cNvPr id="15" name="Image 2" descr="/tmp/deck/ic/target_m.png">    </p:cNvPr>
          <p:cNvPicPr>
            <a:picLocks noChangeAspect="1"/>
          </p:cNvPicPr>
          <p:nvPr/>
        </p:nvPicPr>
        <p:blipFill>
          <a:blip r:embed="rId3"/>
          <a:stretch>
            <a:fillRect/>
          </a:stretch>
        </p:blipFill>
        <p:spPr>
          <a:xfrm>
            <a:off x="4590288" y="2788920"/>
            <a:ext cx="548640" cy="548640"/>
          </a:xfrm>
          <a:prstGeom prst="rect">
            <a:avLst/>
          </a:prstGeom>
        </p:spPr>
      </p:pic>
      <p:sp>
        <p:nvSpPr>
          <p:cNvPr id="16" name="Text 10"/>
          <p:cNvSpPr txBox="1"/>
          <p:nvPr/>
        </p:nvSpPr>
        <p:spPr>
          <a:xfrm>
            <a:off x="5321808"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Ziel</a:t>
            </a:r>
            <a:endParaRPr lang="en-US" sz="1800" dirty="0"/>
          </a:p>
        </p:txBody>
      </p:sp>
      <p:sp>
        <p:nvSpPr>
          <p:cNvPr id="17" name="Text 11"/>
          <p:cNvSpPr txBox="1"/>
          <p:nvPr/>
        </p:nvSpPr>
        <p:spPr>
          <a:xfrm>
            <a:off x="4590288"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mit IDD-fähigen Inhalten werden angerechnet.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Grundlage: 15 Stunden Weiterbildung pro Jahr.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Nachweis läuft über gespeicherte Daten der Anbietenden und Teilnehmenden.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Diese Daten dienen nur dem Nachweis und der Anrechnung.</a:t>
            </a:r>
            <a:endParaRPr lang="en-US" sz="1300" dirty="0"/>
          </a:p>
        </p:txBody>
      </p:sp>
      <p:sp>
        <p:nvSpPr>
          <p:cNvPr id="18" name="Shape 12"/>
          <p:cNvSpPr/>
          <p:nvPr/>
        </p:nvSpPr>
        <p:spPr>
          <a:xfrm>
            <a:off x="8101584" y="2606040"/>
            <a:ext cx="3566160" cy="3474720"/>
          </a:xfrm>
          <a:prstGeom prst="rect">
            <a:avLst/>
          </a:prstGeom>
          <a:solidFill>
            <a:srgbClr val="F5F5F5"/>
          </a:solidFill>
          <a:ln w="12700">
            <a:solidFill>
              <a:srgbClr val="F5F5F5"/>
            </a:solidFill>
            <a:prstDash val="solid"/>
          </a:ln>
        </p:spPr>
      </p:sp>
      <p:pic>
        <p:nvPicPr>
          <p:cNvPr id="19" name="Image 3" descr="/tmp/deck/ic/doc_m.png">    </p:cNvPr>
          <p:cNvPicPr>
            <a:picLocks noChangeAspect="1"/>
          </p:cNvPicPr>
          <p:nvPr/>
        </p:nvPicPr>
        <p:blipFill>
          <a:blip r:embed="rId4"/>
          <a:stretch>
            <a:fillRect/>
          </a:stretch>
        </p:blipFill>
        <p:spPr>
          <a:xfrm>
            <a:off x="8375904" y="2788920"/>
            <a:ext cx="548640" cy="548640"/>
          </a:xfrm>
          <a:prstGeom prst="rect">
            <a:avLst/>
          </a:prstGeom>
        </p:spPr>
      </p:pic>
      <p:sp>
        <p:nvSpPr>
          <p:cNvPr id="20" name="Text 13"/>
          <p:cNvSpPr txBox="1"/>
          <p:nvPr/>
        </p:nvSpPr>
        <p:spPr>
          <a:xfrm>
            <a:off x="9107424"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Offene Punkte</a:t>
            </a:r>
            <a:endParaRPr lang="en-US" sz="1800" dirty="0"/>
          </a:p>
        </p:txBody>
      </p:sp>
      <p:sp>
        <p:nvSpPr>
          <p:cNvPr id="21" name="Text 14"/>
          <p:cNvSpPr txBox="1"/>
          <p:nvPr/>
        </p:nvSpPr>
        <p:spPr>
          <a:xfrm>
            <a:off x="8375904"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Welche Inhalte sind IDD-fähig und wer prüft das?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Wie sieht die Lernerfolgskontrolle bei kurzen Terminen aus?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bestätigen wir die Teilnahme verlässlich?</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kommt die Bestätigung in das Bildungskonto?</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Personenbezogene Daten: sparsam und zweckgebunden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Öffentlich nur der Benutzername, Anonymisierung nach fünf Jahren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3246120"/>
          </a:xfrm>
          <a:prstGeom prst="rect">
            <a:avLst/>
          </a:prstGeom>
          <a:solidFill>
            <a:srgbClr val="F5F5F5"/>
          </a:solidFill>
          <a:ln w="12700">
            <a:solidFill>
              <a:srgbClr val="F5F5F5"/>
            </a:solidFill>
            <a:prstDash val="solid"/>
          </a:ln>
        </p:spPr>
      </p:sp>
      <p:pic>
        <p:nvPicPr>
          <p:cNvPr id="9" name="Image 1" descr="/tmp/deck/ic/eye_m.png">    </p:cNvPr>
          <p:cNvPicPr>
            <a:picLocks noChangeAspect="1"/>
          </p:cNvPicPr>
          <p:nvPr/>
        </p:nvPicPr>
        <p:blipFill>
          <a:blip r:embed="rId2"/>
          <a:stretch>
            <a:fillRect/>
          </a:stretch>
        </p:blipFill>
        <p:spPr>
          <a:xfrm>
            <a:off x="804672" y="1691640"/>
            <a:ext cx="594360" cy="594360"/>
          </a:xfrm>
          <a:prstGeom prst="rect">
            <a:avLst/>
          </a:prstGeom>
        </p:spPr>
      </p:pic>
      <p:sp>
        <p:nvSpPr>
          <p:cNvPr id="10" name="Text 5"/>
          <p:cNvSpPr txBox="1"/>
          <p:nvPr/>
        </p:nvSpPr>
        <p:spPr>
          <a:xfrm>
            <a:off x="1554480" y="1691640"/>
            <a:ext cx="4297680" cy="59436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Was andere sehen</a:t>
            </a:r>
            <a:endParaRPr lang="en-US" sz="2000" dirty="0"/>
          </a:p>
        </p:txBody>
      </p:sp>
      <p:sp>
        <p:nvSpPr>
          <p:cNvPr id="11" name="Text 6"/>
          <p:cNvSpPr txBox="1"/>
          <p:nvPr/>
        </p:nvSpPr>
        <p:spPr>
          <a:xfrm>
            <a:off x="80467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Standard: nur der frei gewählte Benutzername mit Abzeichen.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Optional: öffentliches Profil mit Themen, Bio und einzelnen Freigaben.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Anbietende sehen Teilnehmende nur mit Benutzernamen.</a:t>
            </a:r>
            <a:endParaRPr lang="en-US" sz="1400" dirty="0"/>
          </a:p>
        </p:txBody>
      </p:sp>
      <p:sp>
        <p:nvSpPr>
          <p:cNvPr id="12" name="Shape 7"/>
          <p:cNvSpPr/>
          <p:nvPr/>
        </p:nvSpPr>
        <p:spPr>
          <a:xfrm>
            <a:off x="6199632" y="1508760"/>
            <a:ext cx="5486400" cy="3246120"/>
          </a:xfrm>
          <a:prstGeom prst="rect">
            <a:avLst/>
          </a:prstGeom>
          <a:solidFill>
            <a:srgbClr val="001957"/>
          </a:solidFill>
          <a:ln w="12700">
            <a:solidFill>
              <a:srgbClr val="001957"/>
            </a:solidFill>
            <a:prstDash val="solid"/>
          </a:ln>
        </p:spPr>
      </p:sp>
      <p:pic>
        <p:nvPicPr>
          <p:cNvPr id="13" name="Image 2" descr="/tmp/deck/ic/doc_m.png">    </p:cNvPr>
          <p:cNvPicPr>
            <a:picLocks noChangeAspect="1"/>
          </p:cNvPicPr>
          <p:nvPr/>
        </p:nvPicPr>
        <p:blipFill>
          <a:blip r:embed="rId3"/>
          <a:stretch>
            <a:fillRect/>
          </a:stretch>
        </p:blipFill>
        <p:spPr>
          <a:xfrm>
            <a:off x="6473952" y="1691640"/>
            <a:ext cx="594360" cy="594360"/>
          </a:xfrm>
          <a:prstGeom prst="rect">
            <a:avLst/>
          </a:prstGeom>
        </p:spPr>
      </p:pic>
      <p:sp>
        <p:nvSpPr>
          <p:cNvPr id="14" name="Text 8"/>
          <p:cNvSpPr txBox="1"/>
          <p:nvPr/>
        </p:nvSpPr>
        <p:spPr>
          <a:xfrm>
            <a:off x="7223760" y="1691640"/>
            <a:ext cx="4297680" cy="5943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Aufbewahrung und Anonymisierung</a:t>
            </a:r>
            <a:endParaRPr lang="en-US" sz="2000" dirty="0"/>
          </a:p>
        </p:txBody>
      </p:sp>
      <p:sp>
        <p:nvSpPr>
          <p:cNvPr id="15" name="Text 9"/>
          <p:cNvSpPr txBox="1"/>
          <p:nvPr/>
        </p:nvSpPr>
        <p:spPr>
          <a:xfrm>
            <a:off x="647395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Daten bleiben fünf Jahre nach dem Ende gespeichert.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ausschließlich Nachweis und Anrechnung (IDD).</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Danach werden sie automatisch anonymisiert.</a:t>
            </a:r>
            <a:endParaRPr lang="en-US" sz="1400" dirty="0"/>
          </a:p>
        </p:txBody>
      </p:sp>
      <p:sp>
        <p:nvSpPr>
          <p:cNvPr id="16" name="Text 10"/>
          <p:cNvSpPr txBox="1"/>
          <p:nvPr/>
        </p:nvSpPr>
        <p:spPr>
          <a:xfrm>
            <a:off x="530352" y="4937760"/>
            <a:ext cx="11155680" cy="320040"/>
          </a:xfrm>
          <a:prstGeom prst="rect">
            <a:avLst/>
          </a:prstGeom>
          <a:noFill/>
          <a:ln/>
        </p:spPr>
        <p:txBody>
          <a:bodyPr wrap="square" lIns="0" tIns="0" rIns="0" bIns="0" rtlCol="0" anchor="t"/>
          <a:lstStyle/>
          <a:p>
            <a:pPr indent="0" marL="0">
              <a:buNone/>
            </a:pPr>
            <a:r>
              <a:rPr lang="en-US" sz="1600" b="1" dirty="0">
                <a:solidFill>
                  <a:srgbClr val="EB6504"/>
                </a:solidFill>
                <a:latin typeface="Arial" pitchFamily="34" charset="0"/>
                <a:ea typeface="Arial" pitchFamily="34" charset="-122"/>
                <a:cs typeface="Arial" pitchFamily="34" charset="-120"/>
              </a:rPr>
              <a:t>Der Zugriff auf personenbezogene Daten ist klar begrenzt</a:t>
            </a:r>
            <a:endParaRPr lang="en-US" sz="1600" dirty="0"/>
          </a:p>
        </p:txBody>
      </p:sp>
      <p:sp>
        <p:nvSpPr>
          <p:cNvPr id="17" name="Shape 11"/>
          <p:cNvSpPr/>
          <p:nvPr/>
        </p:nvSpPr>
        <p:spPr>
          <a:xfrm>
            <a:off x="530352" y="5349240"/>
            <a:ext cx="3566160" cy="731520"/>
          </a:xfrm>
          <a:prstGeom prst="rect">
            <a:avLst/>
          </a:prstGeom>
          <a:solidFill>
            <a:srgbClr val="FFF4E0"/>
          </a:solidFill>
          <a:ln w="12700">
            <a:solidFill>
              <a:srgbClr val="FFF4E0"/>
            </a:solidFill>
            <a:prstDash val="solid"/>
          </a:ln>
        </p:spPr>
      </p:sp>
      <p:pic>
        <p:nvPicPr>
          <p:cNvPr id="18" name="Image 3" descr="/tmp/deck/ic/lock_m.png">    </p:cNvPr>
          <p:cNvPicPr>
            <a:picLocks noChangeAspect="1"/>
          </p:cNvPicPr>
          <p:nvPr/>
        </p:nvPicPr>
        <p:blipFill>
          <a:blip r:embed="rId4"/>
          <a:stretch>
            <a:fillRect/>
          </a:stretch>
        </p:blipFill>
        <p:spPr>
          <a:xfrm>
            <a:off x="713232" y="5468112"/>
            <a:ext cx="493776" cy="493776"/>
          </a:xfrm>
          <a:prstGeom prst="rect">
            <a:avLst/>
          </a:prstGeom>
        </p:spPr>
      </p:pic>
      <p:sp>
        <p:nvSpPr>
          <p:cNvPr id="19" name="Text 12"/>
          <p:cNvSpPr txBox="1"/>
          <p:nvPr/>
        </p:nvSpPr>
        <p:spPr>
          <a:xfrm>
            <a:off x="135331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Nur Administratoren aus VH-VP-TV haben Zugriff</a:t>
            </a:r>
            <a:endParaRPr lang="en-US" sz="1300" dirty="0"/>
          </a:p>
        </p:txBody>
      </p:sp>
      <p:sp>
        <p:nvSpPr>
          <p:cNvPr id="20" name="Shape 13"/>
          <p:cNvSpPr/>
          <p:nvPr/>
        </p:nvSpPr>
        <p:spPr>
          <a:xfrm>
            <a:off x="4325112" y="5349240"/>
            <a:ext cx="3566160" cy="731520"/>
          </a:xfrm>
          <a:prstGeom prst="rect">
            <a:avLst/>
          </a:prstGeom>
          <a:solidFill>
            <a:srgbClr val="FFF4E0"/>
          </a:solidFill>
          <a:ln w="12700">
            <a:solidFill>
              <a:srgbClr val="FFF4E0"/>
            </a:solidFill>
            <a:prstDash val="solid"/>
          </a:ln>
        </p:spPr>
      </p:sp>
      <p:pic>
        <p:nvPicPr>
          <p:cNvPr id="21" name="Image 4" descr="/tmp/deck/ic/shield_m.png">    </p:cNvPr>
          <p:cNvPicPr>
            <a:picLocks noChangeAspect="1"/>
          </p:cNvPicPr>
          <p:nvPr/>
        </p:nvPicPr>
        <p:blipFill>
          <a:blip r:embed="rId5"/>
          <a:stretch>
            <a:fillRect/>
          </a:stretch>
        </p:blipFill>
        <p:spPr>
          <a:xfrm>
            <a:off x="4507992" y="5468112"/>
            <a:ext cx="493776" cy="493776"/>
          </a:xfrm>
          <a:prstGeom prst="rect">
            <a:avLst/>
          </a:prstGeom>
        </p:spPr>
      </p:pic>
      <p:sp>
        <p:nvSpPr>
          <p:cNvPr id="22" name="Text 14"/>
          <p:cNvSpPr txBox="1"/>
          <p:nvPr/>
        </p:nvSpPr>
        <p:spPr>
          <a:xfrm>
            <a:off x="514807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Die Daten werden nicht veröffentlicht</a:t>
            </a:r>
            <a:endParaRPr lang="en-US" sz="1300" dirty="0"/>
          </a:p>
        </p:txBody>
      </p:sp>
      <p:sp>
        <p:nvSpPr>
          <p:cNvPr id="23" name="Shape 15"/>
          <p:cNvSpPr/>
          <p:nvPr/>
        </p:nvSpPr>
        <p:spPr>
          <a:xfrm>
            <a:off x="8119872" y="5349240"/>
            <a:ext cx="3566160" cy="731520"/>
          </a:xfrm>
          <a:prstGeom prst="rect">
            <a:avLst/>
          </a:prstGeom>
          <a:solidFill>
            <a:srgbClr val="FFF4E0"/>
          </a:solidFill>
          <a:ln w="12700">
            <a:solidFill>
              <a:srgbClr val="FFF4E0"/>
            </a:solidFill>
            <a:prstDash val="solid"/>
          </a:ln>
        </p:spPr>
      </p:sp>
      <p:pic>
        <p:nvPicPr>
          <p:cNvPr id="24" name="Image 5" descr="/tmp/deck/ic/mail_m.png">    </p:cNvPr>
          <p:cNvPicPr>
            <a:picLocks noChangeAspect="1"/>
          </p:cNvPicPr>
          <p:nvPr/>
        </p:nvPicPr>
        <p:blipFill>
          <a:blip r:embed="rId6"/>
          <a:stretch>
            <a:fillRect/>
          </a:stretch>
        </p:blipFill>
        <p:spPr>
          <a:xfrm>
            <a:off x="8302752" y="5468112"/>
            <a:ext cx="493776" cy="493776"/>
          </a:xfrm>
          <a:prstGeom prst="rect">
            <a:avLst/>
          </a:prstGeom>
        </p:spPr>
      </p:pic>
      <p:sp>
        <p:nvSpPr>
          <p:cNvPr id="25" name="Text 16"/>
          <p:cNvSpPr txBox="1"/>
          <p:nvPr/>
        </p:nvSpPr>
        <p:spPr>
          <a:xfrm>
            <a:off x="894283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Kein E-Mail-Versand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Mitbestimmung: früh und gemeinsam</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bitten um die Einleitung des Verfahrens mit dem Betriebsrat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scale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Warum</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Nahezu jedes IT-System mit Beschäftigtendaten unterliegt der Mitbestimmung (§ 87 Abs. 1 Nr. 6 BetrVG).</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Die Plattform verarbeitet Name und E-Mail-Adresse.</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Je früher wir sprechen, desto besser wird die Lösung.</a:t>
            </a:r>
            <a:endParaRPr lang="en-US" sz="1400" dirty="0"/>
          </a:p>
        </p:txBody>
      </p:sp>
      <p:sp>
        <p:nvSpPr>
          <p:cNvPr id="12" name="Shape 7"/>
          <p:cNvSpPr/>
          <p:nvPr/>
        </p:nvSpPr>
        <p:spPr>
          <a:xfrm>
            <a:off x="4325112" y="1508760"/>
            <a:ext cx="3566160" cy="4572000"/>
          </a:xfrm>
          <a:prstGeom prst="rect">
            <a:avLst/>
          </a:prstGeom>
          <a:solidFill>
            <a:srgbClr val="001957"/>
          </a:solidFill>
          <a:ln w="12700">
            <a:solidFill>
              <a:srgbClr val="001957"/>
            </a:solidFill>
            <a:prstDash val="solid"/>
          </a:ln>
        </p:spPr>
      </p:sp>
      <p:pic>
        <p:nvPicPr>
          <p:cNvPr id="13" name="Image 2" descr="/tmp/deck/ic/check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Unser Vorschlag</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Fristen schriftlich regeln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Keine Auswertung einzelner Personen, keine Leistungskontrolle</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Arbeitszeitregel für dienstliche Sessions abstimmen</a:t>
            </a:r>
            <a:endParaRPr lang="en-US" sz="14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Nächste Schritte</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Vorstellung im Führungskreis</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Abstimmung mit Datenschutz</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Gespräch mit dem Betriebsrat</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Freigabe des Pilots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Anbietende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914400">
                <a:tc>
                  <a:txBody>
                    <a:bodyPr/>
                    <a:lstStyle/>
                    <a:p>
                      <a:pPr indent="0" marL="0">
                        <a:buNone/>
                      </a:pPr>
                      <a:r>
                        <a:rPr lang="en-US" sz="1300" b="1" dirty="0">
                          <a:solidFill>
                            <a:srgbClr val="001957"/>
                          </a:solidFill>
                          <a:latin typeface="Arial" pitchFamily="34" charset="0"/>
                          <a:ea typeface="Arial" pitchFamily="34" charset="-122"/>
                          <a:cs typeface="Arial" pitchFamily="34" charset="-120"/>
                        </a:rPr>
                        <a:t>Falsche Erwartungen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 kommunizieren: Die IDD-Anrechnung funktioniert noch nicht, private Sessions sind keine Arbeitszeit, dienstliche Sessions erfordern das Einstechen.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automatische Anonymisierung, Zugriff nur für VH-VP-TV, Einbindung des Betriebsrats.</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Rückmeldungen der Teilnehmenden, Termine lassen sich bearbeiten oder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IDD-Anrechnung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Das IDD-Konzept läuft parallel und wird schrittweise freigeschaltet.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Datenkonzept mit Datenschutz abstimmen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Regeln klar kommunizieren: Arbeitszeit, keine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Anbietende gewinnen, auch Führungskräfte</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klären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Konzept für die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Technischen Nachweis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Pilot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Anbietende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 zunächst ohne IDD-Anrechnung.</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und Datenkonzept</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Verfahren mit dem Betriebsrat einleiten. Datenkonzept und Arbeitszeitregel gemeinsam festlegen.</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arget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Auftrag für die IDD-Anrechnung</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Konzept und technischen Nachweis zügig erarbeiten. Das ist das wichtigste Folgeprojekt.</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team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Betrieb in VH-VP-TV</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Administration liegt bei Training &amp; Entwicklung Vertrieb, Gruppe Produktion. Führungskräfte gehen mit ersten Terminen voran.</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Anhang: 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IDD-Anrechnung als Ziel</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2026-10-02T10:20:57Z</dcterms:created>
  <dcterms:modified xsi:type="dcterms:W3CDTF">2026-10-02T10:20:57Z</dcterms:modified>
</cp:coreProperties>
</file>