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Anrechnung von IDD-Zeiten ist für anrechnungsfähige Veranstaltungen aus dem beruflichen Bereich geplant. Sie wird aktuell ausgebaut und soll zukünftig freigeschaltet werden. Die Meldung an gutBeraten folgt.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folgt der Planung: worum es geht, wann es stattfindet, was angeboten wird, dann die IDD-Angaben und zum Schluss Teilnahme und Teams-Link. Die IDD-Agenda steht hinter der Dauer, weil sie die Dauer braucht. Die Plattform prüft Zeitfenster und Dauer. Wer anbietet, ist LearnMaker. Als LearnMaker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 kein eigenes Foto hat, wählt eines von rund 70 Platzhalterbildern, dienstlich wie privat. Die Administration kann zusätzlich echte Fotos hinterlegen, etwa aus der R+V-Mediendatenbank. Die Motive folgen der R+V-Bildwelt: flache Markenfarben und Piktogramme aus dem R+V-Iconfont. Eine Suche hilft bei der Auswahl. Die Motive sind mit KI gestaltet und tragen deshalb das KI-Label der 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sieht ihre Anmeldungen und ihre eigenen Veranstaltungen an einem Ort. Ein Schalter trennt Anstehend und Vergangen. LearnMaker sehen die Teilnehmenden nur mit Benutzernamen und können selbst absagen. Wer angemeldet ist, erhält dann eine Mitteilung in der App.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fünf Bereichen: Übersicht, Veranstaltungen, Teilnahmen, Veröffentlichung und Konto. Name, XV-Nummer und E-Mail-Adresse lassen sich dort selbst ändern, bestätigt mit dem Passwort.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sechs Bereiche mit über 20 Kennzahlen und rund 20 Auswertungen, jeweils mit PDF-Export. Wir betrachten Angebot, Nachfrage, Nutzende, Bewertungen und Datenschutz. Die wichtigsten Werte für das Management sind Lernstunden und erreichte Personen. Die Abbildung zeigt Beispieldaten. Alle Auswertungen sind zusammengefasst. Ranglisten mit Personenbezug, Anmeldezeiten je Person und Einzelbewertungen gibt es nicht. Bewertungen fließen erst ab drei Stimmen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Zielwerte leiten sich aus der Zielgruppe von rund 6.000 Personen ab. Wir rechnen mit zwei Monaten Anlauf. Rund 40 LearnMaker, also etwa jede 150. Person, bieten im Schnitt zwei bis drei Sessions an. Das ergibt rund 100 Sessions, etwa vier pro Woche. Bei durchschnittlich zehn Teilnehmenden kommen rund 1.000 Teilnahmen zusammen. Bei Ø 45 Minuten sind das rund 750 Lernstunden. Nimmt jede Person im Schnitt gut zweimal teil, erreichen wir etwa 450 Personen, also 7,5 Prozent der Zielgruppe. Mindestens 35 Prozent sollen wiederkommen. Das zeigt, dass das Angebot trägt. Alle Werte liefert die Statistik direkt.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Anrechnung von IDD-Zeiten ist für anrechnungsfähige Veranstaltungen aus dem beruflichen Bereich geplant. Wir bauen sie aktuell in der App aus. Zukünftig soll sie freigeschaltet werden. Bis dahin ist die Funktion ausgeschaltet. Freigeschaltete LearnMaker legen IDD-Veranstaltungen mit IDD-Titel, Beschreibung des Lerninhalts, IDD-Zeit und Agenda an. Der Lerninhalt folgt den Kategorien von gutBeraten. Nach der Session bestätigen sie, wer teilgenommen hat. Nur bestätigte Teilnahmen zählen. Teilnehmende sehen ihre Zeit je Kalenderjahr im IDD-Cockpit und laden einen PDF-Nachweis herunter. Am 31.01. des Folgejahres wird ein Jahr gesperrt. Offen sind das Format der Meldung an gutBeraten und die Freigaben. Der Pilot kann ohne IDD starten, die Anrechnung kommt später dazu.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soll eine IDD-Veranstaltung nach der Freischaltung laufen. Der Ablauf gilt nur für anrechnungsfähige berufliche Veranstaltungen. Erstens: Freigeschaltete LearnMaker setzen beim Anlegen den IDD-Haken, tragen den IDD-Titel ein, wählen die Beschreibung des Lerninhalts aus den Kategorien von gutBeraten und planen nach der Dauer die Agenda. Je Eintrag legen sie Inhalte, Dauer und IDD-Bildungszeit fest. Die App prüft den Titel und die Summe. Zweitens: Teilnehmende sehen im Katalog Dauer und IDD-Zeit getrennt. Drittens: Nach der Session bestätigen die LearnMaker die Teilnahme innerhalb von 14 Tagen, danach die Administration. Viertens: Im IDD-Cockpit sehen Teilnehmende ihre Zeit je Kalenderjahr und laden den PDF-Nachweis. Die Abbildung zeigt das Cockpit mit Beispieldaten.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Private Sessions haben keinen Nachweiszweck, ihre Daten werden schon nach 12 Monaten anonymisiert. Danach werden sie anonymisiert, nur Zähler bleiben. Konten ohne Anmeldung löscht die Plattform nach 24 Monaten automatisch.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haben die Plattform gezielt auf IT-Sicherheit und Datenschutz geprüft und nachgeschärft. Beschäftigte können ihre Daten selbst herunterladen und ihr Konto selbst löschen. Abzeichen und Profil sind freiwillig. Eine Leistungs- oder Verhaltenskontrolle ist technisch ausgeschlossen: keine Ranglisten, keine Anmeldezeiten je Person, keine Sterne je Person, auch nicht für die Administration. Wer an privaten Sessions teilnimmt, sieht die Administration nicht. Technisch schützen gehashte Passwörter, serverseitig beendbare Sitzungen, Schutz vor fremden Formularen, Skripten und Einbettungen sowie geprüfte Uploads. Admin-Änderungen werden protokolliert. HTTPS setzt die Plattform nicht voraus. Ohne HTTPS betreiben wir sie nur im internen Netz. Details stehen im Papier zu IT-Sicherheit und Datenschutz.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In Phase 2 schalten wir die IDD-Anrechnung für berufliche Veranstaltungen frei, setzen die Meldung an gutBeraten um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IDD-Anrechnung für berufliche Veranstaltungen ist geplant und wird ausgebaut. Für ihre Freischaltung brauchen wir die Freigaben und die Meldung an gutBeraten.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die geplante IDD-Anrechnung mit bestätigter Teilnahme.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3.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03.10.2026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bearbeiten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öffentliches Profil</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IDD-Anrechnung beruflicher Termine: im Ausbau</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Freischaltung der IDD-Anrechnung, Meldung an gutBeraten</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LearnMaker,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Werde LearnMaker: 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 Worum geht es?</a:t>
            </a:r>
            <a:endParaRPr lang="en-US" sz="1600" dirty="0"/>
          </a:p>
        </p:txBody>
      </p:sp>
      <p:sp>
        <p:nvSpPr>
          <p:cNvPr id="10" name="Text 5"/>
          <p:cNvSpPr txBox="1"/>
          <p:nvPr/>
        </p:nvSpPr>
        <p:spPr>
          <a:xfrm>
            <a:off x="7680960" y="18562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Titel, Themenbereich, Thema und Art der Veranstaltung.</a:t>
            </a:r>
            <a:endParaRPr lang="en-US" sz="1250" dirty="0"/>
          </a:p>
        </p:txBody>
      </p:sp>
      <p:sp>
        <p:nvSpPr>
          <p:cNvPr id="11" name="Text 6"/>
          <p:cNvSpPr txBox="1"/>
          <p:nvPr/>
        </p:nvSpPr>
        <p:spPr>
          <a:xfrm>
            <a:off x="7680960" y="24231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2 Wann findet es statt?</a:t>
            </a:r>
            <a:endParaRPr lang="en-US" sz="1600" dirty="0"/>
          </a:p>
        </p:txBody>
      </p:sp>
      <p:sp>
        <p:nvSpPr>
          <p:cNvPr id="12" name="Text 7"/>
          <p:cNvSpPr txBox="1"/>
          <p:nvPr/>
        </p:nvSpPr>
        <p:spPr>
          <a:xfrm>
            <a:off x="7680960" y="27706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Tag, Dauer und Startzeit im erlaubten Zeitfenster.</a:t>
            </a:r>
            <a:endParaRPr lang="en-US" sz="1250" dirty="0"/>
          </a:p>
        </p:txBody>
      </p:sp>
      <p:sp>
        <p:nvSpPr>
          <p:cNvPr id="13" name="Text 8"/>
          <p:cNvSpPr txBox="1"/>
          <p:nvPr/>
        </p:nvSpPr>
        <p:spPr>
          <a:xfrm>
            <a:off x="7680960" y="33375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3 Was wird angeboten?</a:t>
            </a:r>
            <a:endParaRPr lang="en-US" sz="1600" dirty="0"/>
          </a:p>
        </p:txBody>
      </p:sp>
      <p:sp>
        <p:nvSpPr>
          <p:cNvPr id="14" name="Text 9"/>
          <p:cNvSpPr txBox="1"/>
          <p:nvPr/>
        </p:nvSpPr>
        <p:spPr>
          <a:xfrm>
            <a:off x="7680960" y="36850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Beschreibung und ein eigenes Bild oder ein Platzhalterbild.</a:t>
            </a:r>
            <a:endParaRPr lang="en-US" sz="1250" dirty="0"/>
          </a:p>
        </p:txBody>
      </p:sp>
      <p:sp>
        <p:nvSpPr>
          <p:cNvPr id="15" name="Text 10"/>
          <p:cNvSpPr txBox="1"/>
          <p:nvPr/>
        </p:nvSpPr>
        <p:spPr>
          <a:xfrm>
            <a:off x="7680960" y="42519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4 IDD-Weiterbildung</a:t>
            </a:r>
            <a:endParaRPr lang="en-US" sz="1600" dirty="0"/>
          </a:p>
        </p:txBody>
      </p:sp>
      <p:sp>
        <p:nvSpPr>
          <p:cNvPr id="16" name="Text 11"/>
          <p:cNvSpPr txBox="1"/>
          <p:nvPr/>
        </p:nvSpPr>
        <p:spPr>
          <a:xfrm>
            <a:off x="7680960" y="45994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Mit Freischaltung: IDD-Titel, Lerninhalt und Agenda zur Dauer.</a:t>
            </a:r>
            <a:endParaRPr lang="en-US" sz="1250" dirty="0"/>
          </a:p>
        </p:txBody>
      </p:sp>
      <p:sp>
        <p:nvSpPr>
          <p:cNvPr id="17" name="Text 12"/>
          <p:cNvSpPr txBox="1"/>
          <p:nvPr/>
        </p:nvSpPr>
        <p:spPr>
          <a:xfrm>
            <a:off x="7680960" y="5166360"/>
            <a:ext cx="4023360" cy="329184"/>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5 Teilnahme und Teams-Link</a:t>
            </a:r>
            <a:endParaRPr lang="en-US" sz="1600" dirty="0"/>
          </a:p>
        </p:txBody>
      </p:sp>
      <p:sp>
        <p:nvSpPr>
          <p:cNvPr id="18" name="Text 13"/>
          <p:cNvSpPr txBox="1"/>
          <p:nvPr/>
        </p:nvSpPr>
        <p:spPr>
          <a:xfrm>
            <a:off x="7680960" y="5513832"/>
            <a:ext cx="4023360" cy="50292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Platzzahl bis 50. Der Link ist nur für Angemeldete sichtbar.</a:t>
            </a:r>
            <a:endParaRPr lang="en-US" sz="1250" dirty="0"/>
          </a:p>
        </p:txBody>
      </p:sp>
      <p:sp>
        <p:nvSpPr>
          <p:cNvPr id="19" name="Text 14"/>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Bilder in der R+V-Bildwelt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Eigenes Foto hochladen oder ein Platzhalterbild wählen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latzhalter.jpg">    </p:cNvPr>
          <p:cNvPicPr>
            <a:picLocks noChangeAspect="1"/>
          </p:cNvPicPr>
          <p:nvPr/>
        </p:nvPicPr>
        <p:blipFill>
          <a:blip r:embed="rId2"/>
          <a:stretch>
            <a:fillRect/>
          </a:stretch>
        </p:blipFill>
        <p:spPr>
          <a:xfrm>
            <a:off x="530352" y="1463040"/>
            <a:ext cx="4572000" cy="4051005"/>
          </a:xfrm>
          <a:prstGeom prst="rect">
            <a:avLst/>
          </a:prstGeom>
        </p:spPr>
      </p:pic>
      <p:sp>
        <p:nvSpPr>
          <p:cNvPr id="9" name="Text 4"/>
          <p:cNvSpPr txBox="1"/>
          <p:nvPr/>
        </p:nvSpPr>
        <p:spPr>
          <a:xfrm>
            <a:off x="5577840" y="150876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Eigenes Bild</a:t>
            </a:r>
            <a:endParaRPr lang="en-US" sz="1800" dirty="0"/>
          </a:p>
        </p:txBody>
      </p:sp>
      <p:sp>
        <p:nvSpPr>
          <p:cNvPr id="10" name="Text 5"/>
          <p:cNvSpPr txBox="1"/>
          <p:nvPr/>
        </p:nvSpPr>
        <p:spPr>
          <a:xfrm>
            <a:off x="5577840" y="189280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Hochladen, Ausschnitt und Zoom wählen, quadratisch gespeichert.</a:t>
            </a:r>
            <a:endParaRPr lang="en-US" sz="1400" dirty="0"/>
          </a:p>
        </p:txBody>
      </p:sp>
      <p:sp>
        <p:nvSpPr>
          <p:cNvPr id="11" name="Text 6"/>
          <p:cNvSpPr txBox="1"/>
          <p:nvPr/>
        </p:nvSpPr>
        <p:spPr>
          <a:xfrm>
            <a:off x="5577840" y="260604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Rund 70 Motive und Fotos</a:t>
            </a:r>
            <a:endParaRPr lang="en-US" sz="1800" dirty="0"/>
          </a:p>
        </p:txBody>
      </p:sp>
      <p:sp>
        <p:nvSpPr>
          <p:cNvPr id="12" name="Text 7"/>
          <p:cNvSpPr txBox="1"/>
          <p:nvPr/>
        </p:nvSpPr>
        <p:spPr>
          <a:xfrm>
            <a:off x="5577840" y="299008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Vom Kundengespräch bis zum Spieleabend, dazu Fotos der Administration, mit Suche.</a:t>
            </a:r>
            <a:endParaRPr lang="en-US" sz="1400" dirty="0"/>
          </a:p>
        </p:txBody>
      </p:sp>
      <p:sp>
        <p:nvSpPr>
          <p:cNvPr id="13" name="Text 8"/>
          <p:cNvSpPr txBox="1"/>
          <p:nvPr/>
        </p:nvSpPr>
        <p:spPr>
          <a:xfrm>
            <a:off x="5577840" y="370332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KI-Label</a:t>
            </a:r>
            <a:endParaRPr lang="en-US" sz="1800" dirty="0"/>
          </a:p>
        </p:txBody>
      </p:sp>
      <p:sp>
        <p:nvSpPr>
          <p:cNvPr id="14" name="Text 9"/>
          <p:cNvSpPr txBox="1"/>
          <p:nvPr/>
        </p:nvSpPr>
        <p:spPr>
          <a:xfrm>
            <a:off x="5577840" y="408736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Jedes Platzhaltermotiv trägt das vorgeschriebene KI-Label der R+V.</a:t>
            </a:r>
            <a:endParaRPr lang="en-US" sz="1400" dirty="0"/>
          </a:p>
        </p:txBody>
      </p:sp>
      <p:sp>
        <p:nvSpPr>
          <p:cNvPr id="15" name="Text 10"/>
          <p:cNvSpPr txBox="1"/>
          <p:nvPr/>
        </p:nvSpPr>
        <p:spPr>
          <a:xfrm>
            <a:off x="5577840" y="480060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Standardmotiv</a:t>
            </a:r>
            <a:endParaRPr lang="en-US" sz="1800" dirty="0"/>
          </a:p>
        </p:txBody>
      </p:sp>
      <p:sp>
        <p:nvSpPr>
          <p:cNvPr id="16" name="Text 11"/>
          <p:cNvSpPr txBox="1"/>
          <p:nvPr/>
        </p:nvSpPr>
        <p:spPr>
          <a:xfrm>
            <a:off x="5577840" y="518464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Ohne Auswahl erscheint automatisch ein Motiv zum Thema.</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Alles im 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Meine Anmeldungen und Meine Veranstaltungen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meine-veranstaltung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Anstehend und Vergangen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Zwei Bereiche statt einer langen Liste.</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Anmeldungen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Teams-Link, Kalenderdatei, Abmelden und Bewertung.</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Ø Bewertung, Bearbeiten und Absage.</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Mitteilungen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Absage und Termin-Update direkt in der App.</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3612379"/>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Profil mit Profilbild</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Eigenes Foto oder Illustration, fünf Bereiche von Übersicht bis Konto.</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für andere erst nach Zustimmung sichtbar.</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 Die Startseite erinnert daran.</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Anstehende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der LearnMaker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Eigenes Konto, Profilbild freiwillig</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LearnMaker</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bearbeiten und absagen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Texte, Fotos und Abzeichen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Konten und Rechte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in sechs Bereichen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LearnMaker</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Lernstunden und erreichte Personen pro Monat</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Bewertungen und Aktivität nur zusammengefasst</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jeder Bereich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Woran wir den Pilot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Zielwerte für sechs Monate bei rund 6.000 Personen im Außendienst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737360" cy="2331720"/>
          </a:xfrm>
          <a:prstGeom prst="rect">
            <a:avLst/>
          </a:prstGeom>
          <a:solidFill>
            <a:srgbClr val="001957"/>
          </a:solidFill>
          <a:ln w="12700">
            <a:solidFill>
              <a:srgbClr val="001957"/>
            </a:solidFill>
            <a:prstDash val="solid"/>
          </a:ln>
        </p:spPr>
      </p:sp>
      <p:sp>
        <p:nvSpPr>
          <p:cNvPr id="9" name="Text 5"/>
          <p:cNvSpPr txBox="1"/>
          <p:nvPr/>
        </p:nvSpPr>
        <p:spPr>
          <a:xfrm>
            <a:off x="694944" y="1645920"/>
            <a:ext cx="1463040" cy="82296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450</a:t>
            </a:r>
            <a:endParaRPr lang="en-US" sz="3200" dirty="0"/>
          </a:p>
        </p:txBody>
      </p:sp>
      <p:sp>
        <p:nvSpPr>
          <p:cNvPr id="10" name="Text 6"/>
          <p:cNvSpPr txBox="1"/>
          <p:nvPr/>
        </p:nvSpPr>
        <p:spPr>
          <a:xfrm>
            <a:off x="694944" y="2514600"/>
            <a:ext cx="1508760" cy="5486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Erreichte Personen</a:t>
            </a:r>
            <a:endParaRPr lang="en-US" sz="1400" dirty="0"/>
          </a:p>
        </p:txBody>
      </p:sp>
      <p:sp>
        <p:nvSpPr>
          <p:cNvPr id="11" name="Text 7"/>
          <p:cNvSpPr txBox="1"/>
          <p:nvPr/>
        </p:nvSpPr>
        <p:spPr>
          <a:xfrm>
            <a:off x="694944" y="3063240"/>
            <a:ext cx="1508760" cy="6400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7,5 % der Zielgruppe</a:t>
            </a:r>
            <a:endParaRPr lang="en-US" sz="1200" dirty="0"/>
          </a:p>
        </p:txBody>
      </p:sp>
      <p:sp>
        <p:nvSpPr>
          <p:cNvPr id="12" name="Shape 8"/>
          <p:cNvSpPr/>
          <p:nvPr/>
        </p:nvSpPr>
        <p:spPr>
          <a:xfrm>
            <a:off x="2414016" y="1508760"/>
            <a:ext cx="1737360" cy="2331720"/>
          </a:xfrm>
          <a:prstGeom prst="rect">
            <a:avLst/>
          </a:prstGeom>
          <a:solidFill>
            <a:srgbClr val="F5F5F5"/>
          </a:solidFill>
          <a:ln w="12700">
            <a:solidFill>
              <a:srgbClr val="F5F5F5"/>
            </a:solidFill>
            <a:prstDash val="solid"/>
          </a:ln>
        </p:spPr>
      </p:sp>
      <p:sp>
        <p:nvSpPr>
          <p:cNvPr id="13" name="Text 9"/>
          <p:cNvSpPr txBox="1"/>
          <p:nvPr/>
        </p:nvSpPr>
        <p:spPr>
          <a:xfrm>
            <a:off x="2578608"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750</a:t>
            </a:r>
            <a:endParaRPr lang="en-US" sz="3200" dirty="0"/>
          </a:p>
        </p:txBody>
      </p:sp>
      <p:sp>
        <p:nvSpPr>
          <p:cNvPr id="14" name="Text 10"/>
          <p:cNvSpPr txBox="1"/>
          <p:nvPr/>
        </p:nvSpPr>
        <p:spPr>
          <a:xfrm>
            <a:off x="2578608"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Lernstunden</a:t>
            </a:r>
            <a:endParaRPr lang="en-US" sz="1400" dirty="0"/>
          </a:p>
        </p:txBody>
      </p:sp>
      <p:sp>
        <p:nvSpPr>
          <p:cNvPr id="15" name="Text 11"/>
          <p:cNvSpPr txBox="1"/>
          <p:nvPr/>
        </p:nvSpPr>
        <p:spPr>
          <a:xfrm>
            <a:off x="2578608"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Teilnahmen mal Dauer</a:t>
            </a:r>
            <a:endParaRPr lang="en-US" sz="1200" dirty="0"/>
          </a:p>
        </p:txBody>
      </p:sp>
      <p:sp>
        <p:nvSpPr>
          <p:cNvPr id="16" name="Shape 12"/>
          <p:cNvSpPr/>
          <p:nvPr/>
        </p:nvSpPr>
        <p:spPr>
          <a:xfrm>
            <a:off x="4297680" y="1508760"/>
            <a:ext cx="1737360" cy="2331720"/>
          </a:xfrm>
          <a:prstGeom prst="rect">
            <a:avLst/>
          </a:prstGeom>
          <a:solidFill>
            <a:srgbClr val="F5F5F5"/>
          </a:solidFill>
          <a:ln w="12700">
            <a:solidFill>
              <a:srgbClr val="F5F5F5"/>
            </a:solidFill>
            <a:prstDash val="solid"/>
          </a:ln>
        </p:spPr>
      </p:sp>
      <p:sp>
        <p:nvSpPr>
          <p:cNvPr id="17" name="Text 13"/>
          <p:cNvSpPr txBox="1"/>
          <p:nvPr/>
        </p:nvSpPr>
        <p:spPr>
          <a:xfrm>
            <a:off x="4462272"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100</a:t>
            </a:r>
            <a:endParaRPr lang="en-US" sz="3200" dirty="0"/>
          </a:p>
        </p:txBody>
      </p:sp>
      <p:sp>
        <p:nvSpPr>
          <p:cNvPr id="18" name="Text 14"/>
          <p:cNvSpPr txBox="1"/>
          <p:nvPr/>
        </p:nvSpPr>
        <p:spPr>
          <a:xfrm>
            <a:off x="4462272"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Sessions</a:t>
            </a:r>
            <a:endParaRPr lang="en-US" sz="1400" dirty="0"/>
          </a:p>
        </p:txBody>
      </p:sp>
      <p:sp>
        <p:nvSpPr>
          <p:cNvPr id="19" name="Text 15"/>
          <p:cNvSpPr txBox="1"/>
          <p:nvPr/>
        </p:nvSpPr>
        <p:spPr>
          <a:xfrm>
            <a:off x="4462272"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rund 4 pro Woche</a:t>
            </a:r>
            <a:endParaRPr lang="en-US" sz="1200" dirty="0"/>
          </a:p>
        </p:txBody>
      </p:sp>
      <p:sp>
        <p:nvSpPr>
          <p:cNvPr id="20" name="Shape 16"/>
          <p:cNvSpPr/>
          <p:nvPr/>
        </p:nvSpPr>
        <p:spPr>
          <a:xfrm>
            <a:off x="6181344" y="1508760"/>
            <a:ext cx="1737360" cy="2331720"/>
          </a:xfrm>
          <a:prstGeom prst="rect">
            <a:avLst/>
          </a:prstGeom>
          <a:solidFill>
            <a:srgbClr val="F5F5F5"/>
          </a:solidFill>
          <a:ln w="12700">
            <a:solidFill>
              <a:srgbClr val="F5F5F5"/>
            </a:solidFill>
            <a:prstDash val="solid"/>
          </a:ln>
        </p:spPr>
      </p:sp>
      <p:sp>
        <p:nvSpPr>
          <p:cNvPr id="21" name="Text 17"/>
          <p:cNvSpPr txBox="1"/>
          <p:nvPr/>
        </p:nvSpPr>
        <p:spPr>
          <a:xfrm>
            <a:off x="6345936"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40</a:t>
            </a:r>
            <a:endParaRPr lang="en-US" sz="3200" dirty="0"/>
          </a:p>
        </p:txBody>
      </p:sp>
      <p:sp>
        <p:nvSpPr>
          <p:cNvPr id="22" name="Text 18"/>
          <p:cNvSpPr txBox="1"/>
          <p:nvPr/>
        </p:nvSpPr>
        <p:spPr>
          <a:xfrm>
            <a:off x="6345936"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LearnMaker</a:t>
            </a:r>
            <a:endParaRPr lang="en-US" sz="1400" dirty="0"/>
          </a:p>
        </p:txBody>
      </p:sp>
      <p:sp>
        <p:nvSpPr>
          <p:cNvPr id="23" name="Text 19"/>
          <p:cNvSpPr txBox="1"/>
          <p:nvPr/>
        </p:nvSpPr>
        <p:spPr>
          <a:xfrm>
            <a:off x="6345936"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aus dem Außendienst</a:t>
            </a:r>
            <a:endParaRPr lang="en-US" sz="1200" dirty="0"/>
          </a:p>
        </p:txBody>
      </p:sp>
      <p:sp>
        <p:nvSpPr>
          <p:cNvPr id="24" name="Shape 20"/>
          <p:cNvSpPr/>
          <p:nvPr/>
        </p:nvSpPr>
        <p:spPr>
          <a:xfrm>
            <a:off x="8065008" y="1508760"/>
            <a:ext cx="1737360" cy="2331720"/>
          </a:xfrm>
          <a:prstGeom prst="rect">
            <a:avLst/>
          </a:prstGeom>
          <a:solidFill>
            <a:srgbClr val="F5F5F5"/>
          </a:solidFill>
          <a:ln w="12700">
            <a:solidFill>
              <a:srgbClr val="F5F5F5"/>
            </a:solidFill>
            <a:prstDash val="solid"/>
          </a:ln>
        </p:spPr>
      </p:sp>
      <p:sp>
        <p:nvSpPr>
          <p:cNvPr id="25" name="Text 21"/>
          <p:cNvSpPr txBox="1"/>
          <p:nvPr/>
        </p:nvSpPr>
        <p:spPr>
          <a:xfrm>
            <a:off x="8229600"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35 %</a:t>
            </a:r>
            <a:endParaRPr lang="en-US" sz="3200" dirty="0"/>
          </a:p>
        </p:txBody>
      </p:sp>
      <p:sp>
        <p:nvSpPr>
          <p:cNvPr id="26" name="Text 22"/>
          <p:cNvSpPr txBox="1"/>
          <p:nvPr/>
        </p:nvSpPr>
        <p:spPr>
          <a:xfrm>
            <a:off x="8229600"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Wiederkehrend</a:t>
            </a:r>
            <a:endParaRPr lang="en-US" sz="1400" dirty="0"/>
          </a:p>
        </p:txBody>
      </p:sp>
      <p:sp>
        <p:nvSpPr>
          <p:cNvPr id="27" name="Text 23"/>
          <p:cNvSpPr txBox="1"/>
          <p:nvPr/>
        </p:nvSpPr>
        <p:spPr>
          <a:xfrm>
            <a:off x="8229600"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mindestens 2 Teilnahmen</a:t>
            </a:r>
            <a:endParaRPr lang="en-US" sz="1200" dirty="0"/>
          </a:p>
        </p:txBody>
      </p:sp>
      <p:sp>
        <p:nvSpPr>
          <p:cNvPr id="28" name="Shape 24"/>
          <p:cNvSpPr/>
          <p:nvPr/>
        </p:nvSpPr>
        <p:spPr>
          <a:xfrm>
            <a:off x="9948672" y="1508760"/>
            <a:ext cx="1737360" cy="2331720"/>
          </a:xfrm>
          <a:prstGeom prst="rect">
            <a:avLst/>
          </a:prstGeom>
          <a:solidFill>
            <a:srgbClr val="F5F5F5"/>
          </a:solidFill>
          <a:ln w="12700">
            <a:solidFill>
              <a:srgbClr val="F5F5F5"/>
            </a:solidFill>
            <a:prstDash val="solid"/>
          </a:ln>
        </p:spPr>
      </p:sp>
      <p:sp>
        <p:nvSpPr>
          <p:cNvPr id="29" name="Text 25"/>
          <p:cNvSpPr txBox="1"/>
          <p:nvPr/>
        </p:nvSpPr>
        <p:spPr>
          <a:xfrm>
            <a:off x="10113264"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4,2</a:t>
            </a:r>
            <a:endParaRPr lang="en-US" sz="3200" dirty="0"/>
          </a:p>
        </p:txBody>
      </p:sp>
      <p:sp>
        <p:nvSpPr>
          <p:cNvPr id="30" name="Text 26"/>
          <p:cNvSpPr txBox="1"/>
          <p:nvPr/>
        </p:nvSpPr>
        <p:spPr>
          <a:xfrm>
            <a:off x="10113264"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Zufriedenheit</a:t>
            </a:r>
            <a:endParaRPr lang="en-US" sz="1400" dirty="0"/>
          </a:p>
        </p:txBody>
      </p:sp>
      <p:sp>
        <p:nvSpPr>
          <p:cNvPr id="31" name="Text 27"/>
          <p:cNvSpPr txBox="1"/>
          <p:nvPr/>
        </p:nvSpPr>
        <p:spPr>
          <a:xfrm>
            <a:off x="10113264"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Ø Sterne von 5</a:t>
            </a:r>
            <a:endParaRPr lang="en-US" sz="1200" dirty="0"/>
          </a:p>
        </p:txBody>
      </p:sp>
      <p:sp>
        <p:nvSpPr>
          <p:cNvPr id="32" name="Shape 28"/>
          <p:cNvSpPr/>
          <p:nvPr/>
        </p:nvSpPr>
        <p:spPr>
          <a:xfrm>
            <a:off x="530352" y="4069080"/>
            <a:ext cx="5486400" cy="2011680"/>
          </a:xfrm>
          <a:prstGeom prst="rect">
            <a:avLst/>
          </a:prstGeom>
          <a:solidFill>
            <a:srgbClr val="FFF4E0"/>
          </a:solidFill>
          <a:ln w="12700">
            <a:solidFill>
              <a:srgbClr val="FFF4E0"/>
            </a:solidFill>
            <a:prstDash val="solid"/>
          </a:ln>
        </p:spPr>
      </p:sp>
      <p:pic>
        <p:nvPicPr>
          <p:cNvPr id="33" name="Image 1" descr="/tmp/deck/ic/target_m.png">    </p:cNvPr>
          <p:cNvPicPr>
            <a:picLocks noChangeAspect="1"/>
          </p:cNvPicPr>
          <p:nvPr/>
        </p:nvPicPr>
        <p:blipFill>
          <a:blip r:embed="rId2"/>
          <a:stretch>
            <a:fillRect/>
          </a:stretch>
        </p:blipFill>
        <p:spPr>
          <a:xfrm>
            <a:off x="777240" y="4251960"/>
            <a:ext cx="548640" cy="548640"/>
          </a:xfrm>
          <a:prstGeom prst="rect">
            <a:avLst/>
          </a:prstGeom>
        </p:spPr>
      </p:pic>
      <p:sp>
        <p:nvSpPr>
          <p:cNvPr id="34" name="Text 29"/>
          <p:cNvSpPr txBox="1"/>
          <p:nvPr/>
        </p:nvSpPr>
        <p:spPr>
          <a:xfrm>
            <a:off x="146304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Messbar ab dem ersten Tag</a:t>
            </a:r>
            <a:endParaRPr lang="en-US" sz="1800" dirty="0"/>
          </a:p>
        </p:txBody>
      </p:sp>
      <p:sp>
        <p:nvSpPr>
          <p:cNvPr id="35" name="Text 30"/>
          <p:cNvSpPr txBox="1"/>
          <p:nvPr/>
        </p:nvSpPr>
        <p:spPr>
          <a:xfrm>
            <a:off x="77724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Zwischenstand nach 3 Monaten: 200 Personen, 25 LearnMaker</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Monatlicher Bericht an das Management (PDF)</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Nach 6 Monaten: Entscheidung über den Ausbau</a:t>
            </a:r>
            <a:endParaRPr lang="en-US" sz="1400" dirty="0"/>
          </a:p>
        </p:txBody>
      </p:sp>
      <p:sp>
        <p:nvSpPr>
          <p:cNvPr id="36" name="Shape 31"/>
          <p:cNvSpPr/>
          <p:nvPr/>
        </p:nvSpPr>
        <p:spPr>
          <a:xfrm>
            <a:off x="6199632" y="4069080"/>
            <a:ext cx="5486400" cy="2011680"/>
          </a:xfrm>
          <a:prstGeom prst="rect">
            <a:avLst/>
          </a:prstGeom>
          <a:solidFill>
            <a:srgbClr val="F5F5F5"/>
          </a:solidFill>
          <a:ln w="12700">
            <a:solidFill>
              <a:srgbClr val="F5F5F5"/>
            </a:solidFill>
            <a:prstDash val="solid"/>
          </a:ln>
        </p:spPr>
      </p:sp>
      <p:pic>
        <p:nvPicPr>
          <p:cNvPr id="37" name="Image 2" descr="/tmp/deck/ic/building_m.png">    </p:cNvPr>
          <p:cNvPicPr>
            <a:picLocks noChangeAspect="1"/>
          </p:cNvPicPr>
          <p:nvPr/>
        </p:nvPicPr>
        <p:blipFill>
          <a:blip r:embed="rId3"/>
          <a:stretch>
            <a:fillRect/>
          </a:stretch>
        </p:blipFill>
        <p:spPr>
          <a:xfrm>
            <a:off x="6446520" y="4251960"/>
            <a:ext cx="548640" cy="548640"/>
          </a:xfrm>
          <a:prstGeom prst="rect">
            <a:avLst/>
          </a:prstGeom>
        </p:spPr>
      </p:pic>
      <p:sp>
        <p:nvSpPr>
          <p:cNvPr id="38" name="Text 32"/>
          <p:cNvSpPr txBox="1"/>
          <p:nvPr/>
        </p:nvSpPr>
        <p:spPr>
          <a:xfrm>
            <a:off x="713232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Geringer Aufwand</a:t>
            </a:r>
            <a:endParaRPr lang="en-US" sz="1800" dirty="0"/>
          </a:p>
        </p:txBody>
      </p:sp>
      <p:sp>
        <p:nvSpPr>
          <p:cNvPr id="39" name="Text 33"/>
          <p:cNvSpPr txBox="1"/>
          <p:nvPr/>
        </p:nvSpPr>
        <p:spPr>
          <a:xfrm>
            <a:off x="644652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Keine Lizenzkosten, eigene Web-App</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Betrieb auf vorhandenem IIS-Server</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Betreuung durch VH-VP-TV, Termine in Teams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geplant und im Ausbau</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Für anrechnungsfähige Veranstaltungen aus dem beruflichen Bereich</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Geplant. Im Ausbau. Freischaltung folgt.</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check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Im Ausbau</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IDD-Titel, Lerninhalt nach gutBeraten-Kategorie, Agenda</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Anlegen nur mit Freischaltung durch die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Teilnahme bestätigen: 14 Tage LearnMaker, danach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IDD-Cockpit und PDF-Nachweis je Kalenderjahr</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Regeln</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Nur bestätigte Teilnahmen zählen, keine Teilanrechnung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Begrüßung und Verabschiedung sind keine Lernzeit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15 oder 30 Stunden je Kalenderjahr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Sperre am 31.01. des Folgejahres</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Format der Meldung an gutBeraten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Freigabe durch Compliance und Datenschutz</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Ergänzung der Betriebsvereinbarung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Freischaltung der IDD-Anrechnung</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 in der App: vom Termin zum Nachweis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So soll es nach der Freischaltung laufen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idd-cockpit.jpg">    </p:cNvPr>
          <p:cNvPicPr>
            <a:picLocks noChangeAspect="1"/>
          </p:cNvPicPr>
          <p:nvPr/>
        </p:nvPicPr>
        <p:blipFill>
          <a:blip r:embed="rId2"/>
          <a:stretch>
            <a:fillRect/>
          </a:stretch>
        </p:blipFill>
        <p:spPr>
          <a:xfrm>
            <a:off x="530352" y="1508760"/>
            <a:ext cx="6035040" cy="2615515"/>
          </a:xfrm>
          <a:prstGeom prst="rect">
            <a:avLst/>
          </a:prstGeom>
        </p:spPr>
      </p:pic>
      <p:sp>
        <p:nvSpPr>
          <p:cNvPr id="9" name="Text 4"/>
          <p:cNvSpPr txBox="1"/>
          <p:nvPr/>
        </p:nvSpPr>
        <p:spPr>
          <a:xfrm>
            <a:off x="530352" y="4197427"/>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
        <p:nvSpPr>
          <p:cNvPr id="10" name="Shape 5"/>
          <p:cNvSpPr/>
          <p:nvPr/>
        </p:nvSpPr>
        <p:spPr>
          <a:xfrm>
            <a:off x="6858000" y="1508760"/>
            <a:ext cx="4828032" cy="987552"/>
          </a:xfrm>
          <a:prstGeom prst="rect">
            <a:avLst/>
          </a:prstGeom>
          <a:solidFill>
            <a:srgbClr val="FFF4E0"/>
          </a:solidFill>
          <a:ln w="12700">
            <a:solidFill>
              <a:srgbClr val="FFF4E0"/>
            </a:solidFill>
            <a:prstDash val="solid"/>
          </a:ln>
        </p:spPr>
      </p:sp>
      <p:pic>
        <p:nvPicPr>
          <p:cNvPr id="11" name="Image 2" descr="/tmp/deck/ic/pencil_m.png">    </p:cNvPr>
          <p:cNvPicPr>
            <a:picLocks noChangeAspect="1"/>
          </p:cNvPicPr>
          <p:nvPr/>
        </p:nvPicPr>
        <p:blipFill>
          <a:blip r:embed="rId3"/>
          <a:stretch>
            <a:fillRect/>
          </a:stretch>
        </p:blipFill>
        <p:spPr>
          <a:xfrm>
            <a:off x="7040880" y="1709928"/>
            <a:ext cx="548640" cy="548640"/>
          </a:xfrm>
          <a:prstGeom prst="rect">
            <a:avLst/>
          </a:prstGeom>
        </p:spPr>
      </p:pic>
      <p:sp>
        <p:nvSpPr>
          <p:cNvPr id="12" name="Text 6"/>
          <p:cNvSpPr txBox="1"/>
          <p:nvPr/>
        </p:nvSpPr>
        <p:spPr>
          <a:xfrm>
            <a:off x="7772400" y="1581912"/>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Anlegen</a:t>
            </a:r>
            <a:endParaRPr lang="en-US" sz="1600" dirty="0"/>
          </a:p>
        </p:txBody>
      </p:sp>
      <p:sp>
        <p:nvSpPr>
          <p:cNvPr id="13" name="Text 7"/>
          <p:cNvSpPr txBox="1"/>
          <p:nvPr/>
        </p:nvSpPr>
        <p:spPr>
          <a:xfrm>
            <a:off x="7772400" y="1929384"/>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IDD-Titel, Lerninhalt nach gutBeraten und Agenda mit IDD-Bildungszeit. Die App prüft den Titel.</a:t>
            </a:r>
            <a:endParaRPr lang="en-US" sz="1250" dirty="0"/>
          </a:p>
        </p:txBody>
      </p:sp>
      <p:sp>
        <p:nvSpPr>
          <p:cNvPr id="14" name="Shape 8"/>
          <p:cNvSpPr/>
          <p:nvPr/>
        </p:nvSpPr>
        <p:spPr>
          <a:xfrm>
            <a:off x="6858000" y="2624328"/>
            <a:ext cx="4828032" cy="987552"/>
          </a:xfrm>
          <a:prstGeom prst="rect">
            <a:avLst/>
          </a:prstGeom>
          <a:solidFill>
            <a:srgbClr val="F5F5F5"/>
          </a:solidFill>
          <a:ln w="12700">
            <a:solidFill>
              <a:srgbClr val="F5F5F5"/>
            </a:solidFill>
            <a:prstDash val="solid"/>
          </a:ln>
        </p:spPr>
      </p:sp>
      <p:pic>
        <p:nvPicPr>
          <p:cNvPr id="15" name="Image 3" descr="/tmp/deck/ic/search_m.png">    </p:cNvPr>
          <p:cNvPicPr>
            <a:picLocks noChangeAspect="1"/>
          </p:cNvPicPr>
          <p:nvPr/>
        </p:nvPicPr>
        <p:blipFill>
          <a:blip r:embed="rId4"/>
          <a:stretch>
            <a:fillRect/>
          </a:stretch>
        </p:blipFill>
        <p:spPr>
          <a:xfrm>
            <a:off x="7040880" y="2825496"/>
            <a:ext cx="548640" cy="548640"/>
          </a:xfrm>
          <a:prstGeom prst="rect">
            <a:avLst/>
          </a:prstGeom>
        </p:spPr>
      </p:pic>
      <p:sp>
        <p:nvSpPr>
          <p:cNvPr id="16" name="Text 9"/>
          <p:cNvSpPr txBox="1"/>
          <p:nvPr/>
        </p:nvSpPr>
        <p:spPr>
          <a:xfrm>
            <a:off x="7772400" y="2697480"/>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Buchen</a:t>
            </a:r>
            <a:endParaRPr lang="en-US" sz="1600" dirty="0"/>
          </a:p>
        </p:txBody>
      </p:sp>
      <p:sp>
        <p:nvSpPr>
          <p:cNvPr id="17" name="Text 10"/>
          <p:cNvSpPr txBox="1"/>
          <p:nvPr/>
        </p:nvSpPr>
        <p:spPr>
          <a:xfrm>
            <a:off x="7772400" y="3044952"/>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Dauer und IDD-Zeit stehen getrennt in der Info-Kachel.</a:t>
            </a:r>
            <a:endParaRPr lang="en-US" sz="1250" dirty="0"/>
          </a:p>
        </p:txBody>
      </p:sp>
      <p:sp>
        <p:nvSpPr>
          <p:cNvPr id="18" name="Shape 11"/>
          <p:cNvSpPr/>
          <p:nvPr/>
        </p:nvSpPr>
        <p:spPr>
          <a:xfrm>
            <a:off x="6858000" y="3739896"/>
            <a:ext cx="4828032" cy="987552"/>
          </a:xfrm>
          <a:prstGeom prst="rect">
            <a:avLst/>
          </a:prstGeom>
          <a:solidFill>
            <a:srgbClr val="FFF4E0"/>
          </a:solidFill>
          <a:ln w="12700">
            <a:solidFill>
              <a:srgbClr val="FFF4E0"/>
            </a:solidFill>
            <a:prstDash val="solid"/>
          </a:ln>
        </p:spPr>
      </p:sp>
      <p:pic>
        <p:nvPicPr>
          <p:cNvPr id="19" name="Image 4" descr="/tmp/deck/ic/check_m.png">    </p:cNvPr>
          <p:cNvPicPr>
            <a:picLocks noChangeAspect="1"/>
          </p:cNvPicPr>
          <p:nvPr/>
        </p:nvPicPr>
        <p:blipFill>
          <a:blip r:embed="rId5"/>
          <a:stretch>
            <a:fillRect/>
          </a:stretch>
        </p:blipFill>
        <p:spPr>
          <a:xfrm>
            <a:off x="7040880" y="3941064"/>
            <a:ext cx="548640" cy="548640"/>
          </a:xfrm>
          <a:prstGeom prst="rect">
            <a:avLst/>
          </a:prstGeom>
        </p:spPr>
      </p:pic>
      <p:sp>
        <p:nvSpPr>
          <p:cNvPr id="20" name="Text 12"/>
          <p:cNvSpPr txBox="1"/>
          <p:nvPr/>
        </p:nvSpPr>
        <p:spPr>
          <a:xfrm>
            <a:off x="7772400" y="3813048"/>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Bestätigen</a:t>
            </a:r>
            <a:endParaRPr lang="en-US" sz="1600" dirty="0"/>
          </a:p>
        </p:txBody>
      </p:sp>
      <p:sp>
        <p:nvSpPr>
          <p:cNvPr id="21" name="Text 13"/>
          <p:cNvSpPr txBox="1"/>
          <p:nvPr/>
        </p:nvSpPr>
        <p:spPr>
          <a:xfrm>
            <a:off x="7772400" y="4160520"/>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LearnMaker 14 Tage, danach die Administration. Sperre am 31.01.</a:t>
            </a:r>
            <a:endParaRPr lang="en-US" sz="1250" dirty="0"/>
          </a:p>
        </p:txBody>
      </p:sp>
      <p:sp>
        <p:nvSpPr>
          <p:cNvPr id="22" name="Shape 14"/>
          <p:cNvSpPr/>
          <p:nvPr/>
        </p:nvSpPr>
        <p:spPr>
          <a:xfrm>
            <a:off x="6858000" y="4855464"/>
            <a:ext cx="4828032" cy="987552"/>
          </a:xfrm>
          <a:prstGeom prst="rect">
            <a:avLst/>
          </a:prstGeom>
          <a:solidFill>
            <a:srgbClr val="F5F5F5"/>
          </a:solidFill>
          <a:ln w="12700">
            <a:solidFill>
              <a:srgbClr val="F5F5F5"/>
            </a:solidFill>
            <a:prstDash val="solid"/>
          </a:ln>
        </p:spPr>
      </p:sp>
      <p:pic>
        <p:nvPicPr>
          <p:cNvPr id="23" name="Image 5" descr="/tmp/deck/ic/doc_m.png">    </p:cNvPr>
          <p:cNvPicPr>
            <a:picLocks noChangeAspect="1"/>
          </p:cNvPicPr>
          <p:nvPr/>
        </p:nvPicPr>
        <p:blipFill>
          <a:blip r:embed="rId6"/>
          <a:stretch>
            <a:fillRect/>
          </a:stretch>
        </p:blipFill>
        <p:spPr>
          <a:xfrm>
            <a:off x="7040880" y="5056632"/>
            <a:ext cx="548640" cy="548640"/>
          </a:xfrm>
          <a:prstGeom prst="rect">
            <a:avLst/>
          </a:prstGeom>
        </p:spPr>
      </p:pic>
      <p:sp>
        <p:nvSpPr>
          <p:cNvPr id="24" name="Text 15"/>
          <p:cNvSpPr txBox="1"/>
          <p:nvPr/>
        </p:nvSpPr>
        <p:spPr>
          <a:xfrm>
            <a:off x="7772400" y="4928616"/>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Nachweisen</a:t>
            </a:r>
            <a:endParaRPr lang="en-US" sz="1600" dirty="0"/>
          </a:p>
        </p:txBody>
      </p:sp>
      <p:sp>
        <p:nvSpPr>
          <p:cNvPr id="25" name="Text 16"/>
          <p:cNvSpPr txBox="1"/>
          <p:nvPr/>
        </p:nvSpPr>
        <p:spPr>
          <a:xfrm>
            <a:off x="7772400" y="5276088"/>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IDD-Cockpit je Kalenderjahr und PDF mit gutBeraten-ID.</a:t>
            </a:r>
            <a:endParaRPr lang="en-US" sz="1250" dirty="0"/>
          </a:p>
        </p:txBody>
      </p:sp>
      <p:sp>
        <p:nvSpPr>
          <p:cNvPr id="26" name="Shape 17"/>
          <p:cNvSpPr/>
          <p:nvPr/>
        </p:nvSpPr>
        <p:spPr>
          <a:xfrm>
            <a:off x="530352" y="4663440"/>
            <a:ext cx="6035040" cy="1417320"/>
          </a:xfrm>
          <a:prstGeom prst="rect">
            <a:avLst/>
          </a:prstGeom>
          <a:solidFill>
            <a:srgbClr val="001957"/>
          </a:solidFill>
          <a:ln w="12700">
            <a:solidFill>
              <a:srgbClr val="001957"/>
            </a:solidFill>
            <a:prstDash val="solid"/>
          </a:ln>
        </p:spPr>
      </p:sp>
      <p:sp>
        <p:nvSpPr>
          <p:cNvPr id="27" name="Text 18"/>
          <p:cNvSpPr txBox="1"/>
          <p:nvPr/>
        </p:nvSpPr>
        <p:spPr>
          <a:xfrm>
            <a:off x="777240" y="4663440"/>
            <a:ext cx="5577840" cy="1417320"/>
          </a:xfrm>
          <a:prstGeom prst="rect">
            <a:avLst/>
          </a:prstGeom>
          <a:noFill/>
          <a:ln/>
        </p:spPr>
        <p:txBody>
          <a:bodyPr wrap="square" lIns="0" tIns="0" rIns="0" bIns="0" rtlCol="0" anchor="ctr"/>
          <a:lstStyle/>
          <a:p>
            <a:pPr indent="0" marL="0">
              <a:buNone/>
            </a:pPr>
            <a:r>
              <a:rPr lang="en-US" sz="1300" b="1" dirty="0">
                <a:solidFill>
                  <a:srgbClr val="00DCDC"/>
                </a:solidFill>
                <a:latin typeface="Arial" pitchFamily="34" charset="0"/>
                <a:ea typeface="Arial" pitchFamily="34" charset="-122"/>
                <a:cs typeface="Arial" pitchFamily="34" charset="-120"/>
              </a:rPr>
              <a:t>Mitbestimmung: </a:t>
            </a:r>
            <a:pPr indent="0" marL="0">
              <a:buNone/>
            </a:pPr>
            <a:r>
              <a:rPr lang="en-US" sz="1300" dirty="0">
                <a:solidFill>
                  <a:srgbClr val="FFFFFF"/>
                </a:solidFill>
                <a:latin typeface="Arial" pitchFamily="34" charset="0"/>
                <a:ea typeface="Arial" pitchFamily="34" charset="-122"/>
                <a:cs typeface="Arial" pitchFamily="34" charset="-120"/>
              </a:rPr>
              <a:t>Die Bestätigung dient nur der IDD-Anrechnung. Bis zur Freischaltung ist die Funktion aus. Nachträge brauchen eine Begründung und stehen im Protokoll.</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 oder 12 Monaten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Abzeichen erst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Profilbild und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LearnMaker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2148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Dienstlich: bis Ende des 5. Jahres nach dem Kalenderjahr.</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Privat: nur 12 Monate.</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Konten ohne Anmeldung werden nach 24 Monaten gelöscht.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IT-Sicherheit und Datenschutz: technisch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Regeln stecken in der Plattform, nicht nur im Konzept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3886200"/>
          </a:xfrm>
          <a:prstGeom prst="rect">
            <a:avLst/>
          </a:prstGeom>
          <a:solidFill>
            <a:srgbClr val="F5F5F5"/>
          </a:solidFill>
          <a:ln w="12700">
            <a:solidFill>
              <a:srgbClr val="F5F5F5"/>
            </a:solidFill>
            <a:prstDash val="solid"/>
          </a:ln>
        </p:spPr>
      </p:sp>
      <p:pic>
        <p:nvPicPr>
          <p:cNvPr id="9" name="Image 1" descr="/tmp/deck/ic/people_m.png">    </p:cNvPr>
          <p:cNvPicPr>
            <a:picLocks noChangeAspect="1"/>
          </p:cNvPicPr>
          <p:nvPr/>
        </p:nvPicPr>
        <p:blipFill>
          <a:blip r:embed="rId2"/>
          <a:stretch>
            <a:fillRect/>
          </a:stretch>
        </p:blipFill>
        <p:spPr>
          <a:xfrm>
            <a:off x="804672" y="1737360"/>
            <a:ext cx="640080" cy="640080"/>
          </a:xfrm>
          <a:prstGeom prst="rect">
            <a:avLst/>
          </a:prstGeom>
        </p:spPr>
      </p:pic>
      <p:sp>
        <p:nvSpPr>
          <p:cNvPr id="10" name="Text 5"/>
          <p:cNvSpPr txBox="1"/>
          <p:nvPr/>
        </p:nvSpPr>
        <p:spPr>
          <a:xfrm>
            <a:off x="80467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Rechte der Beschäftigten</a:t>
            </a:r>
            <a:endParaRPr lang="en-US" sz="1900" dirty="0"/>
          </a:p>
        </p:txBody>
      </p:sp>
      <p:sp>
        <p:nvSpPr>
          <p:cNvPr id="11" name="Text 6"/>
          <p:cNvSpPr txBox="1"/>
          <p:nvPr/>
        </p:nvSpPr>
        <p:spPr>
          <a:xfrm>
            <a:off x="80467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Eigene Daten jederzeit herunterladen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Konto selbst löschen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Profil und Profilbild freiwillig, Abzeichen nur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Bewertungen anonym, Durchschnitt erst ab drei Stimmen</a:t>
            </a:r>
            <a:endParaRPr lang="en-US" sz="1400" dirty="0"/>
          </a:p>
        </p:txBody>
      </p:sp>
      <p:sp>
        <p:nvSpPr>
          <p:cNvPr id="12" name="Shape 7"/>
          <p:cNvSpPr/>
          <p:nvPr/>
        </p:nvSpPr>
        <p:spPr>
          <a:xfrm>
            <a:off x="4325112" y="1508760"/>
            <a:ext cx="3566160" cy="3886200"/>
          </a:xfrm>
          <a:prstGeom prst="rect">
            <a:avLst/>
          </a:prstGeom>
          <a:solidFill>
            <a:srgbClr val="001957"/>
          </a:solidFill>
          <a:ln w="12700">
            <a:solidFill>
              <a:srgbClr val="001957"/>
            </a:solidFill>
            <a:prstDash val="solid"/>
          </a:ln>
        </p:spPr>
      </p:sp>
      <p:pic>
        <p:nvPicPr>
          <p:cNvPr id="13" name="Image 2" descr="/tmp/deck/ic/scale_m.png">    </p:cNvPr>
          <p:cNvPicPr>
            <a:picLocks noChangeAspect="1"/>
          </p:cNvPicPr>
          <p:nvPr/>
        </p:nvPicPr>
        <p:blipFill>
          <a:blip r:embed="rId3"/>
          <a:stretch>
            <a:fillRect/>
          </a:stretch>
        </p:blipFill>
        <p:spPr>
          <a:xfrm>
            <a:off x="4599432" y="1737360"/>
            <a:ext cx="640080" cy="640080"/>
          </a:xfrm>
          <a:prstGeom prst="rect">
            <a:avLst/>
          </a:prstGeom>
        </p:spPr>
      </p:pic>
      <p:sp>
        <p:nvSpPr>
          <p:cNvPr id="14" name="Text 8"/>
          <p:cNvSpPr txBox="1"/>
          <p:nvPr/>
        </p:nvSpPr>
        <p:spPr>
          <a:xfrm>
            <a:off x="4599432" y="2468880"/>
            <a:ext cx="3063240" cy="73152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Keine Leistungskontrolle</a:t>
            </a:r>
            <a:endParaRPr lang="en-US" sz="1900" dirty="0"/>
          </a:p>
        </p:txBody>
      </p:sp>
      <p:sp>
        <p:nvSpPr>
          <p:cNvPr id="15" name="Text 9"/>
          <p:cNvSpPr txBox="1"/>
          <p:nvPr/>
        </p:nvSpPr>
        <p:spPr>
          <a:xfrm>
            <a:off x="459943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Ranglisten, Statistik nur zusammengefasst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Anmeldezeiten je Person</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Sterne je Person, auch nicht für Admins</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Wer privat teilnimmt, sieht die Administration nicht</a:t>
            </a:r>
            <a:endParaRPr lang="en-US" sz="1400" dirty="0"/>
          </a:p>
        </p:txBody>
      </p:sp>
      <p:sp>
        <p:nvSpPr>
          <p:cNvPr id="16" name="Shape 10"/>
          <p:cNvSpPr/>
          <p:nvPr/>
        </p:nvSpPr>
        <p:spPr>
          <a:xfrm>
            <a:off x="8119872" y="1508760"/>
            <a:ext cx="3566160" cy="3886200"/>
          </a:xfrm>
          <a:prstGeom prst="rect">
            <a:avLst/>
          </a:prstGeom>
          <a:solidFill>
            <a:srgbClr val="F5F5F5"/>
          </a:solidFill>
          <a:ln w="12700">
            <a:solidFill>
              <a:srgbClr val="F5F5F5"/>
            </a:solidFill>
            <a:prstDash val="solid"/>
          </a:ln>
        </p:spPr>
      </p:sp>
      <p:pic>
        <p:nvPicPr>
          <p:cNvPr id="17" name="Image 3" descr="/tmp/deck/ic/lock_m.png">    </p:cNvPr>
          <p:cNvPicPr>
            <a:picLocks noChangeAspect="1"/>
          </p:cNvPicPr>
          <p:nvPr/>
        </p:nvPicPr>
        <p:blipFill>
          <a:blip r:embed="rId4"/>
          <a:stretch>
            <a:fillRect/>
          </a:stretch>
        </p:blipFill>
        <p:spPr>
          <a:xfrm>
            <a:off x="8394192" y="1737360"/>
            <a:ext cx="640080" cy="640080"/>
          </a:xfrm>
          <a:prstGeom prst="rect">
            <a:avLst/>
          </a:prstGeom>
        </p:spPr>
      </p:pic>
      <p:sp>
        <p:nvSpPr>
          <p:cNvPr id="18" name="Text 11"/>
          <p:cNvSpPr txBox="1"/>
          <p:nvPr/>
        </p:nvSpPr>
        <p:spPr>
          <a:xfrm>
            <a:off x="839419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Technischer Schutz</a:t>
            </a:r>
            <a:endParaRPr lang="en-US" sz="1900" dirty="0"/>
          </a:p>
        </p:txBody>
      </p:sp>
      <p:sp>
        <p:nvSpPr>
          <p:cNvPr id="19" name="Text 12"/>
          <p:cNvSpPr txBox="1"/>
          <p:nvPr/>
        </p:nvSpPr>
        <p:spPr>
          <a:xfrm>
            <a:off x="839419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Passwörter nur als sicherer Hash gespeichert</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Abmelden beendet die Sitzung auf dem Server</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Schutz vor fremden Formularen, Skripten und Einbettung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Uploads geprüft, Admin-Änderungen protokolliert</a:t>
            </a:r>
            <a:endParaRPr lang="en-US" sz="1400" dirty="0"/>
          </a:p>
        </p:txBody>
      </p:sp>
      <p:sp>
        <p:nvSpPr>
          <p:cNvPr id="20" name="Shape 13"/>
          <p:cNvSpPr/>
          <p:nvPr/>
        </p:nvSpPr>
        <p:spPr>
          <a:xfrm>
            <a:off x="530352" y="5577840"/>
            <a:ext cx="11155680" cy="548640"/>
          </a:xfrm>
          <a:prstGeom prst="rect">
            <a:avLst/>
          </a:prstGeom>
          <a:solidFill>
            <a:srgbClr val="FFF4E0"/>
          </a:solidFill>
          <a:ln w="12700">
            <a:solidFill>
              <a:srgbClr val="FFF4E0"/>
            </a:solidFill>
            <a:prstDash val="solid"/>
          </a:ln>
        </p:spPr>
      </p:sp>
      <p:sp>
        <p:nvSpPr>
          <p:cNvPr id="21" name="Text 14"/>
          <p:cNvSpPr txBox="1"/>
          <p:nvPr/>
        </p:nvSpPr>
        <p:spPr>
          <a:xfrm>
            <a:off x="804672" y="5577840"/>
            <a:ext cx="10607040" cy="54864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Ohne HTTPS nur im internen Netz betreiben. HTTPS empfehlen wir. Es werden keine E-Mails verschickt.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XV-Nummer, E-Mail-Adresse, Anmeldungen, Bewertungen und freiwillig ein Profilbild.</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Bewertungen und Abzeichen dienen der Motivation, eine Leistungskontrolle ist technisch ausgeschlossen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LearnMaker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IDD zählt nur bei bestätigter Teilnahme,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Bewertungen mit Sternen, Abzeichen für aktive LearnMaker,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IDD-Meldung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Bis zur Meldung an gutBeraten laden Teilnehmende ihren PDF-Nachweis herunter.</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und IDD</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LearnMaker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freischalten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IDD-Anrechnung freischalten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Meldung an gutBeraten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LearnMaker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rund 6.000 Personen.</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Freigabe der IDD-Funktion</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Geplant und im Ausbau. Compliance und Datenschutz prüfen. Danach Meldung an gutBeraten umsetzen und freischalten.</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Bewertungen und Abzeichen, geplante IDD-Anrechnung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2026-10-04T19:09:49Z</dcterms:created>
  <dcterms:modified xsi:type="dcterms:W3CDTF">2026-10-04T19:09:49Z</dcterms:modified>
</cp:coreProperties>
</file>