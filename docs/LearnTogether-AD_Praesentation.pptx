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Lernanteil</c:v>
                </c:pt>
              </c:strCache>
            </c:strRef>
          </c:tx>
          <c:spPr>
            <a:solidFill>
              <a:schemeClr val="accent1"/>
            </a:solidFill>
            <a:ln w="9525" cap="flat">
              <a:solidFill>
                <a:srgbClr val="F9F9F9"/>
              </a:solidFill>
              <a:prstDash val="solid"/>
              <a:round/>
            </a:ln>
            <a:effectLst/>
          </c:spPr>
          <c:dPt>
            <c:idx val="0"/>
            <c:bubble3D val="0"/>
            <c:spPr>
              <a:solidFill>
                <a:srgbClr val="001957"/>
              </a:solidFill>
              <a:ln w="25400" cap="flat">
                <a:solidFill>
                  <a:srgbClr val="FFFFFF"/>
                </a:solidFill>
                <a:prstDash val="solid"/>
                <a:round/>
              </a:ln>
              <a:effectLst/>
            </c:spPr>
          </c:dPt>
          <c:dPt>
            <c:idx val="1"/>
            <c:bubble3D val="0"/>
            <c:spPr>
              <a:solidFill>
                <a:srgbClr val="109DA8"/>
              </a:solidFill>
              <a:ln w="25400" cap="flat">
                <a:solidFill>
                  <a:srgbClr val="FFFFFF"/>
                </a:solidFill>
                <a:prstDash val="solid"/>
                <a:round/>
              </a:ln>
              <a:effectLst/>
            </c:spPr>
          </c:dPt>
          <c:dPt>
            <c:idx val="2"/>
            <c:bubble3D val="0"/>
            <c:spPr>
              <a:solidFill>
                <a:srgbClr val="F79506"/>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Erfahrung im Arbeitsalltag</c:v>
                </c:pt>
                <c:pt idx="1">
                  <c:v>Lernen von anderen</c:v>
                </c:pt>
                <c:pt idx="2">
                  <c:v>Seminare und Kurse</c:v>
                </c:pt>
              </c:strCache>
            </c:strRef>
          </c:cat>
          <c:val>
            <c:numRef>
              <c:f>Sheet1!$B$2:$B$4</c:f>
              <c:numCache>
                <c:ptCount val="3"/>
                <c:pt idx="0">
                  <c:v>70</c:v>
                </c:pt>
                <c:pt idx="1">
                  <c:v>20</c:v>
                </c:pt>
                <c:pt idx="2">
                  <c:v>10</c:v>
                </c:pt>
              </c:numCache>
            </c:numRef>
          </c:val>
        </c:ser>
        <c:firstSliceAng val="0"/>
        <c:holeSize val="58"/>
      </c:doughnutChart>
      <c:spPr>
        <a:noFill/>
        <a:ln>
          <a:noFill/>
        </a:ln>
        <a:effectLst/>
      </c:spPr>
    </c:plotArea>
    <c:legend>
      <c:legendPos val="b"/>
      <c:overlay val="0"/>
      <c:txPr>
        <a:bodyPr/>
        <a:lstStyle/>
        <a:p>
          <a:pPr>
            <a:defRPr sz="1300">
              <a:solidFill>
                <a:srgbClr val="001957"/>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Heute stelle ich LearnTogether@AD vor: eine schlanke Plattform, auf der Kolleginnen und Kollegen im Außendienst ihr Wissen in kurzen Online-Terminen teilen.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Idee in einem Satz: Kolleginnen und Kollegen teilen ihr Wissen in kurzen Online-Terminen, alle anderen lernen mit. Ich zeige gleich ehrlich, was heute schon funktioniert und was noch in Planung ist. Besonders wichtig: Die IDD-Anrechnung ist in der App umgesetzt, aber ab Werk ausgeschaltet. Die Meldung an gutBeraten folgt. Für dienstliche Sessions gilt die Arbeitszeitregel: Wer teilnimmt, stempelt sich selbst ein.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Produkte, Recht und Vertrieb ändern sich laufend. Der Außendienst arbeitet verteilt und hat wenig Zeit. Gleichzeitig verlangt die IDD 15 Stunden Weiterbildung im Jahr. Die Beteiligung an Weiterbildung lag 2022 in Deutschland bei 58 Prozent (Adult Education Survey, BMBF).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Informelles Lernen passiert im Alltag, ohne Lehrplan. Community-Lernen bedeutet: Menschen mit gemeinsamem Thema lernen regelmäßig voneinander. Etienne Wenger nennt das Communities of Practice. New Learning meint selbstgesteuertes, digitales Lernen im Arbeitsfluss.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Formel geht auf Studien mit Führungskräften zurück (Eichinger, 1980er). Sie ist eine Faustformel, die Zahlen sind wissenschaftlich umstritten (Clardy, 2018). Die Richtung stimmt aber: Ein großer Teil des Lernens passiert im Alltag und im Austausch mit anderen. Dafür geben wir einen festen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der Telekom heißt das Format LEX, Lernen von Experten. Es startete 2018 als Initiative von Mitarbeitenden und ist freiwillig. Bei Bosch gibt es den Bosch Club: Ein einfacher Kalender plus Teams, ohne Freigabeverfahren. DATEV nutzt die Plattform wDw, Communities of Practice, Barcamps und Lernmentoring. Zahlen laut den genannten Quellen, bitte vor der Weitergabe aktuell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 den Beispielen leiten wir fünf Erfolgsfaktoren ab. Jeder ist bei LearnTogether@AD bereits eingebaut oder fest eingeplant.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LearnTogether@AD ist ein Katalog mit Terminen. Wer etwas weiß, bietet einen Termin an. Wer lernen möchte, meldet sich an. Es gibt drei Prinzipien.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Ablauf ist bewusst einfach. Alle registrieren sich einmal mit einem frei gewählten Benutzernamen. Teams-Link, Kalenderdatei, Abmeldung und Bewertung finden sie unter Meine Anmeldungen. Es werden keine E-Mails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Katalog zeigt alle künftigen Termine in Reihen nach Thema. Der Schalter wechselt zwischen dienstlich und privat. Nach der Anmeldung erscheinen Teams-Link und Kalenderdatei, später auch unter Meine Anmeldungen. Dort lässt sich die Anmeldung auch zurückgeben.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Formular folgt der Planung: worum es geht, wann es stattfindet, was angeboten wird, dann die IDD-Angaben und zum Schluss Teilnahme und Teams-Link. Die IDD-Agenda steht hinter der Dauer, weil sie die Dauer braucht. Die Plattform prüft Zeitfenster und Dauer. Als Anbieter erscheint der Benutzername. Unter Meine Veranstaltungen lässt sich die Veranstaltung auch absagen. Angemeldete Personen sehen die Absage als Mitteilung, die Plattform verschickt keine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 kein eigenes Foto hat, wählt eines von rund 70 Platzhalterbildern, dienstlich wie privat. Die Administration kann zusätzlich echte Fotos hinterlegen, etwa aus der R+V-Mediendatenbank. Die Motive folgen der R+V-Bildwelt: flache Markenfarben und Piktogramme aus dem R+V-Iconfont. Eine Suche hilft bei der Auswahl. Die Motive sind mit KI gestaltet und tragen deshalb das KI-Label der R+V.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sieht ihre Anmeldungen und ihre eigenen Veranstaltungen an einem Ort. Ein Schalter trennt Anstehend und Vergangen. Anbietende sehen die Teilnehmenden nur mit Benutzernamen und können selbst absagen. Wer angemeldet ist, erhält dann eine Mitteilung in der App.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hat ein eigenes Profil mit fünf Bereichen: Übersicht, Veranstaltungen, Teilnahmen, Veröffentlichung und Konto. Name, XV-Nummer und E-Mail-Adresse lassen sich dort selbst ändern, bestätigt mit dem Passwort. Abzeichen in sechs Stufen zeigen, wie viele Sessions jemand angeboten hat. Die Rakete steht für den Expertenstatus in einem Thema. Wer möchte, macht sein Profil öffentlich. Dann wird der Benutzername auf der Kachel anklickbar. Was andere sehen, gibt jede Person selbst frei. Echter Name und XV-Nummer bleiben immer verborgen.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Termine gibt es nur montags bis freitags, von 6:00 bis 9:00 Uhr und von 17:00 bis 20:00 Uhr. Termine dauern 15 bis 120 Minuten, bis zu 50 Personen können teilnehmen.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Teilnahme an dienstlichen Sessions kann als Arbeitszeit angerechnet werden. Das geschieht nicht im Nachgang: Teilnehmende müssen sich selbst einstempeln und wieder ausstempeln. Die Plattform erfasst keine Arbeitszeit. Die Teilnahme an privaten Sessions zählt nicht als Arbeitszeit. Diese Regel kommunizieren wir klar und stimmen sie mit dem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ersten Schritt richten wir die Plattform an den R+V-Außendienst und kommunizieren auch so. Wenn sich Kolleginnen und Kollegen aus dem Innendienst anmelden oder anbieten, ist das willkommen. Die Administration liegt bei Training &amp; Entwicklung Vertrieb, VH-VP-TV, genauer bei der Gruppe Produktion.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Außendienst: Wissen aus erster Hand und neue Kontakte. Für Führungskräfte: ein einfaches Angebot, das sie selbst nutzen und unterstützen können. Für die R+V: ein Weg, Wissen im Haus zu halten und die Verbundenheit zum Arbeitgeber zu stärken.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Admin-Bereich gibt es sechs Bereiche mit über 20 Kennzahlen und rund 20 Auswertungen, jeweils mit PDF-Export. Wir betrachten Angebot, Nachfrage, Nutzende, Bewertungen und Datenschutz. Die wichtigsten Werte für das Management sind Lernstunden und erreichte Personen. Die Abbildung zeigt Beispieldaten. Alle Auswertungen sind zusammengefasst. Ranglisten mit Personenbezug, Anmeldezeiten je Person und Einzelbewertungen gibt es nicht. Bewertungen fließen erst ab drei Stimmen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Zielwerte leiten sich aus der Zielgruppe von rund 6.000 Personen ab. Wir rechnen mit zwei Monaten Anlauf. Rund 40 Anbietende, also etwa jede 150. Person, bieten im Schnitt zwei bis drei Sessions an. Das ergibt rund 100 Sessions, etwa vier pro Woche. Bei durchschnittlich zehn Teilnehmenden kommen rund 1.000 Teilnahmen zusammen. Bei Ø 45 Minuten sind das rund 750 Lernstunden. Nimmt jede Person im Schnitt gut zweimal teil, erreichen wir etwa 450 Personen, also 7,5 Prozent der Zielgruppe. Mindestens 35 Prozent sollen wiederkommen. Das zeigt, dass das Angebot trägt. Alle Werte liefert die Statistik direkt.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IDD-Anrechnung ist in der App umgesetzt und ab Werk ausgeschaltet. Freigeschaltete Anbietende legen IDD-Veranstaltungen mit IDD-Titel, Beschreibung des Lerninhalts, IDD-Zeit und Agenda an. Der Lerninhalt folgt den Kategorien von gutBeraten. Nach der Session bestätigen sie, wer teilgenommen hat. Nur bestätigte Teilnahmen zählen. Teilnehmende sehen ihre Zeit je Kalenderjahr im IDD-Cockpit und laden einen PDF-Nachweis herunter. Am 31.01. des Folgejahres wird ein Jahr gesperrt. Offen sind das Format der Meldung an gutBeraten und die Freigaben. Der Pilot kann mit oder ohne IDD starten.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läuft eine IDD-Veranstaltung. Erstens: Freigeschaltete Anbietende setzen beim Anlegen den IDD-Haken, tragen den IDD-Titel ein, wählen die Beschreibung des Lerninhalts aus den Kategorien von gutBeraten und planen nach der Dauer die Agenda. Je Eintrag legen sie Inhalte, Dauer und IDD-Bildungszeit fest. Die App prüft den Titel und die Summe. Zweitens: Teilnehmende sehen im Katalog Dauer und IDD-Zeit getrennt. Drittens: Nach der Session bestätigen die Anbietenden die Teilnahme innerhalb von 14 Tagen, danach die Administration. Viertens: Im IDD-Cockpit sehen Teilnehmende ihre Zeit je Kalenderjahr und laden den PDF-Nachweis. Die Abbildung zeigt das Cockpit mit Beispieldaten.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Anonymisierung ist in der Plattform umgesetzt und läuft automatisch. Öffentlich sichtbar ist nur der Benutzername. Echter Name, XV-Nummer und E-Mail-Adresse sehen nur die betroffene Person und die Administration. Die Daten jeder Veranstaltung bleiben fünf Jahre nach dem Ende gespeichert, ausschließlich für Nachweis und Anrechnung. Private Sessions haben keinen Nachweiszweck, ihre Daten werden schon nach 12 Monaten anonymisiert. Danach werden sie anonymisiert, nur Zähler bleiben. Konten ohne Anmeldung löscht die Plattform nach 24 Monaten automatisch. Zugriff haben nur die Administratoren in VH-VP-TV. Die Daten werden nicht veröffentlicht. Die Fristen und Zwecke stimmen wir mit Datenschutz und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haben die Plattform gezielt auf IT-Sicherheit und Datenschutz geprüft und nachgeschärft. Beschäftigte können ihre Daten selbst herunterladen und ihr Konto selbst löschen. Abzeichen und Profil sind freiwillig. Eine Leistungs- oder Verhaltenskontrolle ist technisch ausgeschlossen: keine Ranglisten, keine Anmeldezeiten je Person, keine Sterne je Person, auch nicht für die Administration. Wer an privaten Sessions teilnimmt, sieht die Administration nicht. Technisch schützen gehashte Passwörter, serverseitig beendbare Sitzungen, Schutz vor fremden Formularen, Skripten und Einbettungen sowie geprüfte Uploads. Admin-Änderungen werden protokolliert. HTTPS setzt die Plattform nicht voraus. Ohne HTTPS betreiben wir sie nur im internen Netz. Details stehen im Papier zu IT-Sicherheit und Datenschutz.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 87 Absatz 1 Nummer 6 BetrVG unterliegt nahezu jedes IT-System, das Beschäftigtendaten verarbeitet, der Mitbestimmung. Deshalb binden wir den Betriebsrat von Anfang an ein. Unser Vorschlag: Zweck, Datenarten, Zugriffe und Fristen schriftlich regeln, keine Auswertung einzelner Personen, freiwillige Teilnahme und eine abgestimmte Arbeitszeitregel für dienstliche Sessions. Die rechtliche Einordnung bestätigen Datenschutz und Rechtsabteilung.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größten Risiken sind zu wenig Angebote, schwankende Qualität und Datenschutz. Gegen alle drei gibt es einfache Maßnahmen, die wir im Pilot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ein Vorschlag, die Zeiträume stimmen wir gemeinsam ab. Phase 1 ist der Pilot im Außendienst. In Phase 2 schalten wir die IDD-Funktion frei, setzen die Meldung an gutBeraten um und werten den Pilot aus. In Phase 3 gehen die IDD-Termine in den Regelbetrieb.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konkrete Bitte, vier Entscheidungen. Wir starten klein, lernen schnell und binden alle Beteiligten ein. Die IDD-Funktion ist umgesetzt. Für ihren Start brauchen wir die Freigaben und die Meldung an gutBeraten.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Werbefolie: Wer etwas weiß oder gerne tut, kann Lern-Host werden. Ein Lern-Host legt einen Termin an, fügt einen Teams-Link ein und lädt Kolleginnen und Kollegen ein. Das geht dienstlich und privat. Der Name Lern-Host ist ein Vorschlag, Alternativen: Wissensfunke, Lernbotschaft, Impulsgebende.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Vielen Dank für die Aufmerksamkeit. Ich freue mich auf Fragen und Anregungen.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Beispiele zeigen: Es braucht wenig Technik und viel Vertrauen. Wir übernehmen das Prinzip, Kolleginnen und Kollegen bieten an. Anders sind unsere festen Zeitfenster, die Trennung in dienstlich und privat und die IDD-Anrechnung mit bestätigter Teilnahme.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Angaben zu externen Unternehmen stammen aus öffentlich zugänglichen Quellen. Bitte vor der Weitergabe die aktuellen Zahlen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2-2.png"/><Relationship Id="rId6" Type="http://schemas.openxmlformats.org/officeDocument/2006/relationships/image" Target="../media/image-2-2.png"/><Relationship Id="rId7" Type="http://schemas.openxmlformats.org/officeDocument/2006/relationships/image" Target="../media/image-2-7.png"/><Relationship Id="rId8" Type="http://schemas.openxmlformats.org/officeDocument/2006/relationships/image" Target="../media/image-2-7.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3.png"/><Relationship Id="rId6" Type="http://schemas.openxmlformats.org/officeDocument/2006/relationships/image" Target="../media/image-9-6.png"/><Relationship Id="rId7" Type="http://schemas.openxmlformats.org/officeDocument/2006/relationships/image" Target="../media/image-9-3.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3.png"/><Relationship Id="rId6" Type="http://schemas.openxmlformats.org/officeDocument/2006/relationships/image" Target="../media/image-16-6.png"/><Relationship Id="rId7" Type="http://schemas.openxmlformats.org/officeDocument/2006/relationships/image" Target="../media/image-16-3.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jp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651760"/>
            <a:ext cx="5212080" cy="3200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Wiesbaden, 03.10.2026</a:t>
            </a:r>
            <a:endParaRPr lang="en-US" sz="1600" dirty="0"/>
          </a:p>
        </p:txBody>
      </p:sp>
      <p:sp>
        <p:nvSpPr>
          <p:cNvPr id="5" name="Text 1"/>
          <p:cNvSpPr txBox="1"/>
          <p:nvPr/>
        </p:nvSpPr>
        <p:spPr>
          <a:xfrm>
            <a:off x="539496" y="3063240"/>
            <a:ext cx="5303520" cy="73152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LearnTogether@AD</a:t>
            </a:r>
            <a:endParaRPr lang="en-US" sz="4000" dirty="0"/>
          </a:p>
        </p:txBody>
      </p:sp>
      <p:sp>
        <p:nvSpPr>
          <p:cNvPr id="6" name="Text 2"/>
          <p:cNvSpPr txBox="1"/>
          <p:nvPr/>
        </p:nvSpPr>
        <p:spPr>
          <a:xfrm>
            <a:off x="539496" y="3931920"/>
            <a:ext cx="5303520" cy="118872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Voneinander lernen.</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Miteinander wachsen.</a:t>
            </a:r>
            <a:endParaRPr lang="en-US" sz="3000" dirty="0"/>
          </a:p>
        </p:txBody>
      </p:sp>
      <p:sp>
        <p:nvSpPr>
          <p:cNvPr id="7" name="Text 3"/>
          <p:cNvSpPr txBox="1"/>
          <p:nvPr/>
        </p:nvSpPr>
        <p:spPr>
          <a:xfrm>
            <a:off x="539496" y="5166360"/>
            <a:ext cx="5303520" cy="3657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Lernplattform für den R+V-Außendienst</a:t>
            </a:r>
            <a:endParaRPr lang="en-US" sz="1600" dirty="0"/>
          </a:p>
        </p:txBody>
      </p:sp>
      <p:pic>
        <p:nvPicPr>
          <p:cNvPr id="8"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Wichtigste auf einer Seite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LearnTogether@AD bringt Lernen unter Kolleginnen und Kollegen im Außendienst in Gang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4114800" cy="4572000"/>
          </a:xfrm>
          <a:prstGeom prst="rect">
            <a:avLst/>
          </a:prstGeom>
          <a:solidFill>
            <a:srgbClr val="001957"/>
          </a:solidFill>
          <a:ln w="12700">
            <a:solidFill>
              <a:srgbClr val="001957"/>
            </a:solidFill>
            <a:prstDash val="solid"/>
          </a:ln>
        </p:spPr>
      </p:sp>
      <p:sp>
        <p:nvSpPr>
          <p:cNvPr id="9" name="Text 5"/>
          <p:cNvSpPr txBox="1"/>
          <p:nvPr/>
        </p:nvSpPr>
        <p:spPr>
          <a:xfrm>
            <a:off x="822960" y="1737360"/>
            <a:ext cx="3566160" cy="3200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Die Idee</a:t>
            </a:r>
            <a:endParaRPr lang="en-US" sz="1400" dirty="0"/>
          </a:p>
        </p:txBody>
      </p:sp>
      <p:sp>
        <p:nvSpPr>
          <p:cNvPr id="10" name="Text 6"/>
          <p:cNvSpPr txBox="1"/>
          <p:nvPr/>
        </p:nvSpPr>
        <p:spPr>
          <a:xfrm>
            <a:off x="822960" y="2103120"/>
            <a:ext cx="3566160" cy="22860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Kolleginnen und Kollegen teilen ihr Wissen in kurzen Online-Terminen. Alle anderen lernen mit.</a:t>
            </a:r>
            <a:endParaRPr lang="en-US" sz="2200" dirty="0"/>
          </a:p>
        </p:txBody>
      </p:sp>
      <p:sp>
        <p:nvSpPr>
          <p:cNvPr id="11" name="Text 7"/>
          <p:cNvSpPr txBox="1"/>
          <p:nvPr/>
        </p:nvSpPr>
        <p:spPr>
          <a:xfrm>
            <a:off x="822960" y="4480560"/>
            <a:ext cx="3566160" cy="137160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Ziele: Weiterbildung untereinander, mehr Vernetzung und mehr Verbundenheit zum Arbeitgeber.</a:t>
            </a:r>
            <a:endParaRPr lang="en-US" sz="1500" dirty="0"/>
          </a:p>
        </p:txBody>
      </p:sp>
      <p:sp>
        <p:nvSpPr>
          <p:cNvPr id="12" name="Shape 8"/>
          <p:cNvSpPr/>
          <p:nvPr/>
        </p:nvSpPr>
        <p:spPr>
          <a:xfrm>
            <a:off x="4846320" y="1508760"/>
            <a:ext cx="3383280" cy="548640"/>
          </a:xfrm>
          <a:prstGeom prst="rect">
            <a:avLst/>
          </a:prstGeom>
          <a:solidFill>
            <a:srgbClr val="00DCDC"/>
          </a:solidFill>
          <a:ln w="12700">
            <a:solidFill>
              <a:srgbClr val="00DCDC"/>
            </a:solidFill>
            <a:prstDash val="solid"/>
          </a:ln>
        </p:spPr>
      </p:sp>
      <p:sp>
        <p:nvSpPr>
          <p:cNvPr id="13" name="Text 9"/>
          <p:cNvSpPr txBox="1"/>
          <p:nvPr/>
        </p:nvSpPr>
        <p:spPr>
          <a:xfrm>
            <a:off x="5074920" y="1508760"/>
            <a:ext cx="301752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Heute möglich</a:t>
            </a:r>
            <a:endParaRPr lang="en-US" sz="1600" dirty="0"/>
          </a:p>
        </p:txBody>
      </p:sp>
      <p:sp>
        <p:nvSpPr>
          <p:cNvPr id="14" name="Shape 10"/>
          <p:cNvSpPr/>
          <p:nvPr/>
        </p:nvSpPr>
        <p:spPr>
          <a:xfrm>
            <a:off x="4846320" y="2057400"/>
            <a:ext cx="3383280" cy="2697480"/>
          </a:xfrm>
          <a:prstGeom prst="rect">
            <a:avLst/>
          </a:prstGeom>
          <a:solidFill>
            <a:srgbClr val="F5F5F5"/>
          </a:solidFill>
          <a:ln w="12700">
            <a:solidFill>
              <a:srgbClr val="F5F5F5"/>
            </a:solidFill>
            <a:prstDash val="solid"/>
          </a:ln>
        </p:spPr>
      </p:sp>
      <p:pic>
        <p:nvPicPr>
          <p:cNvPr id="15" name="Image 1" descr="/tmp/deck/ic/check_m.png">    </p:cNvPr>
          <p:cNvPicPr>
            <a:picLocks noChangeAspect="1"/>
          </p:cNvPicPr>
          <p:nvPr/>
        </p:nvPicPr>
        <p:blipFill>
          <a:blip r:embed="rId2"/>
          <a:stretch>
            <a:fillRect/>
          </a:stretch>
        </p:blipFill>
        <p:spPr>
          <a:xfrm>
            <a:off x="5047488" y="2212848"/>
            <a:ext cx="310896" cy="310896"/>
          </a:xfrm>
          <a:prstGeom prst="rect">
            <a:avLst/>
          </a:prstGeom>
        </p:spPr>
      </p:pic>
      <p:sp>
        <p:nvSpPr>
          <p:cNvPr id="16" name="Text 11"/>
          <p:cNvSpPr txBox="1"/>
          <p:nvPr/>
        </p:nvSpPr>
        <p:spPr>
          <a:xfrm>
            <a:off x="5486400" y="2176272"/>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Katalog mit Suche und Filtern</a:t>
            </a:r>
            <a:endParaRPr lang="en-US" sz="1250" dirty="0"/>
          </a:p>
        </p:txBody>
      </p:sp>
      <p:pic>
        <p:nvPicPr>
          <p:cNvPr id="17" name="Image 2" descr="/tmp/deck/ic/check_m.png">    </p:cNvPr>
          <p:cNvPicPr>
            <a:picLocks noChangeAspect="1"/>
          </p:cNvPicPr>
          <p:nvPr/>
        </p:nvPicPr>
        <p:blipFill>
          <a:blip r:embed="rId3"/>
          <a:stretch>
            <a:fillRect/>
          </a:stretch>
        </p:blipFill>
        <p:spPr>
          <a:xfrm>
            <a:off x="5047488" y="2743200"/>
            <a:ext cx="310896" cy="310896"/>
          </a:xfrm>
          <a:prstGeom prst="rect">
            <a:avLst/>
          </a:prstGeom>
        </p:spPr>
      </p:pic>
      <p:sp>
        <p:nvSpPr>
          <p:cNvPr id="18" name="Text 12"/>
          <p:cNvSpPr txBox="1"/>
          <p:nvPr/>
        </p:nvSpPr>
        <p:spPr>
          <a:xfrm>
            <a:off x="5486400" y="2706624"/>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Registrierung und Anmeldung mit Benutzername</a:t>
            </a:r>
            <a:endParaRPr lang="en-US" sz="1250" dirty="0"/>
          </a:p>
        </p:txBody>
      </p:sp>
      <p:pic>
        <p:nvPicPr>
          <p:cNvPr id="19" name="Image 3" descr="/tmp/deck/ic/check_m.png">    </p:cNvPr>
          <p:cNvPicPr>
            <a:picLocks noChangeAspect="1"/>
          </p:cNvPicPr>
          <p:nvPr/>
        </p:nvPicPr>
        <p:blipFill>
          <a:blip r:embed="rId4"/>
          <a:stretch>
            <a:fillRect/>
          </a:stretch>
        </p:blipFill>
        <p:spPr>
          <a:xfrm>
            <a:off x="5047488" y="3273552"/>
            <a:ext cx="310896" cy="310896"/>
          </a:xfrm>
          <a:prstGeom prst="rect">
            <a:avLst/>
          </a:prstGeom>
        </p:spPr>
      </p:pic>
      <p:sp>
        <p:nvSpPr>
          <p:cNvPr id="20" name="Text 13"/>
          <p:cNvSpPr txBox="1"/>
          <p:nvPr/>
        </p:nvSpPr>
        <p:spPr>
          <a:xfrm>
            <a:off x="5486400" y="3236976"/>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Termine anbieten, bearbeiten und absagen</a:t>
            </a:r>
            <a:endParaRPr lang="en-US" sz="1250" dirty="0"/>
          </a:p>
        </p:txBody>
      </p:sp>
      <p:pic>
        <p:nvPicPr>
          <p:cNvPr id="21" name="Image 4" descr="/tmp/deck/ic/check_m.png">    </p:cNvPr>
          <p:cNvPicPr>
            <a:picLocks noChangeAspect="1"/>
          </p:cNvPicPr>
          <p:nvPr/>
        </p:nvPicPr>
        <p:blipFill>
          <a:blip r:embed="rId5"/>
          <a:stretch>
            <a:fillRect/>
          </a:stretch>
        </p:blipFill>
        <p:spPr>
          <a:xfrm>
            <a:off x="5047488" y="3803904"/>
            <a:ext cx="310896" cy="310896"/>
          </a:xfrm>
          <a:prstGeom prst="rect">
            <a:avLst/>
          </a:prstGeom>
        </p:spPr>
      </p:pic>
      <p:sp>
        <p:nvSpPr>
          <p:cNvPr id="22" name="Text 14"/>
          <p:cNvSpPr txBox="1"/>
          <p:nvPr/>
        </p:nvSpPr>
        <p:spPr>
          <a:xfrm>
            <a:off x="5486400" y="3767328"/>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Teams-Link und Kalenderdatei</a:t>
            </a:r>
            <a:endParaRPr lang="en-US" sz="1250" dirty="0"/>
          </a:p>
        </p:txBody>
      </p:sp>
      <p:pic>
        <p:nvPicPr>
          <p:cNvPr id="23" name="Image 5" descr="/tmp/deck/ic/check_m.png">    </p:cNvPr>
          <p:cNvPicPr>
            <a:picLocks noChangeAspect="1"/>
          </p:cNvPicPr>
          <p:nvPr/>
        </p:nvPicPr>
        <p:blipFill>
          <a:blip r:embed="rId6"/>
          <a:stretch>
            <a:fillRect/>
          </a:stretch>
        </p:blipFill>
        <p:spPr>
          <a:xfrm>
            <a:off x="5047488" y="4334256"/>
            <a:ext cx="310896" cy="310896"/>
          </a:xfrm>
          <a:prstGeom prst="rect">
            <a:avLst/>
          </a:prstGeom>
        </p:spPr>
      </p:pic>
      <p:sp>
        <p:nvSpPr>
          <p:cNvPr id="24" name="Text 15"/>
          <p:cNvSpPr txBox="1"/>
          <p:nvPr/>
        </p:nvSpPr>
        <p:spPr>
          <a:xfrm>
            <a:off x="5486400" y="4297680"/>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Bewertung, Abzeichen, öffentliches Profil</a:t>
            </a:r>
            <a:endParaRPr lang="en-US" sz="1250" dirty="0"/>
          </a:p>
        </p:txBody>
      </p:sp>
      <p:sp>
        <p:nvSpPr>
          <p:cNvPr id="25" name="Shape 16"/>
          <p:cNvSpPr/>
          <p:nvPr/>
        </p:nvSpPr>
        <p:spPr>
          <a:xfrm>
            <a:off x="8394192" y="1508760"/>
            <a:ext cx="3291840" cy="548640"/>
          </a:xfrm>
          <a:prstGeom prst="rect">
            <a:avLst/>
          </a:prstGeom>
          <a:solidFill>
            <a:srgbClr val="F79506"/>
          </a:solidFill>
          <a:ln w="12700">
            <a:solidFill>
              <a:srgbClr val="F79506"/>
            </a:solidFill>
            <a:prstDash val="solid"/>
          </a:ln>
        </p:spPr>
      </p:sp>
      <p:sp>
        <p:nvSpPr>
          <p:cNvPr id="26" name="Text 17"/>
          <p:cNvSpPr txBox="1"/>
          <p:nvPr/>
        </p:nvSpPr>
        <p:spPr>
          <a:xfrm>
            <a:off x="8622792" y="1508760"/>
            <a:ext cx="292608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In Planung</a:t>
            </a:r>
            <a:endParaRPr lang="en-US" sz="1600" dirty="0"/>
          </a:p>
        </p:txBody>
      </p:sp>
      <p:sp>
        <p:nvSpPr>
          <p:cNvPr id="27" name="Shape 18"/>
          <p:cNvSpPr/>
          <p:nvPr/>
        </p:nvSpPr>
        <p:spPr>
          <a:xfrm>
            <a:off x="8394192" y="2057400"/>
            <a:ext cx="3291840" cy="2697480"/>
          </a:xfrm>
          <a:prstGeom prst="rect">
            <a:avLst/>
          </a:prstGeom>
          <a:solidFill>
            <a:srgbClr val="F5F5F5"/>
          </a:solidFill>
          <a:ln w="12700">
            <a:solidFill>
              <a:srgbClr val="F5F5F5"/>
            </a:solidFill>
            <a:prstDash val="solid"/>
          </a:ln>
        </p:spPr>
      </p:sp>
      <p:pic>
        <p:nvPicPr>
          <p:cNvPr id="28" name="Image 6" descr="/tmp/deck/ic/clock_m.png">    </p:cNvPr>
          <p:cNvPicPr>
            <a:picLocks noChangeAspect="1"/>
          </p:cNvPicPr>
          <p:nvPr/>
        </p:nvPicPr>
        <p:blipFill>
          <a:blip r:embed="rId7"/>
          <a:stretch>
            <a:fillRect/>
          </a:stretch>
        </p:blipFill>
        <p:spPr>
          <a:xfrm>
            <a:off x="8595360" y="2212848"/>
            <a:ext cx="310896" cy="310896"/>
          </a:xfrm>
          <a:prstGeom prst="rect">
            <a:avLst/>
          </a:prstGeom>
        </p:spPr>
      </p:pic>
      <p:sp>
        <p:nvSpPr>
          <p:cNvPr id="29" name="Text 19"/>
          <p:cNvSpPr txBox="1"/>
          <p:nvPr/>
        </p:nvSpPr>
        <p:spPr>
          <a:xfrm>
            <a:off x="9034272" y="2176272"/>
            <a:ext cx="2514600" cy="457200"/>
          </a:xfrm>
          <a:prstGeom prst="rect">
            <a:avLst/>
          </a:prstGeom>
          <a:noFill/>
          <a:ln/>
        </p:spPr>
        <p:txBody>
          <a:bodyPr wrap="square" lIns="0" tIns="0" rIns="0" bIns="0" rtlCol="0" anchor="ctr"/>
          <a:lstStyle/>
          <a:p>
            <a:pPr indent="0" marL="0">
              <a:buNone/>
            </a:pPr>
            <a:r>
              <a:rPr lang="en-US" sz="1250" b="1" dirty="0">
                <a:solidFill>
                  <a:srgbClr val="001957"/>
                </a:solidFill>
                <a:latin typeface="Arial" pitchFamily="34" charset="0"/>
                <a:ea typeface="Arial" pitchFamily="34" charset="-122"/>
                <a:cs typeface="Arial" pitchFamily="34" charset="-120"/>
              </a:rPr>
              <a:t>IDD: umgesetzt, Start nach Freigabe</a:t>
            </a:r>
            <a:endParaRPr lang="en-US" sz="1250" dirty="0"/>
          </a:p>
        </p:txBody>
      </p:sp>
      <p:pic>
        <p:nvPicPr>
          <p:cNvPr id="30" name="Image 7" descr="/tmp/deck/ic/clock_m.png">    </p:cNvPr>
          <p:cNvPicPr>
            <a:picLocks noChangeAspect="1"/>
          </p:cNvPicPr>
          <p:nvPr/>
        </p:nvPicPr>
        <p:blipFill>
          <a:blip r:embed="rId8"/>
          <a:stretch>
            <a:fillRect/>
          </a:stretch>
        </p:blipFill>
        <p:spPr>
          <a:xfrm>
            <a:off x="8595360" y="2743200"/>
            <a:ext cx="310896" cy="310896"/>
          </a:xfrm>
          <a:prstGeom prst="rect">
            <a:avLst/>
          </a:prstGeom>
        </p:spPr>
      </p:pic>
      <p:sp>
        <p:nvSpPr>
          <p:cNvPr id="31" name="Text 20"/>
          <p:cNvSpPr txBox="1"/>
          <p:nvPr/>
        </p:nvSpPr>
        <p:spPr>
          <a:xfrm>
            <a:off x="9034272" y="2706624"/>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Meldung der Zeiten an gutBeraten</a:t>
            </a:r>
            <a:endParaRPr lang="en-US" sz="1250" dirty="0"/>
          </a:p>
        </p:txBody>
      </p:sp>
      <p:pic>
        <p:nvPicPr>
          <p:cNvPr id="32" name="Image 8" descr="/tmp/deck/ic/clock_m.png">    </p:cNvPr>
          <p:cNvPicPr>
            <a:picLocks noChangeAspect="1"/>
          </p:cNvPicPr>
          <p:nvPr/>
        </p:nvPicPr>
        <p:blipFill>
          <a:blip r:embed="rId9"/>
          <a:stretch>
            <a:fillRect/>
          </a:stretch>
        </p:blipFill>
        <p:spPr>
          <a:xfrm>
            <a:off x="8595360" y="3273552"/>
            <a:ext cx="310896" cy="310896"/>
          </a:xfrm>
          <a:prstGeom prst="rect">
            <a:avLst/>
          </a:prstGeom>
        </p:spPr>
      </p:pic>
      <p:sp>
        <p:nvSpPr>
          <p:cNvPr id="33" name="Text 21"/>
          <p:cNvSpPr txBox="1"/>
          <p:nvPr/>
        </p:nvSpPr>
        <p:spPr>
          <a:xfrm>
            <a:off x="9034272" y="3236976"/>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Abstimmung mit Datenschutz und Betriebsrat</a:t>
            </a:r>
            <a:endParaRPr lang="en-US" sz="1250" dirty="0"/>
          </a:p>
        </p:txBody>
      </p:sp>
      <p:sp>
        <p:nvSpPr>
          <p:cNvPr id="34" name="Shape 22"/>
          <p:cNvSpPr/>
          <p:nvPr/>
        </p:nvSpPr>
        <p:spPr>
          <a:xfrm>
            <a:off x="4846320" y="4937760"/>
            <a:ext cx="6839712" cy="1143000"/>
          </a:xfrm>
          <a:prstGeom prst="rect">
            <a:avLst/>
          </a:prstGeom>
          <a:solidFill>
            <a:srgbClr val="FFF4E0"/>
          </a:solidFill>
          <a:ln w="12700">
            <a:solidFill>
              <a:srgbClr val="FFF4E0"/>
            </a:solidFill>
            <a:prstDash val="solid"/>
          </a:ln>
        </p:spPr>
      </p:sp>
      <p:sp>
        <p:nvSpPr>
          <p:cNvPr id="35" name="Text 23"/>
          <p:cNvSpPr txBox="1"/>
          <p:nvPr/>
        </p:nvSpPr>
        <p:spPr>
          <a:xfrm>
            <a:off x="5120640" y="4937760"/>
            <a:ext cx="6309360" cy="114300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Arbeitszeit: </a:t>
            </a:r>
            <a:pPr indent="0" marL="0">
              <a:buNone/>
            </a:pPr>
            <a:r>
              <a:rPr lang="en-US" sz="1400" dirty="0">
                <a:solidFill>
                  <a:srgbClr val="001957"/>
                </a:solidFill>
                <a:latin typeface="Arial" pitchFamily="34" charset="0"/>
                <a:ea typeface="Arial" pitchFamily="34" charset="-122"/>
                <a:cs typeface="Arial" pitchFamily="34" charset="-120"/>
              </a:rPr>
              <a:t>Dienstliche Sessions können als Arbeitszeit zählen. Teilnehmende stechen sich dafür selbst ein. Private Sessions zählen nie als Arbeitszeit.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Ausgangslage: Wissen und Zeit sind knapp</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Gründe, warum Seminare allein nicht 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1828800"/>
          </a:xfrm>
          <a:prstGeom prst="rect">
            <a:avLst/>
          </a:prstGeom>
          <a:solidFill>
            <a:srgbClr val="F5F5F5"/>
          </a:solidFill>
          <a:ln w="12700">
            <a:solidFill>
              <a:srgbClr val="F5F5F5"/>
            </a:solidFill>
            <a:prstDash val="solid"/>
          </a:ln>
        </p:spPr>
      </p:sp>
      <p:pic>
        <p:nvPicPr>
          <p:cNvPr id="9" name="Image 1" descr="/tmp/deck/ic/trend_m.png">    </p:cNvPr>
          <p:cNvPicPr>
            <a:picLocks noChangeAspect="1"/>
          </p:cNvPicPr>
          <p:nvPr/>
        </p:nvPicPr>
        <p:blipFill>
          <a:blip r:embed="rId2"/>
          <a:stretch>
            <a:fillRect/>
          </a:stretch>
        </p:blipFill>
        <p:spPr>
          <a:xfrm>
            <a:off x="804672" y="1783080"/>
            <a:ext cx="685800" cy="685800"/>
          </a:xfrm>
          <a:prstGeom prst="rect">
            <a:avLst/>
          </a:prstGeom>
        </p:spPr>
      </p:pic>
      <p:sp>
        <p:nvSpPr>
          <p:cNvPr id="10" name="Text 5"/>
          <p:cNvSpPr txBox="1"/>
          <p:nvPr/>
        </p:nvSpPr>
        <p:spPr>
          <a:xfrm>
            <a:off x="171907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 ändert sich laufend</a:t>
            </a:r>
            <a:endParaRPr lang="en-US" sz="2000" dirty="0"/>
          </a:p>
        </p:txBody>
      </p:sp>
      <p:sp>
        <p:nvSpPr>
          <p:cNvPr id="11" name="Text 6"/>
          <p:cNvSpPr txBox="1"/>
          <p:nvPr/>
        </p:nvSpPr>
        <p:spPr>
          <a:xfrm>
            <a:off x="171907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Produkte, Recht und Vertrieb entwickeln sich weiter. Ein Seminar im Jahr hält damit nicht Schritt.</a:t>
            </a:r>
            <a:endParaRPr lang="en-US" sz="1400" dirty="0"/>
          </a:p>
        </p:txBody>
      </p:sp>
      <p:sp>
        <p:nvSpPr>
          <p:cNvPr id="12" name="Shape 7"/>
          <p:cNvSpPr/>
          <p:nvPr/>
        </p:nvSpPr>
        <p:spPr>
          <a:xfrm>
            <a:off x="6199632" y="1508760"/>
            <a:ext cx="5394960" cy="1828800"/>
          </a:xfrm>
          <a:prstGeom prst="rect">
            <a:avLst/>
          </a:prstGeom>
          <a:solidFill>
            <a:srgbClr val="F5F5F5"/>
          </a:solidFill>
          <a:ln w="12700">
            <a:solidFill>
              <a:srgbClr val="F5F5F5"/>
            </a:solidFill>
            <a:prstDash val="solid"/>
          </a:ln>
        </p:spPr>
      </p:sp>
      <p:pic>
        <p:nvPicPr>
          <p:cNvPr id="13" name="Image 2" descr="/tmp/deck/ic/people_m.png">    </p:cNvPr>
          <p:cNvPicPr>
            <a:picLocks noChangeAspect="1"/>
          </p:cNvPicPr>
          <p:nvPr/>
        </p:nvPicPr>
        <p:blipFill>
          <a:blip r:embed="rId3"/>
          <a:stretch>
            <a:fillRect/>
          </a:stretch>
        </p:blipFill>
        <p:spPr>
          <a:xfrm>
            <a:off x="6473952" y="1783080"/>
            <a:ext cx="685800" cy="685800"/>
          </a:xfrm>
          <a:prstGeom prst="rect">
            <a:avLst/>
          </a:prstGeom>
        </p:spPr>
      </p:pic>
      <p:sp>
        <p:nvSpPr>
          <p:cNvPr id="14" name="Text 8"/>
          <p:cNvSpPr txBox="1"/>
          <p:nvPr/>
        </p:nvSpPr>
        <p:spPr>
          <a:xfrm>
            <a:off x="738835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Außendienst ist verteilt</a:t>
            </a:r>
            <a:endParaRPr lang="en-US" sz="2000" dirty="0"/>
          </a:p>
        </p:txBody>
      </p:sp>
      <p:sp>
        <p:nvSpPr>
          <p:cNvPr id="15" name="Text 9"/>
          <p:cNvSpPr txBox="1"/>
          <p:nvPr/>
        </p:nvSpPr>
        <p:spPr>
          <a:xfrm>
            <a:off x="738835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Viele sind allein unterwegs. Austausch mit Kolleginnen und Kollegen entsteht oft nur zufällig.</a:t>
            </a:r>
            <a:endParaRPr lang="en-US" sz="1400" dirty="0"/>
          </a:p>
        </p:txBody>
      </p:sp>
      <p:sp>
        <p:nvSpPr>
          <p:cNvPr id="16" name="Shape 10"/>
          <p:cNvSpPr/>
          <p:nvPr/>
        </p:nvSpPr>
        <p:spPr>
          <a:xfrm>
            <a:off x="530352" y="3520440"/>
            <a:ext cx="5394960" cy="1828800"/>
          </a:xfrm>
          <a:prstGeom prst="rect">
            <a:avLst/>
          </a:prstGeom>
          <a:solidFill>
            <a:srgbClr val="F5F5F5"/>
          </a:solidFill>
          <a:ln w="12700">
            <a:solidFill>
              <a:srgbClr val="F5F5F5"/>
            </a:solidFill>
            <a:prstDash val="solid"/>
          </a:ln>
        </p:spPr>
      </p:sp>
      <p:pic>
        <p:nvPicPr>
          <p:cNvPr id="17" name="Image 3" descr="/tmp/deck/ic/clock_m.png">    </p:cNvPr>
          <p:cNvPicPr>
            <a:picLocks noChangeAspect="1"/>
          </p:cNvPicPr>
          <p:nvPr/>
        </p:nvPicPr>
        <p:blipFill>
          <a:blip r:embed="rId4"/>
          <a:stretch>
            <a:fillRect/>
          </a:stretch>
        </p:blipFill>
        <p:spPr>
          <a:xfrm>
            <a:off x="804672" y="3794760"/>
            <a:ext cx="685800" cy="685800"/>
          </a:xfrm>
          <a:prstGeom prst="rect">
            <a:avLst/>
          </a:prstGeom>
        </p:spPr>
      </p:pic>
      <p:sp>
        <p:nvSpPr>
          <p:cNvPr id="18" name="Text 11"/>
          <p:cNvSpPr txBox="1"/>
          <p:nvPr/>
        </p:nvSpPr>
        <p:spPr>
          <a:xfrm>
            <a:off x="171907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Zeit ist knapp</a:t>
            </a:r>
            <a:endParaRPr lang="en-US" sz="2000" dirty="0"/>
          </a:p>
        </p:txBody>
      </p:sp>
      <p:sp>
        <p:nvSpPr>
          <p:cNvPr id="19" name="Text 12"/>
          <p:cNvSpPr txBox="1"/>
          <p:nvPr/>
        </p:nvSpPr>
        <p:spPr>
          <a:xfrm>
            <a:off x="171907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kurzer Termin am Morgen oder Abend passt besser in den Alltag als ein ganzer Seminartag.</a:t>
            </a:r>
            <a:endParaRPr lang="en-US" sz="1400" dirty="0"/>
          </a:p>
        </p:txBody>
      </p:sp>
      <p:sp>
        <p:nvSpPr>
          <p:cNvPr id="20" name="Shape 13"/>
          <p:cNvSpPr/>
          <p:nvPr/>
        </p:nvSpPr>
        <p:spPr>
          <a:xfrm>
            <a:off x="6199632" y="3520440"/>
            <a:ext cx="5394960" cy="1828800"/>
          </a:xfrm>
          <a:prstGeom prst="rect">
            <a:avLst/>
          </a:prstGeom>
          <a:solidFill>
            <a:srgbClr val="F5F5F5"/>
          </a:solidFill>
          <a:ln w="12700">
            <a:solidFill>
              <a:srgbClr val="F5F5F5"/>
            </a:solidFill>
            <a:prstDash val="solid"/>
          </a:ln>
        </p:spPr>
      </p:sp>
      <p:pic>
        <p:nvPicPr>
          <p:cNvPr id="21" name="Image 4" descr="/tmp/deck/ic/check_m.png">    </p:cNvPr>
          <p:cNvPicPr>
            <a:picLocks noChangeAspect="1"/>
          </p:cNvPicPr>
          <p:nvPr/>
        </p:nvPicPr>
        <p:blipFill>
          <a:blip r:embed="rId5"/>
          <a:stretch>
            <a:fillRect/>
          </a:stretch>
        </p:blipFill>
        <p:spPr>
          <a:xfrm>
            <a:off x="6473952" y="3794760"/>
            <a:ext cx="685800" cy="685800"/>
          </a:xfrm>
          <a:prstGeom prst="rect">
            <a:avLst/>
          </a:prstGeom>
        </p:spPr>
      </p:pic>
      <p:sp>
        <p:nvSpPr>
          <p:cNvPr id="22" name="Text 14"/>
          <p:cNvSpPr txBox="1"/>
          <p:nvPr/>
        </p:nvSpPr>
        <p:spPr>
          <a:xfrm>
            <a:off x="738835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Pflicht und Freude</a:t>
            </a:r>
            <a:endParaRPr lang="en-US" sz="2000" dirty="0"/>
          </a:p>
        </p:txBody>
      </p:sp>
      <p:sp>
        <p:nvSpPr>
          <p:cNvPr id="23" name="Text 15"/>
          <p:cNvSpPr txBox="1"/>
          <p:nvPr/>
        </p:nvSpPr>
        <p:spPr>
          <a:xfrm>
            <a:off x="738835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IDD verlangt 15 Stunden Weiterbildung im Jahr. Gutes Lernen darf auch Freude machen.</a:t>
            </a:r>
            <a:endParaRPr lang="en-US" sz="1400" dirty="0"/>
          </a:p>
        </p:txBody>
      </p:sp>
      <p:sp>
        <p:nvSpPr>
          <p:cNvPr id="24" name="Text 16"/>
          <p:cNvSpPr txBox="1"/>
          <p:nvPr/>
        </p:nvSpPr>
        <p:spPr>
          <a:xfrm>
            <a:off x="530352" y="5623560"/>
            <a:ext cx="11155680" cy="45720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58 Prozent</a:t>
            </a:r>
            <a:pPr indent="0" marL="0">
              <a:buNone/>
            </a:pPr>
            <a:r>
              <a:rPr lang="en-US" sz="1400" dirty="0">
                <a:solidFill>
                  <a:srgbClr val="001957"/>
                </a:solidFill>
                <a:latin typeface="Arial" pitchFamily="34" charset="0"/>
                <a:ea typeface="Arial" pitchFamily="34" charset="-122"/>
                <a:cs typeface="Arial" pitchFamily="34" charset="-120"/>
              </a:rPr>
              <a:t> der Erwachsenen in Deutschland nahmen 2022 an Weiterbildung teil (Adult Education Survey, BMBF).</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Drei Begriffe, ein Gedanke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Informelles Lernen, Community-Lernen und New Learning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book_m.png">    </p:cNvPr>
          <p:cNvPicPr>
            <a:picLocks noChangeAspect="1"/>
          </p:cNvPicPr>
          <p:nvPr/>
        </p:nvPicPr>
        <p:blipFill>
          <a:blip r:embed="rId2"/>
          <a:stretch>
            <a:fillRect/>
          </a:stretch>
        </p:blipFill>
        <p:spPr>
          <a:xfrm>
            <a:off x="804672" y="1783080"/>
            <a:ext cx="777240" cy="77724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Informelles Lernen</a:t>
            </a:r>
            <a:endParaRPr lang="en-US" sz="2000" dirty="0"/>
          </a:p>
        </p:txBody>
      </p:sp>
      <p:sp>
        <p:nvSpPr>
          <p:cNvPr id="11" name="Text 6"/>
          <p:cNvSpPr txBox="1"/>
          <p:nvPr/>
        </p:nvSpPr>
        <p:spPr>
          <a:xfrm>
            <a:off x="80467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Lernen im Arbeitsalltag: ungeplant oder selbst gewählt, ohne Lehrplan und Prüfung.</a:t>
            </a:r>
            <a:endParaRPr lang="en-US" sz="1400" dirty="0"/>
          </a:p>
        </p:txBody>
      </p:sp>
      <p:sp>
        <p:nvSpPr>
          <p:cNvPr id="12" name="Shape 7"/>
          <p:cNvSpPr/>
          <p:nvPr/>
        </p:nvSpPr>
        <p:spPr>
          <a:xfrm>
            <a:off x="804672" y="4846320"/>
            <a:ext cx="3017520" cy="1005840"/>
          </a:xfrm>
          <a:prstGeom prst="rect">
            <a:avLst/>
          </a:prstGeom>
          <a:solidFill>
            <a:srgbClr val="001957"/>
          </a:solidFill>
          <a:ln w="12700">
            <a:solidFill>
              <a:srgbClr val="001957"/>
            </a:solidFill>
            <a:prstDash val="solid"/>
          </a:ln>
        </p:spPr>
      </p:sp>
      <p:sp>
        <p:nvSpPr>
          <p:cNvPr id="13" name="Text 8"/>
          <p:cNvSpPr txBox="1"/>
          <p:nvPr/>
        </p:nvSpPr>
        <p:spPr>
          <a:xfrm>
            <a:off x="94183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Ein Termin zu einem Thema, das mich gerade beschäftigt.</a:t>
            </a:r>
            <a:endParaRPr lang="en-US" sz="1300" dirty="0"/>
          </a:p>
        </p:txBody>
      </p:sp>
      <p:sp>
        <p:nvSpPr>
          <p:cNvPr id="14" name="Shape 9"/>
          <p:cNvSpPr/>
          <p:nvPr/>
        </p:nvSpPr>
        <p:spPr>
          <a:xfrm>
            <a:off x="4325112" y="1508760"/>
            <a:ext cx="3566160" cy="4572000"/>
          </a:xfrm>
          <a:prstGeom prst="rect">
            <a:avLst/>
          </a:prstGeom>
          <a:solidFill>
            <a:srgbClr val="F5F5F5"/>
          </a:solidFill>
          <a:ln w="12700">
            <a:solidFill>
              <a:srgbClr val="F5F5F5"/>
            </a:solidFill>
            <a:prstDash val="solid"/>
          </a:ln>
        </p:spPr>
      </p:sp>
      <p:pic>
        <p:nvPicPr>
          <p:cNvPr id="15" name="Image 2" descr="/tmp/deck/ic/team_m.png">    </p:cNvPr>
          <p:cNvPicPr>
            <a:picLocks noChangeAspect="1"/>
          </p:cNvPicPr>
          <p:nvPr/>
        </p:nvPicPr>
        <p:blipFill>
          <a:blip r:embed="rId3"/>
          <a:stretch>
            <a:fillRect/>
          </a:stretch>
        </p:blipFill>
        <p:spPr>
          <a:xfrm>
            <a:off x="4599432" y="1783080"/>
            <a:ext cx="777240" cy="777240"/>
          </a:xfrm>
          <a:prstGeom prst="rect">
            <a:avLst/>
          </a:prstGeom>
        </p:spPr>
      </p:pic>
      <p:sp>
        <p:nvSpPr>
          <p:cNvPr id="16" name="Text 10"/>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Community-Lernen</a:t>
            </a:r>
            <a:endParaRPr lang="en-US" sz="2000" dirty="0"/>
          </a:p>
        </p:txBody>
      </p:sp>
      <p:sp>
        <p:nvSpPr>
          <p:cNvPr id="17" name="Text 11"/>
          <p:cNvSpPr txBox="1"/>
          <p:nvPr/>
        </p:nvSpPr>
        <p:spPr>
          <a:xfrm>
            <a:off x="459943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Menschen mit gemeinsamem Thema lernen regelmäßig voneinander. Wissen wächst durch Austausch (Wenger: Communities of Practice).</a:t>
            </a:r>
            <a:endParaRPr lang="en-US" sz="1400" dirty="0"/>
          </a:p>
        </p:txBody>
      </p:sp>
      <p:sp>
        <p:nvSpPr>
          <p:cNvPr id="18" name="Shape 12"/>
          <p:cNvSpPr/>
          <p:nvPr/>
        </p:nvSpPr>
        <p:spPr>
          <a:xfrm>
            <a:off x="4599432" y="4846320"/>
            <a:ext cx="3017520" cy="1005840"/>
          </a:xfrm>
          <a:prstGeom prst="rect">
            <a:avLst/>
          </a:prstGeom>
          <a:solidFill>
            <a:srgbClr val="001957"/>
          </a:solidFill>
          <a:ln w="12700">
            <a:solidFill>
              <a:srgbClr val="001957"/>
            </a:solidFill>
            <a:prstDash val="solid"/>
          </a:ln>
        </p:spPr>
      </p:sp>
      <p:sp>
        <p:nvSpPr>
          <p:cNvPr id="19" name="Text 13"/>
          <p:cNvSpPr txBox="1"/>
          <p:nvPr/>
        </p:nvSpPr>
        <p:spPr>
          <a:xfrm>
            <a:off x="473659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Wiederkehrende Termine und Anbietende, die sich kennenlernen.</a:t>
            </a:r>
            <a:endParaRPr lang="en-US" sz="1300" dirty="0"/>
          </a:p>
        </p:txBody>
      </p:sp>
      <p:sp>
        <p:nvSpPr>
          <p:cNvPr id="20" name="Shape 14"/>
          <p:cNvSpPr/>
          <p:nvPr/>
        </p:nvSpPr>
        <p:spPr>
          <a:xfrm>
            <a:off x="8119872" y="1508760"/>
            <a:ext cx="3566160" cy="4572000"/>
          </a:xfrm>
          <a:prstGeom prst="rect">
            <a:avLst/>
          </a:prstGeom>
          <a:solidFill>
            <a:srgbClr val="F5F5F5"/>
          </a:solidFill>
          <a:ln w="12700">
            <a:solidFill>
              <a:srgbClr val="F5F5F5"/>
            </a:solidFill>
            <a:prstDash val="solid"/>
          </a:ln>
        </p:spPr>
      </p:sp>
      <p:pic>
        <p:nvPicPr>
          <p:cNvPr id="21" name="Image 3" descr="/tmp/deck/ic/globe_m.png">    </p:cNvPr>
          <p:cNvPicPr>
            <a:picLocks noChangeAspect="1"/>
          </p:cNvPicPr>
          <p:nvPr/>
        </p:nvPicPr>
        <p:blipFill>
          <a:blip r:embed="rId4"/>
          <a:stretch>
            <a:fillRect/>
          </a:stretch>
        </p:blipFill>
        <p:spPr>
          <a:xfrm>
            <a:off x="8394192" y="1783080"/>
            <a:ext cx="777240" cy="777240"/>
          </a:xfrm>
          <a:prstGeom prst="rect">
            <a:avLst/>
          </a:prstGeom>
        </p:spPr>
      </p:pic>
      <p:sp>
        <p:nvSpPr>
          <p:cNvPr id="22" name="Text 15"/>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New Learning</a:t>
            </a:r>
            <a:endParaRPr lang="en-US" sz="2000" dirty="0"/>
          </a:p>
        </p:txBody>
      </p:sp>
      <p:sp>
        <p:nvSpPr>
          <p:cNvPr id="23" name="Text 16"/>
          <p:cNvSpPr txBox="1"/>
          <p:nvPr/>
        </p:nvSpPr>
        <p:spPr>
          <a:xfrm>
            <a:off x="839419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Selbstgesteuert, digital, kurz und im Arbeitsfluss. Lernen ist Teil der Arbeit, nicht ihre Unterbrechung.</a:t>
            </a:r>
            <a:endParaRPr lang="en-US" sz="1400" dirty="0"/>
          </a:p>
        </p:txBody>
      </p:sp>
      <p:sp>
        <p:nvSpPr>
          <p:cNvPr id="24" name="Shape 17"/>
          <p:cNvSpPr/>
          <p:nvPr/>
        </p:nvSpPr>
        <p:spPr>
          <a:xfrm>
            <a:off x="8394192" y="4846320"/>
            <a:ext cx="3017520" cy="1005840"/>
          </a:xfrm>
          <a:prstGeom prst="rect">
            <a:avLst/>
          </a:prstGeom>
          <a:solidFill>
            <a:srgbClr val="001957"/>
          </a:solidFill>
          <a:ln w="12700">
            <a:solidFill>
              <a:srgbClr val="001957"/>
            </a:solidFill>
            <a:prstDash val="solid"/>
          </a:ln>
        </p:spPr>
      </p:sp>
      <p:sp>
        <p:nvSpPr>
          <p:cNvPr id="25" name="Text 18"/>
          <p:cNvSpPr txBox="1"/>
          <p:nvPr/>
        </p:nvSpPr>
        <p:spPr>
          <a:xfrm>
            <a:off x="853135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15 bis 120 Minuten in Teams, direkt aus dem Außendienstalltag.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Lernen passiert vor allem im Alltag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Faustformel 70:20:10 und was sie für uns bedeutet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8" name="Chart 0" descr=""/>
          <p:cNvGraphicFramePr/>
          <p:nvPr/>
        </p:nvGraphicFramePr>
        <p:xfrm>
          <a:off x="530352" y="1463040"/>
          <a:ext cx="5486400" cy="457200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1965960" y="3246120"/>
            <a:ext cx="2651760" cy="548640"/>
          </a:xfrm>
          <a:prstGeom prst="rect">
            <a:avLst/>
          </a:prstGeom>
          <a:noFill/>
          <a:ln/>
        </p:spPr>
        <p:txBody>
          <a:bodyPr wrap="square" lIns="0" tIns="0" rIns="0" bIns="0" rtlCol="0" anchor="ctr"/>
          <a:lstStyle/>
          <a:p>
            <a:pPr algn="ctr" indent="0" marL="0">
              <a:buNone/>
            </a:pPr>
            <a:r>
              <a:rPr lang="en-US" sz="2600" b="1" dirty="0">
                <a:solidFill>
                  <a:srgbClr val="001957"/>
                </a:solidFill>
                <a:latin typeface="Arial" pitchFamily="34" charset="0"/>
                <a:ea typeface="Arial" pitchFamily="34" charset="-122"/>
                <a:cs typeface="Arial" pitchFamily="34" charset="-120"/>
              </a:rPr>
              <a:t>70 : 20 : 10</a:t>
            </a:r>
            <a:endParaRPr lang="en-US" sz="2600" dirty="0"/>
          </a:p>
        </p:txBody>
      </p:sp>
      <p:sp>
        <p:nvSpPr>
          <p:cNvPr id="10" name="Text 5"/>
          <p:cNvSpPr txBox="1"/>
          <p:nvPr/>
        </p:nvSpPr>
        <p:spPr>
          <a:xfrm>
            <a:off x="6492240" y="160020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Eine Faustformel</a:t>
            </a:r>
            <a:endParaRPr lang="en-US" sz="2000" dirty="0"/>
          </a:p>
        </p:txBody>
      </p:sp>
      <p:sp>
        <p:nvSpPr>
          <p:cNvPr id="11" name="Text 6"/>
          <p:cNvSpPr txBox="1"/>
          <p:nvPr/>
        </p:nvSpPr>
        <p:spPr>
          <a:xfrm>
            <a:off x="6492240" y="201168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Sie stammt aus Studien mit Führungskräften und zeigt eine Richtung, keine exakte Messung.</a:t>
            </a:r>
            <a:endParaRPr lang="en-US" sz="1500" dirty="0"/>
          </a:p>
        </p:txBody>
      </p:sp>
      <p:sp>
        <p:nvSpPr>
          <p:cNvPr id="12" name="Text 7"/>
          <p:cNvSpPr txBox="1"/>
          <p:nvPr/>
        </p:nvSpPr>
        <p:spPr>
          <a:xfrm>
            <a:off x="6492240" y="310896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Wissenschaftlich umstritten</a:t>
            </a:r>
            <a:endParaRPr lang="en-US" sz="2000" dirty="0"/>
          </a:p>
        </p:txBody>
      </p:sp>
      <p:sp>
        <p:nvSpPr>
          <p:cNvPr id="13" name="Text 8"/>
          <p:cNvSpPr txBox="1"/>
          <p:nvPr/>
        </p:nvSpPr>
        <p:spPr>
          <a:xfrm>
            <a:off x="6492240" y="352044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Zahlen sind nicht belegt (Clardy, 2018). Wir stützen uns deshalb nicht auf sie.</a:t>
            </a:r>
            <a:endParaRPr lang="en-US" sz="1500" dirty="0"/>
          </a:p>
        </p:txBody>
      </p:sp>
      <p:sp>
        <p:nvSpPr>
          <p:cNvPr id="14" name="Text 9"/>
          <p:cNvSpPr txBox="1"/>
          <p:nvPr/>
        </p:nvSpPr>
        <p:spPr>
          <a:xfrm>
            <a:off x="6492240" y="4617720"/>
            <a:ext cx="5120640" cy="365760"/>
          </a:xfrm>
          <a:prstGeom prst="rect">
            <a:avLst/>
          </a:prstGeom>
          <a:noFill/>
          <a:ln/>
        </p:spPr>
        <p:txBody>
          <a:bodyPr wrap="square" lIns="0" tIns="0" rIns="0" bIns="0" rtlCol="0" anchor="t"/>
          <a:lstStyle/>
          <a:p>
            <a:pPr indent="0" marL="0">
              <a:buNone/>
            </a:pPr>
            <a:r>
              <a:rPr lang="en-US" sz="2000" b="1" dirty="0">
                <a:solidFill>
                  <a:srgbClr val="EB6504"/>
                </a:solidFill>
                <a:latin typeface="Arial" pitchFamily="34" charset="0"/>
                <a:ea typeface="Arial" pitchFamily="34" charset="-122"/>
                <a:cs typeface="Arial" pitchFamily="34" charset="-120"/>
              </a:rPr>
              <a:t>Unsere Folgerung</a:t>
            </a:r>
            <a:endParaRPr lang="en-US" sz="2000" dirty="0"/>
          </a:p>
        </p:txBody>
      </p:sp>
      <p:sp>
        <p:nvSpPr>
          <p:cNvPr id="15" name="Text 10"/>
          <p:cNvSpPr txBox="1"/>
          <p:nvPr/>
        </p:nvSpPr>
        <p:spPr>
          <a:xfrm>
            <a:off x="6492240" y="502920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Ein großer Teil des Lernens passiert im Alltag und im Austausch. LearnTogether@AD gibt diesem Teil einen festen Ort.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Andere Unternehmen zeigen: Es funktioniert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Telekom, Bosch und DATEV lassen Kolleginnen und Kollegen voneinander lernen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sp>
        <p:nvSpPr>
          <p:cNvPr id="9" name="Text 5"/>
          <p:cNvSpPr txBox="1"/>
          <p:nvPr/>
        </p:nvSpPr>
        <p:spPr>
          <a:xfrm>
            <a:off x="80467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Telekom: LEX</a:t>
            </a:r>
            <a:endParaRPr lang="en-US" sz="2000" dirty="0"/>
          </a:p>
        </p:txBody>
      </p:sp>
      <p:sp>
        <p:nvSpPr>
          <p:cNvPr id="10" name="Text 6"/>
          <p:cNvSpPr txBox="1"/>
          <p:nvPr/>
        </p:nvSpPr>
        <p:spPr>
          <a:xfrm>
            <a:off x="80467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Lernen von Experten, seit 2018</a:t>
            </a:r>
            <a:endParaRPr lang="en-US" sz="1300" dirty="0"/>
          </a:p>
        </p:txBody>
      </p:sp>
      <p:sp>
        <p:nvSpPr>
          <p:cNvPr id="11" name="Text 7"/>
          <p:cNvSpPr txBox="1"/>
          <p:nvPr/>
        </p:nvSpPr>
        <p:spPr>
          <a:xfrm>
            <a:off x="80467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18.000</a:t>
            </a:r>
            <a:endParaRPr lang="en-US" sz="2800" dirty="0"/>
          </a:p>
        </p:txBody>
      </p:sp>
      <p:sp>
        <p:nvSpPr>
          <p:cNvPr id="12" name="Text 8"/>
          <p:cNvSpPr txBox="1"/>
          <p:nvPr/>
        </p:nvSpPr>
        <p:spPr>
          <a:xfrm>
            <a:off x="208483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Mitglieder im Netzwerk</a:t>
            </a:r>
            <a:endParaRPr lang="en-US" sz="1300" dirty="0"/>
          </a:p>
        </p:txBody>
      </p:sp>
      <p:sp>
        <p:nvSpPr>
          <p:cNvPr id="13" name="Text 9"/>
          <p:cNvSpPr txBox="1"/>
          <p:nvPr/>
        </p:nvSpPr>
        <p:spPr>
          <a:xfrm>
            <a:off x="80467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6.500</a:t>
            </a:r>
            <a:endParaRPr lang="en-US" sz="2800" dirty="0"/>
          </a:p>
        </p:txBody>
      </p:sp>
      <p:sp>
        <p:nvSpPr>
          <p:cNvPr id="14" name="Text 10"/>
          <p:cNvSpPr txBox="1"/>
          <p:nvPr/>
        </p:nvSpPr>
        <p:spPr>
          <a:xfrm>
            <a:off x="208483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a:t>
            </a:r>
            <a:endParaRPr lang="en-US" sz="1300" dirty="0"/>
          </a:p>
        </p:txBody>
      </p:sp>
      <p:sp>
        <p:nvSpPr>
          <p:cNvPr id="15" name="Text 11"/>
          <p:cNvSpPr txBox="1"/>
          <p:nvPr/>
        </p:nvSpPr>
        <p:spPr>
          <a:xfrm>
            <a:off x="80467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52.000</a:t>
            </a:r>
            <a:endParaRPr lang="en-US" sz="2800" dirty="0"/>
          </a:p>
        </p:txBody>
      </p:sp>
      <p:sp>
        <p:nvSpPr>
          <p:cNvPr id="16" name="Text 12"/>
          <p:cNvSpPr txBox="1"/>
          <p:nvPr/>
        </p:nvSpPr>
        <p:spPr>
          <a:xfrm>
            <a:off x="208483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Teilnahmen</a:t>
            </a:r>
            <a:endParaRPr lang="en-US" sz="1300" dirty="0"/>
          </a:p>
        </p:txBody>
      </p:sp>
      <p:sp>
        <p:nvSpPr>
          <p:cNvPr id="17" name="Text 13"/>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Freiwillig und von Mitarbeitenden gestartet. Die größte Lerngemeinschaft unter Kolleginnen und Kollegen bei der Telekom.</a:t>
            </a:r>
            <a:endParaRPr lang="en-US" sz="1200" dirty="0"/>
          </a:p>
        </p:txBody>
      </p:sp>
      <p:sp>
        <p:nvSpPr>
          <p:cNvPr id="18" name="Shape 14"/>
          <p:cNvSpPr/>
          <p:nvPr/>
        </p:nvSpPr>
        <p:spPr>
          <a:xfrm>
            <a:off x="4325112" y="1508760"/>
            <a:ext cx="3566160" cy="4572000"/>
          </a:xfrm>
          <a:prstGeom prst="rect">
            <a:avLst/>
          </a:prstGeom>
          <a:solidFill>
            <a:srgbClr val="F5F5F5"/>
          </a:solidFill>
          <a:ln w="12700">
            <a:solidFill>
              <a:srgbClr val="F5F5F5"/>
            </a:solidFill>
            <a:prstDash val="solid"/>
          </a:ln>
        </p:spPr>
      </p:sp>
      <p:sp>
        <p:nvSpPr>
          <p:cNvPr id="19" name="Text 15"/>
          <p:cNvSpPr txBox="1"/>
          <p:nvPr/>
        </p:nvSpPr>
        <p:spPr>
          <a:xfrm>
            <a:off x="459943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Bosch: Bosch Club</a:t>
            </a:r>
            <a:endParaRPr lang="en-US" sz="2000" dirty="0"/>
          </a:p>
        </p:txBody>
      </p:sp>
      <p:sp>
        <p:nvSpPr>
          <p:cNvPr id="20" name="Text 16"/>
          <p:cNvSpPr txBox="1"/>
          <p:nvPr/>
        </p:nvSpPr>
        <p:spPr>
          <a:xfrm>
            <a:off x="459943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Informelles Lernen, seit Oktober 2022</a:t>
            </a:r>
            <a:endParaRPr lang="en-US" sz="1300" dirty="0"/>
          </a:p>
        </p:txBody>
      </p:sp>
      <p:sp>
        <p:nvSpPr>
          <p:cNvPr id="21" name="Text 17"/>
          <p:cNvSpPr txBox="1"/>
          <p:nvPr/>
        </p:nvSpPr>
        <p:spPr>
          <a:xfrm>
            <a:off x="459943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2.200</a:t>
            </a:r>
            <a:endParaRPr lang="en-US" sz="2800" dirty="0"/>
          </a:p>
        </p:txBody>
      </p:sp>
      <p:sp>
        <p:nvSpPr>
          <p:cNvPr id="22" name="Text 18"/>
          <p:cNvSpPr txBox="1"/>
          <p:nvPr/>
        </p:nvSpPr>
        <p:spPr>
          <a:xfrm>
            <a:off x="587959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 weltweit</a:t>
            </a:r>
            <a:endParaRPr lang="en-US" sz="1300" dirty="0"/>
          </a:p>
        </p:txBody>
      </p:sp>
      <p:sp>
        <p:nvSpPr>
          <p:cNvPr id="23" name="Text 19"/>
          <p:cNvSpPr txBox="1"/>
          <p:nvPr/>
        </p:nvSpPr>
        <p:spPr>
          <a:xfrm>
            <a:off x="459943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0</a:t>
            </a:r>
            <a:endParaRPr lang="en-US" sz="2800" dirty="0"/>
          </a:p>
        </p:txBody>
      </p:sp>
      <p:sp>
        <p:nvSpPr>
          <p:cNvPr id="24" name="Text 20"/>
          <p:cNvSpPr txBox="1"/>
          <p:nvPr/>
        </p:nvSpPr>
        <p:spPr>
          <a:xfrm>
            <a:off x="587959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Freigabeverfahren</a:t>
            </a:r>
            <a:endParaRPr lang="en-US" sz="1300" dirty="0"/>
          </a:p>
        </p:txBody>
      </p:sp>
      <p:sp>
        <p:nvSpPr>
          <p:cNvPr id="25" name="Text 21"/>
          <p:cNvSpPr txBox="1"/>
          <p:nvPr/>
        </p:nvSpPr>
        <p:spPr>
          <a:xfrm>
            <a:off x="459943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a:t>
            </a:r>
            <a:endParaRPr lang="en-US" sz="2800" dirty="0"/>
          </a:p>
        </p:txBody>
      </p:sp>
      <p:sp>
        <p:nvSpPr>
          <p:cNvPr id="26" name="Text 22"/>
          <p:cNvSpPr txBox="1"/>
          <p:nvPr/>
        </p:nvSpPr>
        <p:spPr>
          <a:xfrm>
            <a:off x="587959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Kalender plus Teams</a:t>
            </a:r>
            <a:endParaRPr lang="en-US" sz="1300" dirty="0"/>
          </a:p>
        </p:txBody>
      </p:sp>
      <p:sp>
        <p:nvSpPr>
          <p:cNvPr id="27" name="Text 23"/>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Wer etwas anbieten oder teilnehmen möchte, braucht keine Genehmigung. Die Technik ist bewusst einfach.</a:t>
            </a:r>
            <a:endParaRPr lang="en-US" sz="1200" dirty="0"/>
          </a:p>
        </p:txBody>
      </p:sp>
      <p:sp>
        <p:nvSpPr>
          <p:cNvPr id="28" name="Shape 24"/>
          <p:cNvSpPr/>
          <p:nvPr/>
        </p:nvSpPr>
        <p:spPr>
          <a:xfrm>
            <a:off x="8119872" y="1508760"/>
            <a:ext cx="3566160" cy="4572000"/>
          </a:xfrm>
          <a:prstGeom prst="rect">
            <a:avLst/>
          </a:prstGeom>
          <a:solidFill>
            <a:srgbClr val="F5F5F5"/>
          </a:solidFill>
          <a:ln w="12700">
            <a:solidFill>
              <a:srgbClr val="F5F5F5"/>
            </a:solidFill>
            <a:prstDash val="solid"/>
          </a:ln>
        </p:spPr>
      </p:sp>
      <p:sp>
        <p:nvSpPr>
          <p:cNvPr id="29" name="Text 25"/>
          <p:cNvSpPr txBox="1"/>
          <p:nvPr/>
        </p:nvSpPr>
        <p:spPr>
          <a:xfrm>
            <a:off x="839419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DATEV: wDw</a:t>
            </a:r>
            <a:endParaRPr lang="en-US" sz="2000" dirty="0"/>
          </a:p>
        </p:txBody>
      </p:sp>
      <p:sp>
        <p:nvSpPr>
          <p:cNvPr id="30" name="Text 26"/>
          <p:cNvSpPr txBox="1"/>
          <p:nvPr/>
        </p:nvSpPr>
        <p:spPr>
          <a:xfrm>
            <a:off x="839419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Wenn Datev wüsste, was Datev weiß</a:t>
            </a:r>
            <a:endParaRPr lang="en-US" sz="1300" dirty="0"/>
          </a:p>
        </p:txBody>
      </p:sp>
      <p:sp>
        <p:nvSpPr>
          <p:cNvPr id="31" name="Text 27"/>
          <p:cNvSpPr txBox="1"/>
          <p:nvPr/>
        </p:nvSpPr>
        <p:spPr>
          <a:xfrm>
            <a:off x="839419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3</a:t>
            </a:r>
            <a:endParaRPr lang="en-US" sz="2800" dirty="0"/>
          </a:p>
        </p:txBody>
      </p:sp>
      <p:sp>
        <p:nvSpPr>
          <p:cNvPr id="32" name="Text 28"/>
          <p:cNvSpPr txBox="1"/>
          <p:nvPr/>
        </p:nvSpPr>
        <p:spPr>
          <a:xfrm>
            <a:off x="967435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Ebenen: ich, Team, Organisation</a:t>
            </a:r>
            <a:endParaRPr lang="en-US" sz="1300" dirty="0"/>
          </a:p>
        </p:txBody>
      </p:sp>
      <p:pic>
        <p:nvPicPr>
          <p:cNvPr id="33" name="Image 1" descr="/tmp/deck/ic/check_m.png">    </p:cNvPr>
          <p:cNvPicPr>
            <a:picLocks noChangeAspect="1"/>
          </p:cNvPicPr>
          <p:nvPr/>
        </p:nvPicPr>
        <p:blipFill>
          <a:blip r:embed="rId2"/>
          <a:stretch>
            <a:fillRect/>
          </a:stretch>
        </p:blipFill>
        <p:spPr>
          <a:xfrm>
            <a:off x="8503920" y="3383280"/>
            <a:ext cx="420624" cy="420624"/>
          </a:xfrm>
          <a:prstGeom prst="rect">
            <a:avLst/>
          </a:prstGeom>
        </p:spPr>
      </p:pic>
      <p:sp>
        <p:nvSpPr>
          <p:cNvPr id="34" name="Text 29"/>
          <p:cNvSpPr txBox="1"/>
          <p:nvPr/>
        </p:nvSpPr>
        <p:spPr>
          <a:xfrm>
            <a:off x="967435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Communities of Practice</a:t>
            </a:r>
            <a:endParaRPr lang="en-US" sz="1300" dirty="0"/>
          </a:p>
        </p:txBody>
      </p:sp>
      <p:pic>
        <p:nvPicPr>
          <p:cNvPr id="35" name="Image 2" descr="/tmp/deck/ic/check_m.png">    </p:cNvPr>
          <p:cNvPicPr>
            <a:picLocks noChangeAspect="1"/>
          </p:cNvPicPr>
          <p:nvPr/>
        </p:nvPicPr>
        <p:blipFill>
          <a:blip r:embed="rId3"/>
          <a:stretch>
            <a:fillRect/>
          </a:stretch>
        </p:blipFill>
        <p:spPr>
          <a:xfrm>
            <a:off x="8503920" y="4096512"/>
            <a:ext cx="420624" cy="420624"/>
          </a:xfrm>
          <a:prstGeom prst="rect">
            <a:avLst/>
          </a:prstGeom>
        </p:spPr>
      </p:pic>
      <p:sp>
        <p:nvSpPr>
          <p:cNvPr id="36" name="Text 30"/>
          <p:cNvSpPr txBox="1"/>
          <p:nvPr/>
        </p:nvSpPr>
        <p:spPr>
          <a:xfrm>
            <a:off x="967435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Barcamps und Lernmentoring</a:t>
            </a:r>
            <a:endParaRPr lang="en-US" sz="1300" dirty="0"/>
          </a:p>
        </p:txBody>
      </p:sp>
      <p:sp>
        <p:nvSpPr>
          <p:cNvPr id="37" name="Text 31"/>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Mitarbeitende bieten Sessions an. Lernen ist dezentral und selbstgesteuert, die Organisation gibt den Rahmen.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Was wir daraus lernen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Fünf Erfolgsfaktoren und unsere Antwort darauf</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36192"/>
            <a:ext cx="594360" cy="594360"/>
          </a:xfrm>
          <a:prstGeom prst="ellipse">
            <a:avLst/>
          </a:prstGeom>
          <a:solidFill>
            <a:srgbClr val="001957"/>
          </a:solidFill>
          <a:ln w="12700">
            <a:solidFill>
              <a:srgbClr val="001957"/>
            </a:solidFill>
            <a:prstDash val="solid"/>
          </a:ln>
        </p:spPr>
      </p:sp>
      <p:sp>
        <p:nvSpPr>
          <p:cNvPr id="9" name="Text 5"/>
          <p:cNvSpPr txBox="1"/>
          <p:nvPr/>
        </p:nvSpPr>
        <p:spPr>
          <a:xfrm>
            <a:off x="530352" y="15361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0" name="Text 6"/>
          <p:cNvSpPr txBox="1"/>
          <p:nvPr/>
        </p:nvSpPr>
        <p:spPr>
          <a:xfrm>
            <a:off x="1371600" y="15087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Freiwilligkeit und Vertrauen</a:t>
            </a:r>
            <a:endParaRPr lang="en-US" sz="1800" dirty="0"/>
          </a:p>
        </p:txBody>
      </p:sp>
      <p:sp>
        <p:nvSpPr>
          <p:cNvPr id="11" name="Shape 7"/>
          <p:cNvSpPr/>
          <p:nvPr/>
        </p:nvSpPr>
        <p:spPr>
          <a:xfrm>
            <a:off x="5394960" y="1463040"/>
            <a:ext cx="6291072" cy="749808"/>
          </a:xfrm>
          <a:prstGeom prst="rect">
            <a:avLst/>
          </a:prstGeom>
          <a:solidFill>
            <a:srgbClr val="F5F5F5"/>
          </a:solidFill>
          <a:ln w="12700">
            <a:solidFill>
              <a:srgbClr val="F5F5F5"/>
            </a:solidFill>
            <a:prstDash val="solid"/>
          </a:ln>
        </p:spPr>
      </p:sp>
      <p:sp>
        <p:nvSpPr>
          <p:cNvPr id="12" name="Text 8"/>
          <p:cNvSpPr txBox="1"/>
          <p:nvPr/>
        </p:nvSpPr>
        <p:spPr>
          <a:xfrm>
            <a:off x="5577840" y="14630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Teilnahme und Angebot sind freiwillig. Öffentlich erscheint nur der Benutzername.</a:t>
            </a:r>
            <a:endParaRPr lang="en-US" sz="1400" dirty="0"/>
          </a:p>
        </p:txBody>
      </p:sp>
      <p:sp>
        <p:nvSpPr>
          <p:cNvPr id="13" name="Shape 9"/>
          <p:cNvSpPr/>
          <p:nvPr/>
        </p:nvSpPr>
        <p:spPr>
          <a:xfrm>
            <a:off x="530352" y="2450592"/>
            <a:ext cx="594360" cy="594360"/>
          </a:xfrm>
          <a:prstGeom prst="ellipse">
            <a:avLst/>
          </a:prstGeom>
          <a:solidFill>
            <a:srgbClr val="001957"/>
          </a:solidFill>
          <a:ln w="12700">
            <a:solidFill>
              <a:srgbClr val="001957"/>
            </a:solidFill>
            <a:prstDash val="solid"/>
          </a:ln>
        </p:spPr>
      </p:sp>
      <p:sp>
        <p:nvSpPr>
          <p:cNvPr id="14" name="Text 10"/>
          <p:cNvSpPr txBox="1"/>
          <p:nvPr/>
        </p:nvSpPr>
        <p:spPr>
          <a:xfrm>
            <a:off x="530352" y="24505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1371600" y="24231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Niedrige Hürde</a:t>
            </a:r>
            <a:endParaRPr lang="en-US" sz="1800" dirty="0"/>
          </a:p>
        </p:txBody>
      </p:sp>
      <p:sp>
        <p:nvSpPr>
          <p:cNvPr id="16" name="Shape 12"/>
          <p:cNvSpPr/>
          <p:nvPr/>
        </p:nvSpPr>
        <p:spPr>
          <a:xfrm>
            <a:off x="5394960" y="2377440"/>
            <a:ext cx="6291072" cy="749808"/>
          </a:xfrm>
          <a:prstGeom prst="rect">
            <a:avLst/>
          </a:prstGeom>
          <a:solidFill>
            <a:srgbClr val="F5F5F5"/>
          </a:solidFill>
          <a:ln w="12700">
            <a:solidFill>
              <a:srgbClr val="F5F5F5"/>
            </a:solidFill>
            <a:prstDash val="solid"/>
          </a:ln>
        </p:spPr>
      </p:sp>
      <p:sp>
        <p:nvSpPr>
          <p:cNvPr id="17" name="Text 13"/>
          <p:cNvSpPr txBox="1"/>
          <p:nvPr/>
        </p:nvSpPr>
        <p:spPr>
          <a:xfrm>
            <a:off x="5577840" y="23774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Einmal registrieren, dann Anmeldung in zwei Klicks und Angebot in wenigen Minuten angelegt.</a:t>
            </a:r>
            <a:endParaRPr lang="en-US" sz="1400" dirty="0"/>
          </a:p>
        </p:txBody>
      </p:sp>
      <p:sp>
        <p:nvSpPr>
          <p:cNvPr id="18" name="Shape 14"/>
          <p:cNvSpPr/>
          <p:nvPr/>
        </p:nvSpPr>
        <p:spPr>
          <a:xfrm>
            <a:off x="530352" y="3364992"/>
            <a:ext cx="594360" cy="594360"/>
          </a:xfrm>
          <a:prstGeom prst="ellipse">
            <a:avLst/>
          </a:prstGeom>
          <a:solidFill>
            <a:srgbClr val="001957"/>
          </a:solidFill>
          <a:ln w="12700">
            <a:solidFill>
              <a:srgbClr val="001957"/>
            </a:solidFill>
            <a:prstDash val="solid"/>
          </a:ln>
        </p:spPr>
      </p:sp>
      <p:sp>
        <p:nvSpPr>
          <p:cNvPr id="19" name="Text 15"/>
          <p:cNvSpPr txBox="1"/>
          <p:nvPr/>
        </p:nvSpPr>
        <p:spPr>
          <a:xfrm>
            <a:off x="530352" y="33649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0" name="Text 16"/>
          <p:cNvSpPr txBox="1"/>
          <p:nvPr/>
        </p:nvSpPr>
        <p:spPr>
          <a:xfrm>
            <a:off x="1371600" y="33375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Sichtbare Vorbilder</a:t>
            </a:r>
            <a:endParaRPr lang="en-US" sz="1800" dirty="0"/>
          </a:p>
        </p:txBody>
      </p:sp>
      <p:sp>
        <p:nvSpPr>
          <p:cNvPr id="21" name="Shape 17"/>
          <p:cNvSpPr/>
          <p:nvPr/>
        </p:nvSpPr>
        <p:spPr>
          <a:xfrm>
            <a:off x="5394960" y="3291840"/>
            <a:ext cx="6291072" cy="749808"/>
          </a:xfrm>
          <a:prstGeom prst="rect">
            <a:avLst/>
          </a:prstGeom>
          <a:solidFill>
            <a:srgbClr val="F5F5F5"/>
          </a:solidFill>
          <a:ln w="12700">
            <a:solidFill>
              <a:srgbClr val="F5F5F5"/>
            </a:solidFill>
            <a:prstDash val="solid"/>
          </a:ln>
        </p:spPr>
      </p:sp>
      <p:sp>
        <p:nvSpPr>
          <p:cNvPr id="22" name="Text 18"/>
          <p:cNvSpPr txBox="1"/>
          <p:nvPr/>
        </p:nvSpPr>
        <p:spPr>
          <a:xfrm>
            <a:off x="5577840" y="32918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Führungskräfte und Fachleute bieten die ersten Termine an und zeigen, wie es geht.</a:t>
            </a:r>
            <a:endParaRPr lang="en-US" sz="1400" dirty="0"/>
          </a:p>
        </p:txBody>
      </p:sp>
      <p:sp>
        <p:nvSpPr>
          <p:cNvPr id="23" name="Shape 19"/>
          <p:cNvSpPr/>
          <p:nvPr/>
        </p:nvSpPr>
        <p:spPr>
          <a:xfrm>
            <a:off x="530352" y="4279392"/>
            <a:ext cx="594360" cy="594360"/>
          </a:xfrm>
          <a:prstGeom prst="ellipse">
            <a:avLst/>
          </a:prstGeom>
          <a:solidFill>
            <a:srgbClr val="001957"/>
          </a:solidFill>
          <a:ln w="12700">
            <a:solidFill>
              <a:srgbClr val="001957"/>
            </a:solidFill>
            <a:prstDash val="solid"/>
          </a:ln>
        </p:spPr>
      </p:sp>
      <p:sp>
        <p:nvSpPr>
          <p:cNvPr id="24" name="Text 20"/>
          <p:cNvSpPr txBox="1"/>
          <p:nvPr/>
        </p:nvSpPr>
        <p:spPr>
          <a:xfrm>
            <a:off x="530352" y="42793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5" name="Text 21"/>
          <p:cNvSpPr txBox="1"/>
          <p:nvPr/>
        </p:nvSpPr>
        <p:spPr>
          <a:xfrm>
            <a:off x="1371600" y="42519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Wenig Technik</a:t>
            </a:r>
            <a:endParaRPr lang="en-US" sz="1800" dirty="0"/>
          </a:p>
        </p:txBody>
      </p:sp>
      <p:sp>
        <p:nvSpPr>
          <p:cNvPr id="26" name="Shape 22"/>
          <p:cNvSpPr/>
          <p:nvPr/>
        </p:nvSpPr>
        <p:spPr>
          <a:xfrm>
            <a:off x="5394960" y="4206240"/>
            <a:ext cx="6291072" cy="749808"/>
          </a:xfrm>
          <a:prstGeom prst="rect">
            <a:avLst/>
          </a:prstGeom>
          <a:solidFill>
            <a:srgbClr val="F5F5F5"/>
          </a:solidFill>
          <a:ln w="12700">
            <a:solidFill>
              <a:srgbClr val="F5F5F5"/>
            </a:solidFill>
            <a:prstDash val="solid"/>
          </a:ln>
        </p:spPr>
      </p:sp>
      <p:sp>
        <p:nvSpPr>
          <p:cNvPr id="27" name="Text 23"/>
          <p:cNvSpPr txBox="1"/>
          <p:nvPr/>
        </p:nvSpPr>
        <p:spPr>
          <a:xfrm>
            <a:off x="5577840" y="42062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Eine schlanke Web-App und Teams. Keine neue Lernplattform, kein Schulungsaufwand.</a:t>
            </a:r>
            <a:endParaRPr lang="en-US" sz="1400" dirty="0"/>
          </a:p>
        </p:txBody>
      </p:sp>
      <p:sp>
        <p:nvSpPr>
          <p:cNvPr id="28" name="Shape 24"/>
          <p:cNvSpPr/>
          <p:nvPr/>
        </p:nvSpPr>
        <p:spPr>
          <a:xfrm>
            <a:off x="530352" y="5193792"/>
            <a:ext cx="594360" cy="594360"/>
          </a:xfrm>
          <a:prstGeom prst="ellipse">
            <a:avLst/>
          </a:prstGeom>
          <a:solidFill>
            <a:srgbClr val="001957"/>
          </a:solidFill>
          <a:ln w="12700">
            <a:solidFill>
              <a:srgbClr val="001957"/>
            </a:solidFill>
            <a:prstDash val="solid"/>
          </a:ln>
        </p:spPr>
      </p:sp>
      <p:sp>
        <p:nvSpPr>
          <p:cNvPr id="29" name="Text 25"/>
          <p:cNvSpPr txBox="1"/>
          <p:nvPr/>
        </p:nvSpPr>
        <p:spPr>
          <a:xfrm>
            <a:off x="530352" y="51937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0" name="Text 26"/>
          <p:cNvSpPr txBox="1"/>
          <p:nvPr/>
        </p:nvSpPr>
        <p:spPr>
          <a:xfrm>
            <a:off x="1371600" y="51663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Rahmen von zentral</a:t>
            </a:r>
            <a:endParaRPr lang="en-US" sz="1800" dirty="0"/>
          </a:p>
        </p:txBody>
      </p:sp>
      <p:sp>
        <p:nvSpPr>
          <p:cNvPr id="31" name="Shape 27"/>
          <p:cNvSpPr/>
          <p:nvPr/>
        </p:nvSpPr>
        <p:spPr>
          <a:xfrm>
            <a:off x="5394960" y="5120640"/>
            <a:ext cx="6291072" cy="749808"/>
          </a:xfrm>
          <a:prstGeom prst="rect">
            <a:avLst/>
          </a:prstGeom>
          <a:solidFill>
            <a:srgbClr val="F5F5F5"/>
          </a:solidFill>
          <a:ln w="12700">
            <a:solidFill>
              <a:srgbClr val="F5F5F5"/>
            </a:solidFill>
            <a:prstDash val="solid"/>
          </a:ln>
        </p:spPr>
      </p:sp>
      <p:sp>
        <p:nvSpPr>
          <p:cNvPr id="32" name="Text 28"/>
          <p:cNvSpPr txBox="1"/>
          <p:nvPr/>
        </p:nvSpPr>
        <p:spPr>
          <a:xfrm>
            <a:off x="5577840" y="51206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Training &amp; Entwicklung Vertrieb pflegt Themen, Regeln und Qualität. Die Inhalte kommen aus dem Außendienst.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Unsere Idee: LearnTogether@AD</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Eine Bühne für das Wissen im Außendienst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1155680" cy="1371600"/>
          </a:xfrm>
          <a:prstGeom prst="rect">
            <a:avLst/>
          </a:prstGeom>
          <a:solidFill>
            <a:srgbClr val="001957"/>
          </a:solidFill>
          <a:ln w="12700">
            <a:solidFill>
              <a:srgbClr val="001957"/>
            </a:solidFill>
            <a:prstDash val="solid"/>
          </a:ln>
        </p:spPr>
      </p:sp>
      <p:sp>
        <p:nvSpPr>
          <p:cNvPr id="9" name="Text 5"/>
          <p:cNvSpPr txBox="1"/>
          <p:nvPr/>
        </p:nvSpPr>
        <p:spPr>
          <a:xfrm>
            <a:off x="868680" y="1554480"/>
            <a:ext cx="10515600" cy="12801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Wissen teilen, voneinander lernen, einander besser kennenlernen. Im Außendienst und mit allen, die mitmachen möchten.</a:t>
            </a:r>
            <a:endParaRPr lang="en-US" sz="2400" dirty="0"/>
          </a:p>
        </p:txBody>
      </p:sp>
      <p:sp>
        <p:nvSpPr>
          <p:cNvPr id="10" name="Shape 6"/>
          <p:cNvSpPr/>
          <p:nvPr/>
        </p:nvSpPr>
        <p:spPr>
          <a:xfrm>
            <a:off x="530352" y="3154680"/>
            <a:ext cx="3566160" cy="2926080"/>
          </a:xfrm>
          <a:prstGeom prst="rect">
            <a:avLst/>
          </a:prstGeom>
          <a:solidFill>
            <a:srgbClr val="F5F5F5"/>
          </a:solidFill>
          <a:ln w="12700">
            <a:solidFill>
              <a:srgbClr val="F5F5F5"/>
            </a:solidFill>
            <a:prstDash val="solid"/>
          </a:ln>
        </p:spPr>
      </p:sp>
      <p:pic>
        <p:nvPicPr>
          <p:cNvPr id="11" name="Image 1" descr="/tmp/deck/ic/people_m.png">    </p:cNvPr>
          <p:cNvPicPr>
            <a:picLocks noChangeAspect="1"/>
          </p:cNvPicPr>
          <p:nvPr/>
        </p:nvPicPr>
        <p:blipFill>
          <a:blip r:embed="rId2"/>
          <a:stretch>
            <a:fillRect/>
          </a:stretch>
        </p:blipFill>
        <p:spPr>
          <a:xfrm>
            <a:off x="804672" y="3429000"/>
            <a:ext cx="731520" cy="731520"/>
          </a:xfrm>
          <a:prstGeom prst="rect">
            <a:avLst/>
          </a:prstGeom>
        </p:spPr>
      </p:pic>
      <p:sp>
        <p:nvSpPr>
          <p:cNvPr id="12" name="Text 7"/>
          <p:cNvSpPr txBox="1"/>
          <p:nvPr/>
        </p:nvSpPr>
        <p:spPr>
          <a:xfrm>
            <a:off x="80467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Von uns für uns</a:t>
            </a:r>
            <a:endParaRPr lang="en-US" sz="2000" dirty="0"/>
          </a:p>
        </p:txBody>
      </p:sp>
      <p:sp>
        <p:nvSpPr>
          <p:cNvPr id="13" name="Text 8"/>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Kolleginnen und Kollegen bieten an, was sie wissen oder können. Die Administration gibt den Rahmen.</a:t>
            </a:r>
            <a:endParaRPr lang="en-US" sz="1400" dirty="0"/>
          </a:p>
        </p:txBody>
      </p:sp>
      <p:sp>
        <p:nvSpPr>
          <p:cNvPr id="14" name="Shape 9"/>
          <p:cNvSpPr/>
          <p:nvPr/>
        </p:nvSpPr>
        <p:spPr>
          <a:xfrm>
            <a:off x="4325112" y="3154680"/>
            <a:ext cx="3566160" cy="2926080"/>
          </a:xfrm>
          <a:prstGeom prst="rect">
            <a:avLst/>
          </a:prstGeom>
          <a:solidFill>
            <a:srgbClr val="F5F5F5"/>
          </a:solidFill>
          <a:ln w="12700">
            <a:solidFill>
              <a:srgbClr val="F5F5F5"/>
            </a:solidFill>
            <a:prstDash val="solid"/>
          </a:ln>
        </p:spPr>
      </p:sp>
      <p:pic>
        <p:nvPicPr>
          <p:cNvPr id="15" name="Image 2" descr="/tmp/deck/ic/video_m.png">    </p:cNvPr>
          <p:cNvPicPr>
            <a:picLocks noChangeAspect="1"/>
          </p:cNvPicPr>
          <p:nvPr/>
        </p:nvPicPr>
        <p:blipFill>
          <a:blip r:embed="rId3"/>
          <a:stretch>
            <a:fillRect/>
          </a:stretch>
        </p:blipFill>
        <p:spPr>
          <a:xfrm>
            <a:off x="4599432" y="3429000"/>
            <a:ext cx="731520" cy="731520"/>
          </a:xfrm>
          <a:prstGeom prst="rect">
            <a:avLst/>
          </a:prstGeom>
        </p:spPr>
      </p:pic>
      <p:sp>
        <p:nvSpPr>
          <p:cNvPr id="16" name="Text 10"/>
          <p:cNvSpPr txBox="1"/>
          <p:nvPr/>
        </p:nvSpPr>
        <p:spPr>
          <a:xfrm>
            <a:off x="459943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Kurz und online</a:t>
            </a:r>
            <a:endParaRPr lang="en-US" sz="2000" dirty="0"/>
          </a:p>
        </p:txBody>
      </p:sp>
      <p:sp>
        <p:nvSpPr>
          <p:cNvPr id="17" name="Text 11"/>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dauern 15 bis 120 Minuten und finden in Microsoft Teams statt. Am Morgen oder am Abend.</a:t>
            </a:r>
            <a:endParaRPr lang="en-US" sz="1400" dirty="0"/>
          </a:p>
        </p:txBody>
      </p:sp>
      <p:sp>
        <p:nvSpPr>
          <p:cNvPr id="18" name="Shape 12"/>
          <p:cNvSpPr/>
          <p:nvPr/>
        </p:nvSpPr>
        <p:spPr>
          <a:xfrm>
            <a:off x="8119872" y="3154680"/>
            <a:ext cx="3566160" cy="2926080"/>
          </a:xfrm>
          <a:prstGeom prst="rect">
            <a:avLst/>
          </a:prstGeom>
          <a:solidFill>
            <a:srgbClr val="F5F5F5"/>
          </a:solidFill>
          <a:ln w="12700">
            <a:solidFill>
              <a:srgbClr val="F5F5F5"/>
            </a:solidFill>
            <a:prstDash val="solid"/>
          </a:ln>
        </p:spPr>
      </p:sp>
      <p:pic>
        <p:nvPicPr>
          <p:cNvPr id="19" name="Image 3" descr="/tmp/deck/ic/heart_m.png">    </p:cNvPr>
          <p:cNvPicPr>
            <a:picLocks noChangeAspect="1"/>
          </p:cNvPicPr>
          <p:nvPr/>
        </p:nvPicPr>
        <p:blipFill>
          <a:blip r:embed="rId4"/>
          <a:stretch>
            <a:fillRect/>
          </a:stretch>
        </p:blipFill>
        <p:spPr>
          <a:xfrm>
            <a:off x="8394192" y="3429000"/>
            <a:ext cx="731520" cy="731520"/>
          </a:xfrm>
          <a:prstGeom prst="rect">
            <a:avLst/>
          </a:prstGeom>
        </p:spPr>
      </p:pic>
      <p:sp>
        <p:nvSpPr>
          <p:cNvPr id="20" name="Text 13"/>
          <p:cNvSpPr txBox="1"/>
          <p:nvPr/>
        </p:nvSpPr>
        <p:spPr>
          <a:xfrm>
            <a:off x="839419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Dienstlich und privat</a:t>
            </a:r>
            <a:endParaRPr lang="en-US" sz="2000" dirty="0"/>
          </a:p>
        </p:txBody>
      </p:sp>
      <p:sp>
        <p:nvSpPr>
          <p:cNvPr id="21" name="Text 14"/>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Fachwissen und Vertrieb stehen neben Sport, Reisen, Essen und Freizeit. Dienstlich kann als Arbeitszeit zählen, privat nicht.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So funktioniert es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mit eigenem 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737360"/>
            <a:ext cx="2606040" cy="3931920"/>
          </a:xfrm>
          <a:prstGeom prst="rect">
            <a:avLst/>
          </a:prstGeom>
          <a:solidFill>
            <a:srgbClr val="F5F5F5"/>
          </a:solidFill>
          <a:ln w="12700">
            <a:solidFill>
              <a:srgbClr val="F5F5F5"/>
            </a:solidFill>
            <a:prstDash val="solid"/>
          </a:ln>
        </p:spPr>
      </p:sp>
      <p:pic>
        <p:nvPicPr>
          <p:cNvPr id="9" name="Image 1" descr="/tmp/deck/ic/search_m.png">    </p:cNvPr>
          <p:cNvPicPr>
            <a:picLocks noChangeAspect="1"/>
          </p:cNvPicPr>
          <p:nvPr/>
        </p:nvPicPr>
        <p:blipFill>
          <a:blip r:embed="rId2"/>
          <a:stretch>
            <a:fillRect/>
          </a:stretch>
        </p:blipFill>
        <p:spPr>
          <a:xfrm>
            <a:off x="804672" y="2011680"/>
            <a:ext cx="822960" cy="822960"/>
          </a:xfrm>
          <a:prstGeom prst="rect">
            <a:avLst/>
          </a:prstGeom>
        </p:spPr>
      </p:pic>
      <p:sp>
        <p:nvSpPr>
          <p:cNvPr id="10" name="Text 5"/>
          <p:cNvSpPr txBox="1"/>
          <p:nvPr/>
        </p:nvSpPr>
        <p:spPr>
          <a:xfrm>
            <a:off x="80467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1</a:t>
            </a:r>
            <a:endParaRPr lang="en-US" sz="1200" dirty="0"/>
          </a:p>
        </p:txBody>
      </p:sp>
      <p:sp>
        <p:nvSpPr>
          <p:cNvPr id="11" name="Text 6"/>
          <p:cNvSpPr txBox="1"/>
          <p:nvPr/>
        </p:nvSpPr>
        <p:spPr>
          <a:xfrm>
            <a:off x="80467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Entdecken</a:t>
            </a:r>
            <a:endParaRPr lang="en-US" sz="2200" dirty="0"/>
          </a:p>
        </p:txBody>
      </p:sp>
      <p:sp>
        <p:nvSpPr>
          <p:cNvPr id="12" name="Text 7"/>
          <p:cNvSpPr txBox="1"/>
          <p:nvPr/>
        </p:nvSpPr>
        <p:spPr>
          <a:xfrm>
            <a:off x="80467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Im Katalog nach Thema, Art, Dauer oder Tageszeit suchen.</a:t>
            </a:r>
            <a:endParaRPr lang="en-US" sz="1400" dirty="0"/>
          </a:p>
        </p:txBody>
      </p:sp>
      <p:pic>
        <p:nvPicPr>
          <p:cNvPr id="13" name="Image 2" descr="/tmp/deck/ic/arrow_p.png">    </p:cNvPr>
          <p:cNvPicPr>
            <a:picLocks noChangeAspect="1"/>
          </p:cNvPicPr>
          <p:nvPr/>
        </p:nvPicPr>
        <p:blipFill>
          <a:blip r:embed="rId3"/>
          <a:stretch>
            <a:fillRect/>
          </a:stretch>
        </p:blipFill>
        <p:spPr>
          <a:xfrm>
            <a:off x="3163824" y="3520440"/>
            <a:ext cx="201168" cy="201168"/>
          </a:xfrm>
          <a:prstGeom prst="rect">
            <a:avLst/>
          </a:prstGeom>
        </p:spPr>
      </p:pic>
      <p:sp>
        <p:nvSpPr>
          <p:cNvPr id="14" name="Shape 8"/>
          <p:cNvSpPr/>
          <p:nvPr/>
        </p:nvSpPr>
        <p:spPr>
          <a:xfrm>
            <a:off x="3364992" y="1737360"/>
            <a:ext cx="2606040" cy="3931920"/>
          </a:xfrm>
          <a:prstGeom prst="rect">
            <a:avLst/>
          </a:prstGeom>
          <a:solidFill>
            <a:srgbClr val="F5F5F5"/>
          </a:solidFill>
          <a:ln w="12700">
            <a:solidFill>
              <a:srgbClr val="F5F5F5"/>
            </a:solidFill>
            <a:prstDash val="solid"/>
          </a:ln>
        </p:spPr>
      </p:sp>
      <p:pic>
        <p:nvPicPr>
          <p:cNvPr id="15" name="Image 3" descr="/tmp/deck/ic/cal_m.png">    </p:cNvPr>
          <p:cNvPicPr>
            <a:picLocks noChangeAspect="1"/>
          </p:cNvPicPr>
          <p:nvPr/>
        </p:nvPicPr>
        <p:blipFill>
          <a:blip r:embed="rId4"/>
          <a:stretch>
            <a:fillRect/>
          </a:stretch>
        </p:blipFill>
        <p:spPr>
          <a:xfrm>
            <a:off x="3639312" y="2011680"/>
            <a:ext cx="822960" cy="822960"/>
          </a:xfrm>
          <a:prstGeom prst="rect">
            <a:avLst/>
          </a:prstGeom>
        </p:spPr>
      </p:pic>
      <p:sp>
        <p:nvSpPr>
          <p:cNvPr id="16" name="Text 9"/>
          <p:cNvSpPr txBox="1"/>
          <p:nvPr/>
        </p:nvSpPr>
        <p:spPr>
          <a:xfrm>
            <a:off x="363931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2</a:t>
            </a:r>
            <a:endParaRPr lang="en-US" sz="1200" dirty="0"/>
          </a:p>
        </p:txBody>
      </p:sp>
      <p:sp>
        <p:nvSpPr>
          <p:cNvPr id="17" name="Text 10"/>
          <p:cNvSpPr txBox="1"/>
          <p:nvPr/>
        </p:nvSpPr>
        <p:spPr>
          <a:xfrm>
            <a:off x="363931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Anmelden</a:t>
            </a:r>
            <a:endParaRPr lang="en-US" sz="2200" dirty="0"/>
          </a:p>
        </p:txBody>
      </p:sp>
      <p:sp>
        <p:nvSpPr>
          <p:cNvPr id="18" name="Text 11"/>
          <p:cNvSpPr txBox="1"/>
          <p:nvPr/>
        </p:nvSpPr>
        <p:spPr>
          <a:xfrm>
            <a:off x="363931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Mit dem Konto anmelden. Der Platz ist sofort reserviert.</a:t>
            </a:r>
            <a:endParaRPr lang="en-US" sz="1400" dirty="0"/>
          </a:p>
        </p:txBody>
      </p:sp>
      <p:pic>
        <p:nvPicPr>
          <p:cNvPr id="19" name="Image 4" descr="/tmp/deck/ic/arrow_p.png">    </p:cNvPr>
          <p:cNvPicPr>
            <a:picLocks noChangeAspect="1"/>
          </p:cNvPicPr>
          <p:nvPr/>
        </p:nvPicPr>
        <p:blipFill>
          <a:blip r:embed="rId5"/>
          <a:stretch>
            <a:fillRect/>
          </a:stretch>
        </p:blipFill>
        <p:spPr>
          <a:xfrm>
            <a:off x="5998464" y="3520440"/>
            <a:ext cx="201168" cy="201168"/>
          </a:xfrm>
          <a:prstGeom prst="rect">
            <a:avLst/>
          </a:prstGeom>
        </p:spPr>
      </p:pic>
      <p:sp>
        <p:nvSpPr>
          <p:cNvPr id="20" name="Shape 12"/>
          <p:cNvSpPr/>
          <p:nvPr/>
        </p:nvSpPr>
        <p:spPr>
          <a:xfrm>
            <a:off x="6199632" y="1737360"/>
            <a:ext cx="2606040" cy="3931920"/>
          </a:xfrm>
          <a:prstGeom prst="rect">
            <a:avLst/>
          </a:prstGeom>
          <a:solidFill>
            <a:srgbClr val="F5F5F5"/>
          </a:solidFill>
          <a:ln w="12700">
            <a:solidFill>
              <a:srgbClr val="F5F5F5"/>
            </a:solidFill>
            <a:prstDash val="solid"/>
          </a:ln>
        </p:spPr>
      </p:sp>
      <p:pic>
        <p:nvPicPr>
          <p:cNvPr id="21" name="Image 5" descr="/tmp/deck/ic/video_m.png">    </p:cNvPr>
          <p:cNvPicPr>
            <a:picLocks noChangeAspect="1"/>
          </p:cNvPicPr>
          <p:nvPr/>
        </p:nvPicPr>
        <p:blipFill>
          <a:blip r:embed="rId6"/>
          <a:stretch>
            <a:fillRect/>
          </a:stretch>
        </p:blipFill>
        <p:spPr>
          <a:xfrm>
            <a:off x="6473952" y="2011680"/>
            <a:ext cx="822960" cy="822960"/>
          </a:xfrm>
          <a:prstGeom prst="rect">
            <a:avLst/>
          </a:prstGeom>
        </p:spPr>
      </p:pic>
      <p:sp>
        <p:nvSpPr>
          <p:cNvPr id="22" name="Text 13"/>
          <p:cNvSpPr txBox="1"/>
          <p:nvPr/>
        </p:nvSpPr>
        <p:spPr>
          <a:xfrm>
            <a:off x="647395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3</a:t>
            </a:r>
            <a:endParaRPr lang="en-US" sz="1200" dirty="0"/>
          </a:p>
        </p:txBody>
      </p:sp>
      <p:sp>
        <p:nvSpPr>
          <p:cNvPr id="23" name="Text 14"/>
          <p:cNvSpPr txBox="1"/>
          <p:nvPr/>
        </p:nvSpPr>
        <p:spPr>
          <a:xfrm>
            <a:off x="647395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a:t>
            </a:r>
            <a:endParaRPr lang="en-US" sz="2200" dirty="0"/>
          </a:p>
        </p:txBody>
      </p:sp>
      <p:sp>
        <p:nvSpPr>
          <p:cNvPr id="24" name="Text 15"/>
          <p:cNvSpPr txBox="1"/>
          <p:nvPr/>
        </p:nvSpPr>
        <p:spPr>
          <a:xfrm>
            <a:off x="647395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 in den Kalender übernehmen, über den Teams-Link beitreten und danach bewerten.</a:t>
            </a:r>
            <a:endParaRPr lang="en-US" sz="1400" dirty="0"/>
          </a:p>
        </p:txBody>
      </p:sp>
      <p:pic>
        <p:nvPicPr>
          <p:cNvPr id="25" name="Image 6" descr="/tmp/deck/ic/arrow_p.png">    </p:cNvPr>
          <p:cNvPicPr>
            <a:picLocks noChangeAspect="1"/>
          </p:cNvPicPr>
          <p:nvPr/>
        </p:nvPicPr>
        <p:blipFill>
          <a:blip r:embed="rId7"/>
          <a:stretch>
            <a:fillRect/>
          </a:stretch>
        </p:blipFill>
        <p:spPr>
          <a:xfrm>
            <a:off x="8833104" y="3520440"/>
            <a:ext cx="201168" cy="201168"/>
          </a:xfrm>
          <a:prstGeom prst="rect">
            <a:avLst/>
          </a:prstGeom>
        </p:spPr>
      </p:pic>
      <p:sp>
        <p:nvSpPr>
          <p:cNvPr id="26" name="Shape 16"/>
          <p:cNvSpPr/>
          <p:nvPr/>
        </p:nvSpPr>
        <p:spPr>
          <a:xfrm>
            <a:off x="9034272" y="1737360"/>
            <a:ext cx="2606040" cy="3931920"/>
          </a:xfrm>
          <a:prstGeom prst="rect">
            <a:avLst/>
          </a:prstGeom>
          <a:solidFill>
            <a:srgbClr val="F5F5F5"/>
          </a:solidFill>
          <a:ln w="12700">
            <a:solidFill>
              <a:srgbClr val="F5F5F5"/>
            </a:solidFill>
            <a:prstDash val="solid"/>
          </a:ln>
        </p:spPr>
      </p:sp>
      <p:pic>
        <p:nvPicPr>
          <p:cNvPr id="27" name="Image 7" descr="/tmp/deck/ic/pencil_m.png">    </p:cNvPr>
          <p:cNvPicPr>
            <a:picLocks noChangeAspect="1"/>
          </p:cNvPicPr>
          <p:nvPr/>
        </p:nvPicPr>
        <p:blipFill>
          <a:blip r:embed="rId8"/>
          <a:stretch>
            <a:fillRect/>
          </a:stretch>
        </p:blipFill>
        <p:spPr>
          <a:xfrm>
            <a:off x="9308592" y="2011680"/>
            <a:ext cx="822960" cy="822960"/>
          </a:xfrm>
          <a:prstGeom prst="rect">
            <a:avLst/>
          </a:prstGeom>
        </p:spPr>
      </p:pic>
      <p:sp>
        <p:nvSpPr>
          <p:cNvPr id="28" name="Text 17"/>
          <p:cNvSpPr txBox="1"/>
          <p:nvPr/>
        </p:nvSpPr>
        <p:spPr>
          <a:xfrm>
            <a:off x="930859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4</a:t>
            </a:r>
            <a:endParaRPr lang="en-US" sz="1200" dirty="0"/>
          </a:p>
        </p:txBody>
      </p:sp>
      <p:sp>
        <p:nvSpPr>
          <p:cNvPr id="29" name="Text 18"/>
          <p:cNvSpPr txBox="1"/>
          <p:nvPr/>
        </p:nvSpPr>
        <p:spPr>
          <a:xfrm>
            <a:off x="930859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a:t>
            </a:r>
            <a:endParaRPr lang="en-US" sz="2200" dirty="0"/>
          </a:p>
        </p:txBody>
      </p:sp>
      <p:sp>
        <p:nvSpPr>
          <p:cNvPr id="30" name="Text 19"/>
          <p:cNvSpPr txBox="1"/>
          <p:nvPr/>
        </p:nvSpPr>
        <p:spPr>
          <a:xfrm>
            <a:off x="930859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 einen Termin anlegen. Unter Meine Veranstaltungen siehst Du Teilnehmende und Bewertungen.</a:t>
            </a:r>
            <a:endParaRPr lang="en-US" sz="1400" dirty="0"/>
          </a:p>
        </p:txBody>
      </p:sp>
      <p:sp>
        <p:nvSpPr>
          <p:cNvPr id="31" name="Text 20"/>
          <p:cNvSpPr txBox="1"/>
          <p:nvPr/>
        </p:nvSpPr>
        <p:spPr>
          <a:xfrm>
            <a:off x="530352" y="5806440"/>
            <a:ext cx="11155680" cy="36576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Kein E-Mail-Versand: Teams-Link und Kalenderdatei erscheinen direkt nach der Anmeldung. Absagen erscheinen als Mitteilung.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Teilnehmen: entdecken und anmelden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Zwei Klicks bis zum Platz</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katalog.jpg">    </p:cNvPr>
          <p:cNvPicPr>
            <a:picLocks noChangeAspect="1"/>
          </p:cNvPicPr>
          <p:nvPr/>
        </p:nvPicPr>
        <p:blipFill>
          <a:blip r:embed="rId2"/>
          <a:stretch>
            <a:fillRect/>
          </a:stretch>
        </p:blipFill>
        <p:spPr>
          <a:xfrm>
            <a:off x="530352" y="1463040"/>
            <a:ext cx="5486400" cy="3686175"/>
          </a:xfrm>
          <a:prstGeom prst="rect">
            <a:avLst/>
          </a:prstGeom>
        </p:spPr>
      </p:pic>
      <p:pic>
        <p:nvPicPr>
          <p:cNvPr id="9" name="Image 2" descr="/home/user/ruv_learntogether/src/handbuch/shots/buchung.jpg">    </p:cNvPr>
          <p:cNvPicPr>
            <a:picLocks noChangeAspect="1"/>
          </p:cNvPicPr>
          <p:nvPr/>
        </p:nvPicPr>
        <p:blipFill>
          <a:blip r:embed="rId3"/>
          <a:stretch>
            <a:fillRect/>
          </a:stretch>
        </p:blipFill>
        <p:spPr>
          <a:xfrm>
            <a:off x="6199632" y="1463040"/>
            <a:ext cx="5486400" cy="2481111"/>
          </a:xfrm>
          <a:prstGeom prst="rect">
            <a:avLst/>
          </a:prstGeom>
        </p:spPr>
      </p:pic>
      <p:sp>
        <p:nvSpPr>
          <p:cNvPr id="10" name="Text 4"/>
          <p:cNvSpPr txBox="1"/>
          <p:nvPr/>
        </p:nvSpPr>
        <p:spPr>
          <a:xfrm>
            <a:off x="530352" y="525780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Entdecken wie in einer Mediathek</a:t>
            </a:r>
            <a:endParaRPr lang="en-US" sz="1800" dirty="0"/>
          </a:p>
        </p:txBody>
      </p:sp>
      <p:sp>
        <p:nvSpPr>
          <p:cNvPr id="11" name="Text 5"/>
          <p:cNvSpPr txBox="1"/>
          <p:nvPr/>
        </p:nvSpPr>
        <p:spPr>
          <a:xfrm>
            <a:off x="530352" y="5641848"/>
            <a:ext cx="5486400" cy="5486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Reihen nach Thema, Filter für Art, Dauer und Tageszeit, Chips für fast ausgebuchte Termine.</a:t>
            </a:r>
            <a:endParaRPr lang="en-US" sz="1400" dirty="0"/>
          </a:p>
        </p:txBody>
      </p:sp>
      <p:sp>
        <p:nvSpPr>
          <p:cNvPr id="12" name="Text 6"/>
          <p:cNvSpPr txBox="1"/>
          <p:nvPr/>
        </p:nvSpPr>
        <p:spPr>
          <a:xfrm>
            <a:off x="6199632" y="425196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Anmelden in zwei Klicks</a:t>
            </a:r>
            <a:endParaRPr lang="en-US" sz="1800" dirty="0"/>
          </a:p>
        </p:txBody>
      </p:sp>
      <p:sp>
        <p:nvSpPr>
          <p:cNvPr id="13" name="Text 7"/>
          <p:cNvSpPr txBox="1"/>
          <p:nvPr/>
        </p:nvSpPr>
        <p:spPr>
          <a:xfrm>
            <a:off x="6199632" y="4636008"/>
            <a:ext cx="5486400" cy="10058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Klick genügt. Danach erscheinen Teams-Link und Kalenderdatei. Die Plattform verschickt keine E-Mails.</a:t>
            </a:r>
            <a:endParaRPr lang="en-US" sz="1400" dirty="0"/>
          </a:p>
        </p:txBody>
      </p:sp>
      <p:sp>
        <p:nvSpPr>
          <p:cNvPr id="14" name="Text 8"/>
          <p:cNvSpPr txBox="1"/>
          <p:nvPr/>
        </p:nvSpPr>
        <p:spPr>
          <a:xfrm>
            <a:off x="6199632" y="594360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Abbildungen mit Beispieldaten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Selbst etwas anbieten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Termin ist in wenigen Minuten angelegt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nbiet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 Worum geht es?</a:t>
            </a:r>
            <a:endParaRPr lang="en-US" sz="1600" dirty="0"/>
          </a:p>
        </p:txBody>
      </p:sp>
      <p:sp>
        <p:nvSpPr>
          <p:cNvPr id="10" name="Text 5"/>
          <p:cNvSpPr txBox="1"/>
          <p:nvPr/>
        </p:nvSpPr>
        <p:spPr>
          <a:xfrm>
            <a:off x="7680960" y="18562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Titel, Themenbereich, Thema und Art der Veranstaltung.</a:t>
            </a:r>
            <a:endParaRPr lang="en-US" sz="1250" dirty="0"/>
          </a:p>
        </p:txBody>
      </p:sp>
      <p:sp>
        <p:nvSpPr>
          <p:cNvPr id="11" name="Text 6"/>
          <p:cNvSpPr txBox="1"/>
          <p:nvPr/>
        </p:nvSpPr>
        <p:spPr>
          <a:xfrm>
            <a:off x="7680960" y="24231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2 Wann findet es statt?</a:t>
            </a:r>
            <a:endParaRPr lang="en-US" sz="1600" dirty="0"/>
          </a:p>
        </p:txBody>
      </p:sp>
      <p:sp>
        <p:nvSpPr>
          <p:cNvPr id="12" name="Text 7"/>
          <p:cNvSpPr txBox="1"/>
          <p:nvPr/>
        </p:nvSpPr>
        <p:spPr>
          <a:xfrm>
            <a:off x="7680960" y="27706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Tag, Dauer und Startzeit im erlaubten Zeitfenster.</a:t>
            </a:r>
            <a:endParaRPr lang="en-US" sz="1250" dirty="0"/>
          </a:p>
        </p:txBody>
      </p:sp>
      <p:sp>
        <p:nvSpPr>
          <p:cNvPr id="13" name="Text 8"/>
          <p:cNvSpPr txBox="1"/>
          <p:nvPr/>
        </p:nvSpPr>
        <p:spPr>
          <a:xfrm>
            <a:off x="7680960" y="33375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3 Was wird angeboten?</a:t>
            </a:r>
            <a:endParaRPr lang="en-US" sz="1600" dirty="0"/>
          </a:p>
        </p:txBody>
      </p:sp>
      <p:sp>
        <p:nvSpPr>
          <p:cNvPr id="14" name="Text 9"/>
          <p:cNvSpPr txBox="1"/>
          <p:nvPr/>
        </p:nvSpPr>
        <p:spPr>
          <a:xfrm>
            <a:off x="7680960" y="36850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Beschreibung und ein eigenes Bild oder ein Platzhalterbild.</a:t>
            </a:r>
            <a:endParaRPr lang="en-US" sz="1250" dirty="0"/>
          </a:p>
        </p:txBody>
      </p:sp>
      <p:sp>
        <p:nvSpPr>
          <p:cNvPr id="15" name="Text 10"/>
          <p:cNvSpPr txBox="1"/>
          <p:nvPr/>
        </p:nvSpPr>
        <p:spPr>
          <a:xfrm>
            <a:off x="7680960" y="42519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4 IDD-Weiterbildung</a:t>
            </a:r>
            <a:endParaRPr lang="en-US" sz="1600" dirty="0"/>
          </a:p>
        </p:txBody>
      </p:sp>
      <p:sp>
        <p:nvSpPr>
          <p:cNvPr id="16" name="Text 11"/>
          <p:cNvSpPr txBox="1"/>
          <p:nvPr/>
        </p:nvSpPr>
        <p:spPr>
          <a:xfrm>
            <a:off x="7680960" y="45994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Mit Freischaltung: IDD-Titel, Lerninhalt und Agenda zur Dauer.</a:t>
            </a:r>
            <a:endParaRPr lang="en-US" sz="1250" dirty="0"/>
          </a:p>
        </p:txBody>
      </p:sp>
      <p:sp>
        <p:nvSpPr>
          <p:cNvPr id="17" name="Text 12"/>
          <p:cNvSpPr txBox="1"/>
          <p:nvPr/>
        </p:nvSpPr>
        <p:spPr>
          <a:xfrm>
            <a:off x="7680960" y="51663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5 Teilnahme und Teams-Link</a:t>
            </a:r>
            <a:endParaRPr lang="en-US" sz="1600" dirty="0"/>
          </a:p>
        </p:txBody>
      </p:sp>
      <p:sp>
        <p:nvSpPr>
          <p:cNvPr id="18" name="Text 13"/>
          <p:cNvSpPr txBox="1"/>
          <p:nvPr/>
        </p:nvSpPr>
        <p:spPr>
          <a:xfrm>
            <a:off x="7680960" y="55138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Platzzahl bis 50. Der Link ist nur für Angemeldete sichtbar.</a:t>
            </a:r>
            <a:endParaRPr lang="en-US" sz="1250" dirty="0"/>
          </a:p>
        </p:txBody>
      </p:sp>
      <p:sp>
        <p:nvSpPr>
          <p:cNvPr id="19" name="Text 14"/>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Bilder in der R+V-Bildwelt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Eigenes Foto hochladen oder ein Platzhalterbild wählen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latzhalter.jpg">    </p:cNvPr>
          <p:cNvPicPr>
            <a:picLocks noChangeAspect="1"/>
          </p:cNvPicPr>
          <p:nvPr/>
        </p:nvPicPr>
        <p:blipFill>
          <a:blip r:embed="rId2"/>
          <a:stretch>
            <a:fillRect/>
          </a:stretch>
        </p:blipFill>
        <p:spPr>
          <a:xfrm>
            <a:off x="530352" y="1463040"/>
            <a:ext cx="4572000" cy="4051005"/>
          </a:xfrm>
          <a:prstGeom prst="rect">
            <a:avLst/>
          </a:prstGeom>
        </p:spPr>
      </p:pic>
      <p:sp>
        <p:nvSpPr>
          <p:cNvPr id="9" name="Text 4"/>
          <p:cNvSpPr txBox="1"/>
          <p:nvPr/>
        </p:nvSpPr>
        <p:spPr>
          <a:xfrm>
            <a:off x="5577840" y="150876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Eigenes Bild</a:t>
            </a:r>
            <a:endParaRPr lang="en-US" sz="1800" dirty="0"/>
          </a:p>
        </p:txBody>
      </p:sp>
      <p:sp>
        <p:nvSpPr>
          <p:cNvPr id="10" name="Text 5"/>
          <p:cNvSpPr txBox="1"/>
          <p:nvPr/>
        </p:nvSpPr>
        <p:spPr>
          <a:xfrm>
            <a:off x="5577840" y="189280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Hochladen, Ausschnitt und Zoom wählen, quadratisch gespeichert.</a:t>
            </a:r>
            <a:endParaRPr lang="en-US" sz="1400" dirty="0"/>
          </a:p>
        </p:txBody>
      </p:sp>
      <p:sp>
        <p:nvSpPr>
          <p:cNvPr id="11" name="Text 6"/>
          <p:cNvSpPr txBox="1"/>
          <p:nvPr/>
        </p:nvSpPr>
        <p:spPr>
          <a:xfrm>
            <a:off x="5577840" y="260604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Rund 70 Motive und Fotos</a:t>
            </a:r>
            <a:endParaRPr lang="en-US" sz="1800" dirty="0"/>
          </a:p>
        </p:txBody>
      </p:sp>
      <p:sp>
        <p:nvSpPr>
          <p:cNvPr id="12" name="Text 7"/>
          <p:cNvSpPr txBox="1"/>
          <p:nvPr/>
        </p:nvSpPr>
        <p:spPr>
          <a:xfrm>
            <a:off x="5577840" y="299008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Vom Kundengespräch bis zum Spieleabend, dazu Fotos der Administration, mit Suche.</a:t>
            </a:r>
            <a:endParaRPr lang="en-US" sz="1400" dirty="0"/>
          </a:p>
        </p:txBody>
      </p:sp>
      <p:sp>
        <p:nvSpPr>
          <p:cNvPr id="13" name="Text 8"/>
          <p:cNvSpPr txBox="1"/>
          <p:nvPr/>
        </p:nvSpPr>
        <p:spPr>
          <a:xfrm>
            <a:off x="5577840" y="370332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KI-Label</a:t>
            </a:r>
            <a:endParaRPr lang="en-US" sz="1800" dirty="0"/>
          </a:p>
        </p:txBody>
      </p:sp>
      <p:sp>
        <p:nvSpPr>
          <p:cNvPr id="14" name="Text 9"/>
          <p:cNvSpPr txBox="1"/>
          <p:nvPr/>
        </p:nvSpPr>
        <p:spPr>
          <a:xfrm>
            <a:off x="5577840" y="408736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Jedes Platzhaltermotiv trägt das vorgeschriebene KI-Label der R+V.</a:t>
            </a:r>
            <a:endParaRPr lang="en-US" sz="1400" dirty="0"/>
          </a:p>
        </p:txBody>
      </p:sp>
      <p:sp>
        <p:nvSpPr>
          <p:cNvPr id="15" name="Text 10"/>
          <p:cNvSpPr txBox="1"/>
          <p:nvPr/>
        </p:nvSpPr>
        <p:spPr>
          <a:xfrm>
            <a:off x="5577840" y="480060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Standardmotiv</a:t>
            </a:r>
            <a:endParaRPr lang="en-US" sz="1800" dirty="0"/>
          </a:p>
        </p:txBody>
      </p:sp>
      <p:sp>
        <p:nvSpPr>
          <p:cNvPr id="16" name="Text 11"/>
          <p:cNvSpPr txBox="1"/>
          <p:nvPr/>
        </p:nvSpPr>
        <p:spPr>
          <a:xfrm>
            <a:off x="5577840" y="518464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Ohne Auswahl erscheint automatisch ein Motiv zum Thema.</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Alles im 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Meine Anmeldungen und Meine Veranstaltungen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meine-veranstaltung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Anstehend und Vergangen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Zwei Bereiche statt einer langen Liste.</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Anmeldungen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Teams-Link, Kalenderdatei, Abmelden und Bewertung.</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Ø Bewertung, Bearbeiten und Absage.</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Mitteilungen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Absage und Termin-Update direkt in der App.</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eigene Profil</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Erfolge sichtbar machen, Kontakt ermöglichen, alles freiwillig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rofil-oeffentlich.jpg">    </p:cNvPr>
          <p:cNvPicPr>
            <a:picLocks noChangeAspect="1"/>
          </p:cNvPicPr>
          <p:nvPr/>
        </p:nvPicPr>
        <p:blipFill>
          <a:blip r:embed="rId2"/>
          <a:stretch>
            <a:fillRect/>
          </a:stretch>
        </p:blipFill>
        <p:spPr>
          <a:xfrm>
            <a:off x="530352" y="1463040"/>
            <a:ext cx="5120640" cy="3612379"/>
          </a:xfrm>
          <a:prstGeom prst="rect">
            <a:avLst/>
          </a:prstGeom>
        </p:spPr>
      </p:pic>
      <p:sp>
        <p:nvSpPr>
          <p:cNvPr id="9" name="Text 4"/>
          <p:cNvSpPr txBox="1"/>
          <p:nvPr/>
        </p:nvSpPr>
        <p:spPr>
          <a:xfrm>
            <a:off x="6126480" y="150876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Profil mit Profilbild</a:t>
            </a:r>
            <a:endParaRPr lang="en-US" sz="1800" dirty="0"/>
          </a:p>
        </p:txBody>
      </p:sp>
      <p:sp>
        <p:nvSpPr>
          <p:cNvPr id="10" name="Text 5"/>
          <p:cNvSpPr txBox="1"/>
          <p:nvPr/>
        </p:nvSpPr>
        <p:spPr>
          <a:xfrm>
            <a:off x="6126480" y="189280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Eigenes Foto oder Illustration, fünf Bereiche von Übersicht bis Konto.</a:t>
            </a:r>
            <a:endParaRPr lang="en-US" sz="1400" dirty="0"/>
          </a:p>
        </p:txBody>
      </p:sp>
      <p:sp>
        <p:nvSpPr>
          <p:cNvPr id="11" name="Text 6"/>
          <p:cNvSpPr txBox="1"/>
          <p:nvPr/>
        </p:nvSpPr>
        <p:spPr>
          <a:xfrm>
            <a:off x="6126480" y="260604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Abzeichen und Rakete</a:t>
            </a:r>
            <a:endParaRPr lang="en-US" sz="1800" dirty="0"/>
          </a:p>
        </p:txBody>
      </p:sp>
      <p:sp>
        <p:nvSpPr>
          <p:cNvPr id="12" name="Text 7"/>
          <p:cNvSpPr txBox="1"/>
          <p:nvPr/>
        </p:nvSpPr>
        <p:spPr>
          <a:xfrm>
            <a:off x="6126480" y="299008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Sechs Stufen von Bronze bis Diamant, für andere erst nach Zustimmung sichtbar.</a:t>
            </a:r>
            <a:endParaRPr lang="en-US" sz="1400" dirty="0"/>
          </a:p>
        </p:txBody>
      </p:sp>
      <p:sp>
        <p:nvSpPr>
          <p:cNvPr id="13" name="Text 8"/>
          <p:cNvSpPr txBox="1"/>
          <p:nvPr/>
        </p:nvSpPr>
        <p:spPr>
          <a:xfrm>
            <a:off x="6126480" y="370332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Öffentliches Profil</a:t>
            </a:r>
            <a:endParaRPr lang="en-US" sz="1800" dirty="0"/>
          </a:p>
        </p:txBody>
      </p:sp>
      <p:sp>
        <p:nvSpPr>
          <p:cNvPr id="14" name="Text 9"/>
          <p:cNvSpPr txBox="1"/>
          <p:nvPr/>
        </p:nvSpPr>
        <p:spPr>
          <a:xfrm>
            <a:off x="6126480" y="408736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Freiwillig: Themen, Bio, wahlweise Bewertung, Expertenthemen und E-Mail. Die Startseite erinnert daran.</a:t>
            </a:r>
            <a:endParaRPr lang="en-US" sz="1400" dirty="0"/>
          </a:p>
        </p:txBody>
      </p:sp>
      <p:sp>
        <p:nvSpPr>
          <p:cNvPr id="15" name="Text 10"/>
          <p:cNvSpPr txBox="1"/>
          <p:nvPr/>
        </p:nvSpPr>
        <p:spPr>
          <a:xfrm>
            <a:off x="6126480" y="480060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Direkt buchen</a:t>
            </a:r>
            <a:endParaRPr lang="en-US" sz="1800" dirty="0"/>
          </a:p>
        </p:txBody>
      </p:sp>
      <p:sp>
        <p:nvSpPr>
          <p:cNvPr id="16" name="Text 11"/>
          <p:cNvSpPr txBox="1"/>
          <p:nvPr/>
        </p:nvSpPr>
        <p:spPr>
          <a:xfrm>
            <a:off x="6126480" y="518464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Anstehende Termine im Profil lassen sich mit einem Klick buchen.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Spielregeln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Termine gibt es nur montags bis freitags, morgens oder abends</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2148840"/>
            <a:ext cx="11155680" cy="731520"/>
          </a:xfrm>
          <a:prstGeom prst="rect">
            <a:avLst/>
          </a:prstGeom>
          <a:solidFill>
            <a:srgbClr val="ECECEC"/>
          </a:solidFill>
          <a:ln w="12700">
            <a:solidFill>
              <a:srgbClr val="ECECEC"/>
            </a:solidFill>
            <a:prstDash val="solid"/>
          </a:ln>
        </p:spPr>
      </p:sp>
      <p:sp>
        <p:nvSpPr>
          <p:cNvPr id="9" name="Shape 5"/>
          <p:cNvSpPr/>
          <p:nvPr/>
        </p:nvSpPr>
        <p:spPr>
          <a:xfrm>
            <a:off x="3319272" y="2148840"/>
            <a:ext cx="1394460" cy="731520"/>
          </a:xfrm>
          <a:prstGeom prst="rect">
            <a:avLst/>
          </a:prstGeom>
          <a:solidFill>
            <a:srgbClr val="00DCDC"/>
          </a:solidFill>
          <a:ln w="12700">
            <a:solidFill>
              <a:srgbClr val="00DCDC"/>
            </a:solidFill>
            <a:prstDash val="solid"/>
          </a:ln>
        </p:spPr>
      </p:sp>
      <p:sp>
        <p:nvSpPr>
          <p:cNvPr id="10" name="Text 6"/>
          <p:cNvSpPr txBox="1"/>
          <p:nvPr/>
        </p:nvSpPr>
        <p:spPr>
          <a:xfrm>
            <a:off x="331927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06:00 bis 09:00</a:t>
            </a:r>
            <a:endParaRPr lang="en-US" sz="1400" dirty="0"/>
          </a:p>
        </p:txBody>
      </p:sp>
      <p:sp>
        <p:nvSpPr>
          <p:cNvPr id="11" name="Shape 7"/>
          <p:cNvSpPr/>
          <p:nvPr/>
        </p:nvSpPr>
        <p:spPr>
          <a:xfrm>
            <a:off x="8432292" y="2148840"/>
            <a:ext cx="1394460" cy="731520"/>
          </a:xfrm>
          <a:prstGeom prst="rect">
            <a:avLst/>
          </a:prstGeom>
          <a:solidFill>
            <a:srgbClr val="00DCDC"/>
          </a:solidFill>
          <a:ln w="12700">
            <a:solidFill>
              <a:srgbClr val="00DCDC"/>
            </a:solidFill>
            <a:prstDash val="solid"/>
          </a:ln>
        </p:spPr>
      </p:sp>
      <p:sp>
        <p:nvSpPr>
          <p:cNvPr id="12" name="Text 8"/>
          <p:cNvSpPr txBox="1"/>
          <p:nvPr/>
        </p:nvSpPr>
        <p:spPr>
          <a:xfrm>
            <a:off x="843229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17:00 bis 20:00</a:t>
            </a:r>
            <a:endParaRPr lang="en-US" sz="1400" dirty="0"/>
          </a:p>
        </p:txBody>
      </p:sp>
      <p:sp>
        <p:nvSpPr>
          <p:cNvPr id="13" name="Text 9"/>
          <p:cNvSpPr txBox="1"/>
          <p:nvPr/>
        </p:nvSpPr>
        <p:spPr>
          <a:xfrm>
            <a:off x="530352" y="2953512"/>
            <a:ext cx="731520" cy="274320"/>
          </a:xfrm>
          <a:prstGeom prst="rect">
            <a:avLst/>
          </a:prstGeom>
          <a:noFill/>
          <a:ln/>
        </p:spPr>
        <p:txBody>
          <a:bodyPr wrap="square" lIns="0" tIns="0" rIns="0" bIns="0" rtlCol="0" anchor="t"/>
          <a:lstStyle/>
          <a:p>
            <a:pPr algn="l" indent="0" marL="0">
              <a:buNone/>
            </a:pPr>
            <a:r>
              <a:rPr lang="en-US" sz="1100" dirty="0">
                <a:solidFill>
                  <a:srgbClr val="707070"/>
                </a:solidFill>
                <a:latin typeface="Arial" pitchFamily="34" charset="0"/>
                <a:ea typeface="Arial" pitchFamily="34" charset="-122"/>
                <a:cs typeface="Arial" pitchFamily="34" charset="-120"/>
              </a:rPr>
              <a:t>0 Uhr</a:t>
            </a:r>
            <a:endParaRPr lang="en-US" sz="1100" dirty="0"/>
          </a:p>
        </p:txBody>
      </p:sp>
      <p:sp>
        <p:nvSpPr>
          <p:cNvPr id="14" name="Text 10"/>
          <p:cNvSpPr txBox="1"/>
          <p:nvPr/>
        </p:nvSpPr>
        <p:spPr>
          <a:xfrm>
            <a:off x="295351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6 Uhr</a:t>
            </a:r>
            <a:endParaRPr lang="en-US" sz="1100" dirty="0"/>
          </a:p>
        </p:txBody>
      </p:sp>
      <p:sp>
        <p:nvSpPr>
          <p:cNvPr id="15" name="Text 11"/>
          <p:cNvSpPr txBox="1"/>
          <p:nvPr/>
        </p:nvSpPr>
        <p:spPr>
          <a:xfrm>
            <a:off x="434797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9 Uhr</a:t>
            </a:r>
            <a:endParaRPr lang="en-US" sz="1100" dirty="0"/>
          </a:p>
        </p:txBody>
      </p:sp>
      <p:sp>
        <p:nvSpPr>
          <p:cNvPr id="16" name="Text 12"/>
          <p:cNvSpPr txBox="1"/>
          <p:nvPr/>
        </p:nvSpPr>
        <p:spPr>
          <a:xfrm>
            <a:off x="57424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12 Uhr</a:t>
            </a:r>
            <a:endParaRPr lang="en-US" sz="1100" dirty="0"/>
          </a:p>
        </p:txBody>
      </p:sp>
      <p:sp>
        <p:nvSpPr>
          <p:cNvPr id="17" name="Text 13"/>
          <p:cNvSpPr txBox="1"/>
          <p:nvPr/>
        </p:nvSpPr>
        <p:spPr>
          <a:xfrm>
            <a:off x="80665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17 Uhr</a:t>
            </a:r>
            <a:endParaRPr lang="en-US" sz="1100" dirty="0"/>
          </a:p>
        </p:txBody>
      </p:sp>
      <p:sp>
        <p:nvSpPr>
          <p:cNvPr id="18" name="Text 14"/>
          <p:cNvSpPr txBox="1"/>
          <p:nvPr/>
        </p:nvSpPr>
        <p:spPr>
          <a:xfrm>
            <a:off x="946099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20 Uhr</a:t>
            </a:r>
            <a:endParaRPr lang="en-US" sz="1100" dirty="0"/>
          </a:p>
        </p:txBody>
      </p:sp>
      <p:sp>
        <p:nvSpPr>
          <p:cNvPr id="19" name="Text 15"/>
          <p:cNvSpPr txBox="1"/>
          <p:nvPr/>
        </p:nvSpPr>
        <p:spPr>
          <a:xfrm>
            <a:off x="10954512" y="2953512"/>
            <a:ext cx="731520" cy="274320"/>
          </a:xfrm>
          <a:prstGeom prst="rect">
            <a:avLst/>
          </a:prstGeom>
          <a:noFill/>
          <a:ln/>
        </p:spPr>
        <p:txBody>
          <a:bodyPr wrap="square" lIns="0" tIns="0" rIns="0" bIns="0" rtlCol="0" anchor="t"/>
          <a:lstStyle/>
          <a:p>
            <a:pPr algn="r" indent="0" marL="0">
              <a:buNone/>
            </a:pPr>
            <a:r>
              <a:rPr lang="en-US" sz="1100" dirty="0">
                <a:solidFill>
                  <a:srgbClr val="707070"/>
                </a:solidFill>
                <a:latin typeface="Arial" pitchFamily="34" charset="0"/>
                <a:ea typeface="Arial" pitchFamily="34" charset="-122"/>
                <a:cs typeface="Arial" pitchFamily="34" charset="-120"/>
              </a:rPr>
              <a:t>24 Uhr</a:t>
            </a:r>
            <a:endParaRPr lang="en-US" sz="1100" dirty="0"/>
          </a:p>
        </p:txBody>
      </p:sp>
      <p:sp>
        <p:nvSpPr>
          <p:cNvPr id="20" name="Text 16"/>
          <p:cNvSpPr txBox="1"/>
          <p:nvPr/>
        </p:nvSpPr>
        <p:spPr>
          <a:xfrm>
            <a:off x="530352" y="1554480"/>
            <a:ext cx="1115568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Erlaubte Zeitfenster an Werktagen (Montag bis Freitag)</a:t>
            </a:r>
            <a:endParaRPr lang="en-US" sz="1600" dirty="0"/>
          </a:p>
        </p:txBody>
      </p:sp>
      <p:sp>
        <p:nvSpPr>
          <p:cNvPr id="21" name="Shape 17"/>
          <p:cNvSpPr/>
          <p:nvPr/>
        </p:nvSpPr>
        <p:spPr>
          <a:xfrm>
            <a:off x="530352" y="3749040"/>
            <a:ext cx="2606040" cy="2331720"/>
          </a:xfrm>
          <a:prstGeom prst="rect">
            <a:avLst/>
          </a:prstGeom>
          <a:solidFill>
            <a:srgbClr val="F5F5F5"/>
          </a:solidFill>
          <a:ln w="12700">
            <a:solidFill>
              <a:srgbClr val="F5F5F5"/>
            </a:solidFill>
            <a:prstDash val="solid"/>
          </a:ln>
        </p:spPr>
      </p:sp>
      <p:pic>
        <p:nvPicPr>
          <p:cNvPr id="22" name="Image 1" descr="/tmp/deck/ic/clock_m.png">    </p:cNvPr>
          <p:cNvPicPr>
            <a:picLocks noChangeAspect="1"/>
          </p:cNvPicPr>
          <p:nvPr/>
        </p:nvPicPr>
        <p:blipFill>
          <a:blip r:embed="rId2"/>
          <a:stretch>
            <a:fillRect/>
          </a:stretch>
        </p:blipFill>
        <p:spPr>
          <a:xfrm>
            <a:off x="758952" y="3931920"/>
            <a:ext cx="594360" cy="594360"/>
          </a:xfrm>
          <a:prstGeom prst="rect">
            <a:avLst/>
          </a:prstGeom>
        </p:spPr>
      </p:pic>
      <p:sp>
        <p:nvSpPr>
          <p:cNvPr id="23" name="Text 18"/>
          <p:cNvSpPr txBox="1"/>
          <p:nvPr/>
        </p:nvSpPr>
        <p:spPr>
          <a:xfrm>
            <a:off x="75895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15 bis 120 Minuten</a:t>
            </a:r>
            <a:endParaRPr lang="en-US" sz="1600" dirty="0"/>
          </a:p>
        </p:txBody>
      </p:sp>
      <p:sp>
        <p:nvSpPr>
          <p:cNvPr id="24" name="Text 19"/>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Dauer in Schritten von 15 Minuten. Der Termin muss im Zeitfenster enden.</a:t>
            </a:r>
            <a:endParaRPr lang="en-US" sz="1200" dirty="0"/>
          </a:p>
        </p:txBody>
      </p:sp>
      <p:sp>
        <p:nvSpPr>
          <p:cNvPr id="25" name="Shape 20"/>
          <p:cNvSpPr/>
          <p:nvPr/>
        </p:nvSpPr>
        <p:spPr>
          <a:xfrm>
            <a:off x="3364992" y="3749040"/>
            <a:ext cx="2606040" cy="2331720"/>
          </a:xfrm>
          <a:prstGeom prst="rect">
            <a:avLst/>
          </a:prstGeom>
          <a:solidFill>
            <a:srgbClr val="F5F5F5"/>
          </a:solidFill>
          <a:ln w="12700">
            <a:solidFill>
              <a:srgbClr val="F5F5F5"/>
            </a:solidFill>
            <a:prstDash val="solid"/>
          </a:ln>
        </p:spPr>
      </p:sp>
      <p:pic>
        <p:nvPicPr>
          <p:cNvPr id="26" name="Image 2" descr="/tmp/deck/ic/people_m.png">    </p:cNvPr>
          <p:cNvPicPr>
            <a:picLocks noChangeAspect="1"/>
          </p:cNvPicPr>
          <p:nvPr/>
        </p:nvPicPr>
        <p:blipFill>
          <a:blip r:embed="rId3"/>
          <a:stretch>
            <a:fillRect/>
          </a:stretch>
        </p:blipFill>
        <p:spPr>
          <a:xfrm>
            <a:off x="3593592" y="3931920"/>
            <a:ext cx="594360" cy="594360"/>
          </a:xfrm>
          <a:prstGeom prst="rect">
            <a:avLst/>
          </a:prstGeom>
        </p:spPr>
      </p:pic>
      <p:sp>
        <p:nvSpPr>
          <p:cNvPr id="27" name="Text 21"/>
          <p:cNvSpPr txBox="1"/>
          <p:nvPr/>
        </p:nvSpPr>
        <p:spPr>
          <a:xfrm>
            <a:off x="359359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Bis zu 50 Personen</a:t>
            </a:r>
            <a:endParaRPr lang="en-US" sz="1600" dirty="0"/>
          </a:p>
        </p:txBody>
      </p:sp>
      <p:sp>
        <p:nvSpPr>
          <p:cNvPr id="28" name="Text 22"/>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Die Platzzahl legt die anbietende Person fest. Ausgebuchte Termine sind gesperrt.</a:t>
            </a:r>
            <a:endParaRPr lang="en-US" sz="1200" dirty="0"/>
          </a:p>
        </p:txBody>
      </p:sp>
      <p:sp>
        <p:nvSpPr>
          <p:cNvPr id="29" name="Shape 23"/>
          <p:cNvSpPr/>
          <p:nvPr/>
        </p:nvSpPr>
        <p:spPr>
          <a:xfrm>
            <a:off x="6199632" y="3749040"/>
            <a:ext cx="2606040" cy="2331720"/>
          </a:xfrm>
          <a:prstGeom prst="rect">
            <a:avLst/>
          </a:prstGeom>
          <a:solidFill>
            <a:srgbClr val="F5F5F5"/>
          </a:solidFill>
          <a:ln w="12700">
            <a:solidFill>
              <a:srgbClr val="F5F5F5"/>
            </a:solidFill>
            <a:prstDash val="solid"/>
          </a:ln>
        </p:spPr>
      </p:sp>
      <p:pic>
        <p:nvPicPr>
          <p:cNvPr id="30" name="Image 3" descr="/tmp/deck/ic/video_m.png">    </p:cNvPr>
          <p:cNvPicPr>
            <a:picLocks noChangeAspect="1"/>
          </p:cNvPicPr>
          <p:nvPr/>
        </p:nvPicPr>
        <p:blipFill>
          <a:blip r:embed="rId4"/>
          <a:stretch>
            <a:fillRect/>
          </a:stretch>
        </p:blipFill>
        <p:spPr>
          <a:xfrm>
            <a:off x="6428232" y="3931920"/>
            <a:ext cx="594360" cy="594360"/>
          </a:xfrm>
          <a:prstGeom prst="rect">
            <a:avLst/>
          </a:prstGeom>
        </p:spPr>
      </p:pic>
      <p:sp>
        <p:nvSpPr>
          <p:cNvPr id="31" name="Text 24"/>
          <p:cNvSpPr txBox="1"/>
          <p:nvPr/>
        </p:nvSpPr>
        <p:spPr>
          <a:xfrm>
            <a:off x="642823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Online in Teams</a:t>
            </a:r>
            <a:endParaRPr lang="en-US" sz="1600" dirty="0"/>
          </a:p>
        </p:txBody>
      </p:sp>
      <p:sp>
        <p:nvSpPr>
          <p:cNvPr id="32" name="Text 25"/>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Alle Termine finden in Microsoft Teams statt.</a:t>
            </a:r>
            <a:endParaRPr lang="en-US" sz="1200" dirty="0"/>
          </a:p>
        </p:txBody>
      </p:sp>
      <p:sp>
        <p:nvSpPr>
          <p:cNvPr id="33" name="Shape 26"/>
          <p:cNvSpPr/>
          <p:nvPr/>
        </p:nvSpPr>
        <p:spPr>
          <a:xfrm>
            <a:off x="9034272" y="3749040"/>
            <a:ext cx="2606040" cy="2331720"/>
          </a:xfrm>
          <a:prstGeom prst="rect">
            <a:avLst/>
          </a:prstGeom>
          <a:solidFill>
            <a:srgbClr val="F5F5F5"/>
          </a:solidFill>
          <a:ln w="12700">
            <a:solidFill>
              <a:srgbClr val="F5F5F5"/>
            </a:solidFill>
            <a:prstDash val="solid"/>
          </a:ln>
        </p:spPr>
      </p:sp>
      <p:pic>
        <p:nvPicPr>
          <p:cNvPr id="34" name="Image 4" descr="/tmp/deck/ic/shield_m.png">    </p:cNvPr>
          <p:cNvPicPr>
            <a:picLocks noChangeAspect="1"/>
          </p:cNvPicPr>
          <p:nvPr/>
        </p:nvPicPr>
        <p:blipFill>
          <a:blip r:embed="rId5"/>
          <a:stretch>
            <a:fillRect/>
          </a:stretch>
        </p:blipFill>
        <p:spPr>
          <a:xfrm>
            <a:off x="9262872" y="3931920"/>
            <a:ext cx="594360" cy="594360"/>
          </a:xfrm>
          <a:prstGeom prst="rect">
            <a:avLst/>
          </a:prstGeom>
        </p:spPr>
      </p:pic>
      <p:sp>
        <p:nvSpPr>
          <p:cNvPr id="35" name="Text 27"/>
          <p:cNvSpPr txBox="1"/>
          <p:nvPr/>
        </p:nvSpPr>
        <p:spPr>
          <a:xfrm>
            <a:off x="926287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Respektvoll und legal</a:t>
            </a:r>
            <a:endParaRPr lang="en-US" sz="1600" dirty="0"/>
          </a:p>
        </p:txBody>
      </p:sp>
      <p:sp>
        <p:nvSpPr>
          <p:cNvPr id="36" name="Text 28"/>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Inhalte müssen legal, respektvoll und jugendfrei sein.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Arbeitszeit: dienstlich ja, privat nein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Wer an dienstlichen Sessions teilnimmt, stempelt sich selbst ein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1965960"/>
          </a:xfrm>
          <a:prstGeom prst="rect">
            <a:avLst/>
          </a:prstGeom>
          <a:solidFill>
            <a:srgbClr val="001957"/>
          </a:solidFill>
          <a:ln w="12700">
            <a:solidFill>
              <a:srgbClr val="001957"/>
            </a:solidFill>
            <a:prstDash val="solid"/>
          </a:ln>
        </p:spPr>
      </p:sp>
      <p:sp>
        <p:nvSpPr>
          <p:cNvPr id="9" name="Text 5"/>
          <p:cNvSpPr txBox="1"/>
          <p:nvPr/>
        </p:nvSpPr>
        <p:spPr>
          <a:xfrm>
            <a:off x="822960" y="1645920"/>
            <a:ext cx="49377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Dienstliche Sessions</a:t>
            </a:r>
            <a:endParaRPr lang="en-US" sz="2000" dirty="0"/>
          </a:p>
        </p:txBody>
      </p:sp>
      <p:sp>
        <p:nvSpPr>
          <p:cNvPr id="10" name="Text 6"/>
          <p:cNvSpPr txBox="1"/>
          <p:nvPr/>
        </p:nvSpPr>
        <p:spPr>
          <a:xfrm>
            <a:off x="822960" y="2103120"/>
            <a:ext cx="4937760" cy="12801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Teilnahme kann als Arbeitszeit angerechnet werden. Das geschieht nicht im Nachgang, sondern über die eigene Zeiterfassung.</a:t>
            </a:r>
            <a:endParaRPr lang="en-US" sz="1600" dirty="0"/>
          </a:p>
        </p:txBody>
      </p:sp>
      <p:sp>
        <p:nvSpPr>
          <p:cNvPr id="11" name="Shape 7"/>
          <p:cNvSpPr/>
          <p:nvPr/>
        </p:nvSpPr>
        <p:spPr>
          <a:xfrm>
            <a:off x="6199632" y="1508760"/>
            <a:ext cx="5486400" cy="1965960"/>
          </a:xfrm>
          <a:prstGeom prst="rect">
            <a:avLst/>
          </a:prstGeom>
          <a:solidFill>
            <a:srgbClr val="F5F5F5"/>
          </a:solidFill>
          <a:ln w="12700">
            <a:solidFill>
              <a:srgbClr val="F5F5F5"/>
            </a:solidFill>
            <a:prstDash val="solid"/>
          </a:ln>
        </p:spPr>
      </p:sp>
      <p:sp>
        <p:nvSpPr>
          <p:cNvPr id="12" name="Text 8"/>
          <p:cNvSpPr txBox="1"/>
          <p:nvPr/>
        </p:nvSpPr>
        <p:spPr>
          <a:xfrm>
            <a:off x="6492240" y="1645920"/>
            <a:ext cx="49377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Private Sessions</a:t>
            </a:r>
            <a:endParaRPr lang="en-US" sz="2000" dirty="0"/>
          </a:p>
        </p:txBody>
      </p:sp>
      <p:sp>
        <p:nvSpPr>
          <p:cNvPr id="13" name="Text 9"/>
          <p:cNvSpPr txBox="1"/>
          <p:nvPr/>
        </p:nvSpPr>
        <p:spPr>
          <a:xfrm>
            <a:off x="6492240" y="2103120"/>
            <a:ext cx="4937760" cy="128016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Teilnahme zählt nicht als Arbeitszeit. Private Sessions finden in der Freizeit statt und bleiben freiwillig.</a:t>
            </a:r>
            <a:endParaRPr lang="en-US" sz="1500" dirty="0"/>
          </a:p>
        </p:txBody>
      </p:sp>
      <p:sp>
        <p:nvSpPr>
          <p:cNvPr id="14" name="Text 10"/>
          <p:cNvSpPr txBox="1"/>
          <p:nvPr/>
        </p:nvSpPr>
        <p:spPr>
          <a:xfrm>
            <a:off x="530352" y="3703320"/>
            <a:ext cx="11155680" cy="365760"/>
          </a:xfrm>
          <a:prstGeom prst="rect">
            <a:avLst/>
          </a:prstGeom>
          <a:noFill/>
          <a:ln/>
        </p:spPr>
        <p:txBody>
          <a:bodyPr wrap="square" lIns="0" tIns="0" rIns="0" bIns="0" rtlCol="0" anchor="t"/>
          <a:lstStyle/>
          <a:p>
            <a:pPr indent="0" marL="0">
              <a:buNone/>
            </a:pPr>
            <a:r>
              <a:rPr lang="en-US" sz="1800" b="1" dirty="0">
                <a:solidFill>
                  <a:srgbClr val="EB6504"/>
                </a:solidFill>
                <a:latin typeface="Arial" pitchFamily="34" charset="0"/>
                <a:ea typeface="Arial" pitchFamily="34" charset="-122"/>
                <a:cs typeface="Arial" pitchFamily="34" charset="-120"/>
              </a:rPr>
              <a:t>So läuft es bei dienstlichen Sessions</a:t>
            </a:r>
            <a:endParaRPr lang="en-US" sz="1800" dirty="0"/>
          </a:p>
        </p:txBody>
      </p:sp>
      <p:sp>
        <p:nvSpPr>
          <p:cNvPr id="15" name="Shape 11"/>
          <p:cNvSpPr/>
          <p:nvPr/>
        </p:nvSpPr>
        <p:spPr>
          <a:xfrm>
            <a:off x="530352" y="4160520"/>
            <a:ext cx="2606040" cy="1920240"/>
          </a:xfrm>
          <a:prstGeom prst="rect">
            <a:avLst/>
          </a:prstGeom>
          <a:solidFill>
            <a:srgbClr val="F5F5F5"/>
          </a:solidFill>
          <a:ln w="12700">
            <a:solidFill>
              <a:srgbClr val="F5F5F5"/>
            </a:solidFill>
            <a:prstDash val="solid"/>
          </a:ln>
        </p:spPr>
      </p:sp>
      <p:pic>
        <p:nvPicPr>
          <p:cNvPr id="16" name="Image 1" descr="/tmp/deck/ic/search_m.png">    </p:cNvPr>
          <p:cNvPicPr>
            <a:picLocks noChangeAspect="1"/>
          </p:cNvPicPr>
          <p:nvPr/>
        </p:nvPicPr>
        <p:blipFill>
          <a:blip r:embed="rId2"/>
          <a:stretch>
            <a:fillRect/>
          </a:stretch>
        </p:blipFill>
        <p:spPr>
          <a:xfrm>
            <a:off x="758952" y="4315968"/>
            <a:ext cx="548640" cy="548640"/>
          </a:xfrm>
          <a:prstGeom prst="rect">
            <a:avLst/>
          </a:prstGeom>
        </p:spPr>
      </p:pic>
      <p:sp>
        <p:nvSpPr>
          <p:cNvPr id="17" name="Text 12"/>
          <p:cNvSpPr txBox="1"/>
          <p:nvPr/>
        </p:nvSpPr>
        <p:spPr>
          <a:xfrm>
            <a:off x="144475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Session wählen</a:t>
            </a:r>
            <a:endParaRPr lang="en-US" sz="1700" dirty="0"/>
          </a:p>
        </p:txBody>
      </p:sp>
      <p:sp>
        <p:nvSpPr>
          <p:cNvPr id="18" name="Text 13"/>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Im Katalog eine dienstliche Session mit dem Chip „Dienstlich“ wählen.</a:t>
            </a:r>
            <a:endParaRPr lang="en-US" sz="1300" dirty="0"/>
          </a:p>
        </p:txBody>
      </p:sp>
      <p:pic>
        <p:nvPicPr>
          <p:cNvPr id="19" name="Image 2" descr="/tmp/deck/ic/arrow_p.png">    </p:cNvPr>
          <p:cNvPicPr>
            <a:picLocks noChangeAspect="1"/>
          </p:cNvPicPr>
          <p:nvPr/>
        </p:nvPicPr>
        <p:blipFill>
          <a:blip r:embed="rId3"/>
          <a:stretch>
            <a:fillRect/>
          </a:stretch>
        </p:blipFill>
        <p:spPr>
          <a:xfrm>
            <a:off x="3163824" y="5029200"/>
            <a:ext cx="201168" cy="201168"/>
          </a:xfrm>
          <a:prstGeom prst="rect">
            <a:avLst/>
          </a:prstGeom>
        </p:spPr>
      </p:pic>
      <p:sp>
        <p:nvSpPr>
          <p:cNvPr id="20" name="Shape 14"/>
          <p:cNvSpPr/>
          <p:nvPr/>
        </p:nvSpPr>
        <p:spPr>
          <a:xfrm>
            <a:off x="3364992" y="4160520"/>
            <a:ext cx="2606040" cy="1920240"/>
          </a:xfrm>
          <a:prstGeom prst="rect">
            <a:avLst/>
          </a:prstGeom>
          <a:solidFill>
            <a:srgbClr val="F5F5F5"/>
          </a:solidFill>
          <a:ln w="12700">
            <a:solidFill>
              <a:srgbClr val="F5F5F5"/>
            </a:solidFill>
            <a:prstDash val="solid"/>
          </a:ln>
        </p:spPr>
      </p:sp>
      <p:pic>
        <p:nvPicPr>
          <p:cNvPr id="21" name="Image 3" descr="/tmp/deck/ic/clock_m.png">    </p:cNvPr>
          <p:cNvPicPr>
            <a:picLocks noChangeAspect="1"/>
          </p:cNvPicPr>
          <p:nvPr/>
        </p:nvPicPr>
        <p:blipFill>
          <a:blip r:embed="rId4"/>
          <a:stretch>
            <a:fillRect/>
          </a:stretch>
        </p:blipFill>
        <p:spPr>
          <a:xfrm>
            <a:off x="3593592" y="4315968"/>
            <a:ext cx="548640" cy="548640"/>
          </a:xfrm>
          <a:prstGeom prst="rect">
            <a:avLst/>
          </a:prstGeom>
        </p:spPr>
      </p:pic>
      <p:sp>
        <p:nvSpPr>
          <p:cNvPr id="22" name="Text 15"/>
          <p:cNvSpPr txBox="1"/>
          <p:nvPr/>
        </p:nvSpPr>
        <p:spPr>
          <a:xfrm>
            <a:off x="427939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Einstechen</a:t>
            </a:r>
            <a:endParaRPr lang="en-US" sz="1700" dirty="0"/>
          </a:p>
        </p:txBody>
      </p:sp>
      <p:sp>
        <p:nvSpPr>
          <p:cNvPr id="23" name="Text 16"/>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Vor Beginn die Zeiterfassung selbst starten.</a:t>
            </a:r>
            <a:endParaRPr lang="en-US" sz="1300" dirty="0"/>
          </a:p>
        </p:txBody>
      </p:sp>
      <p:pic>
        <p:nvPicPr>
          <p:cNvPr id="24" name="Image 4" descr="/tmp/deck/ic/arrow_p.png">    </p:cNvPr>
          <p:cNvPicPr>
            <a:picLocks noChangeAspect="1"/>
          </p:cNvPicPr>
          <p:nvPr/>
        </p:nvPicPr>
        <p:blipFill>
          <a:blip r:embed="rId5"/>
          <a:stretch>
            <a:fillRect/>
          </a:stretch>
        </p:blipFill>
        <p:spPr>
          <a:xfrm>
            <a:off x="5998464" y="5029200"/>
            <a:ext cx="201168" cy="201168"/>
          </a:xfrm>
          <a:prstGeom prst="rect">
            <a:avLst/>
          </a:prstGeom>
        </p:spPr>
      </p:pic>
      <p:sp>
        <p:nvSpPr>
          <p:cNvPr id="25" name="Shape 17"/>
          <p:cNvSpPr/>
          <p:nvPr/>
        </p:nvSpPr>
        <p:spPr>
          <a:xfrm>
            <a:off x="6199632" y="4160520"/>
            <a:ext cx="2606040" cy="1920240"/>
          </a:xfrm>
          <a:prstGeom prst="rect">
            <a:avLst/>
          </a:prstGeom>
          <a:solidFill>
            <a:srgbClr val="F5F5F5"/>
          </a:solidFill>
          <a:ln w="12700">
            <a:solidFill>
              <a:srgbClr val="F5F5F5"/>
            </a:solidFill>
            <a:prstDash val="solid"/>
          </a:ln>
        </p:spPr>
      </p:sp>
      <p:pic>
        <p:nvPicPr>
          <p:cNvPr id="26" name="Image 5" descr="/tmp/deck/ic/video_m.png">    </p:cNvPr>
          <p:cNvPicPr>
            <a:picLocks noChangeAspect="1"/>
          </p:cNvPicPr>
          <p:nvPr/>
        </p:nvPicPr>
        <p:blipFill>
          <a:blip r:embed="rId6"/>
          <a:stretch>
            <a:fillRect/>
          </a:stretch>
        </p:blipFill>
        <p:spPr>
          <a:xfrm>
            <a:off x="6428232" y="4315968"/>
            <a:ext cx="548640" cy="548640"/>
          </a:xfrm>
          <a:prstGeom prst="rect">
            <a:avLst/>
          </a:prstGeom>
        </p:spPr>
      </p:pic>
      <p:sp>
        <p:nvSpPr>
          <p:cNvPr id="27" name="Text 18"/>
          <p:cNvSpPr txBox="1"/>
          <p:nvPr/>
        </p:nvSpPr>
        <p:spPr>
          <a:xfrm>
            <a:off x="711403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Teilnehmen</a:t>
            </a:r>
            <a:endParaRPr lang="en-US" sz="1700" dirty="0"/>
          </a:p>
        </p:txBody>
      </p:sp>
      <p:sp>
        <p:nvSpPr>
          <p:cNvPr id="28" name="Text 19"/>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Über den Teams-Link beitreten und mitlernen.</a:t>
            </a:r>
            <a:endParaRPr lang="en-US" sz="1300" dirty="0"/>
          </a:p>
        </p:txBody>
      </p:sp>
      <p:pic>
        <p:nvPicPr>
          <p:cNvPr id="29" name="Image 6" descr="/tmp/deck/ic/arrow_p.png">    </p:cNvPr>
          <p:cNvPicPr>
            <a:picLocks noChangeAspect="1"/>
          </p:cNvPicPr>
          <p:nvPr/>
        </p:nvPicPr>
        <p:blipFill>
          <a:blip r:embed="rId7"/>
          <a:stretch>
            <a:fillRect/>
          </a:stretch>
        </p:blipFill>
        <p:spPr>
          <a:xfrm>
            <a:off x="8833104" y="5029200"/>
            <a:ext cx="201168" cy="201168"/>
          </a:xfrm>
          <a:prstGeom prst="rect">
            <a:avLst/>
          </a:prstGeom>
        </p:spPr>
      </p:pic>
      <p:sp>
        <p:nvSpPr>
          <p:cNvPr id="30" name="Shape 20"/>
          <p:cNvSpPr/>
          <p:nvPr/>
        </p:nvSpPr>
        <p:spPr>
          <a:xfrm>
            <a:off x="9034272" y="4160520"/>
            <a:ext cx="2606040" cy="1920240"/>
          </a:xfrm>
          <a:prstGeom prst="rect">
            <a:avLst/>
          </a:prstGeom>
          <a:solidFill>
            <a:srgbClr val="F5F5F5"/>
          </a:solidFill>
          <a:ln w="12700">
            <a:solidFill>
              <a:srgbClr val="F5F5F5"/>
            </a:solidFill>
            <a:prstDash val="solid"/>
          </a:ln>
        </p:spPr>
      </p:sp>
      <p:pic>
        <p:nvPicPr>
          <p:cNvPr id="31" name="Image 7" descr="/tmp/deck/ic/check_m.png">    </p:cNvPr>
          <p:cNvPicPr>
            <a:picLocks noChangeAspect="1"/>
          </p:cNvPicPr>
          <p:nvPr/>
        </p:nvPicPr>
        <p:blipFill>
          <a:blip r:embed="rId8"/>
          <a:stretch>
            <a:fillRect/>
          </a:stretch>
        </p:blipFill>
        <p:spPr>
          <a:xfrm>
            <a:off x="9262872" y="4315968"/>
            <a:ext cx="548640" cy="548640"/>
          </a:xfrm>
          <a:prstGeom prst="rect">
            <a:avLst/>
          </a:prstGeom>
        </p:spPr>
      </p:pic>
      <p:sp>
        <p:nvSpPr>
          <p:cNvPr id="32" name="Text 21"/>
          <p:cNvSpPr txBox="1"/>
          <p:nvPr/>
        </p:nvSpPr>
        <p:spPr>
          <a:xfrm>
            <a:off x="994867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Ausstechen</a:t>
            </a:r>
            <a:endParaRPr lang="en-US" sz="1700" dirty="0"/>
          </a:p>
        </p:txBody>
      </p:sp>
      <p:sp>
        <p:nvSpPr>
          <p:cNvPr id="33" name="Text 22"/>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Nach dem Ende die Zeiterfassung selbst beenden.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Zielgruppe und Rollen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im Außendienst, offen für alle, betreut von Training &amp; Entwicklung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Teilnehmende</a:t>
            </a:r>
            <a:endParaRPr lang="en-US" sz="2200" dirty="0"/>
          </a:p>
        </p:txBody>
      </p:sp>
      <p:sp>
        <p:nvSpPr>
          <p:cNvPr id="11" name="Text 6"/>
          <p:cNvSpPr txBox="1"/>
          <p:nvPr/>
        </p:nvSpPr>
        <p:spPr>
          <a:xfrm>
            <a:off x="80467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lernen möchten</a:t>
            </a:r>
            <a:endParaRPr lang="en-US" sz="1400" dirty="0"/>
          </a:p>
        </p:txBody>
      </p:sp>
      <p:sp>
        <p:nvSpPr>
          <p:cNvPr id="12" name="Text 7"/>
          <p:cNvSpPr txBox="1"/>
          <p:nvPr/>
        </p:nvSpPr>
        <p:spPr>
          <a:xfrm>
            <a:off x="80467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Außendienst als Zielgruppe der Kommunikation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Innendienst ist willkommen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Eigenes Konto, Profilbild freiwillig</a:t>
            </a:r>
            <a:endParaRPr lang="en-US" sz="1400" dirty="0"/>
          </a:p>
        </p:txBody>
      </p:sp>
      <p:sp>
        <p:nvSpPr>
          <p:cNvPr id="13" name="Shape 8"/>
          <p:cNvSpPr/>
          <p:nvPr/>
        </p:nvSpPr>
        <p:spPr>
          <a:xfrm>
            <a:off x="4325112" y="1508760"/>
            <a:ext cx="3566160" cy="4572000"/>
          </a:xfrm>
          <a:prstGeom prst="rect">
            <a:avLst/>
          </a:prstGeom>
          <a:solidFill>
            <a:srgbClr val="F5F5F5"/>
          </a:solidFill>
          <a:ln w="12700">
            <a:solidFill>
              <a:srgbClr val="F5F5F5"/>
            </a:solidFill>
            <a:prstDash val="solid"/>
          </a:ln>
        </p:spPr>
      </p:sp>
      <p:pic>
        <p:nvPicPr>
          <p:cNvPr id="14" name="Image 2" descr="/tmp/deck/ic/pencil_m.png">    </p:cNvPr>
          <p:cNvPicPr>
            <a:picLocks noChangeAspect="1"/>
          </p:cNvPicPr>
          <p:nvPr/>
        </p:nvPicPr>
        <p:blipFill>
          <a:blip r:embed="rId3"/>
          <a:stretch>
            <a:fillRect/>
          </a:stretch>
        </p:blipFill>
        <p:spPr>
          <a:xfrm>
            <a:off x="4599432" y="1783080"/>
            <a:ext cx="731520" cy="731520"/>
          </a:xfrm>
          <a:prstGeom prst="rect">
            <a:avLst/>
          </a:prstGeom>
        </p:spPr>
      </p:pic>
      <p:sp>
        <p:nvSpPr>
          <p:cNvPr id="15" name="Text 9"/>
          <p:cNvSpPr txBox="1"/>
          <p:nvPr/>
        </p:nvSpPr>
        <p:spPr>
          <a:xfrm>
            <a:off x="459943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Anbietende</a:t>
            </a:r>
            <a:endParaRPr lang="en-US" sz="2200" dirty="0"/>
          </a:p>
        </p:txBody>
      </p:sp>
      <p:sp>
        <p:nvSpPr>
          <p:cNvPr id="16" name="Text 10"/>
          <p:cNvSpPr txBox="1"/>
          <p:nvPr/>
        </p:nvSpPr>
        <p:spPr>
          <a:xfrm>
            <a:off x="459943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etwas teilen möchten</a:t>
            </a:r>
            <a:endParaRPr lang="en-US" sz="1400" dirty="0"/>
          </a:p>
        </p:txBody>
      </p:sp>
      <p:sp>
        <p:nvSpPr>
          <p:cNvPr id="17" name="Text 11"/>
          <p:cNvSpPr txBox="1"/>
          <p:nvPr/>
        </p:nvSpPr>
        <p:spPr>
          <a:xfrm>
            <a:off x="459943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Fachliche, vertriebliche oder private Themen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 Termine anlegen, bearbeiten und absagen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Teilnehmende, Bewertung, Abzeichen und Expertenstatus</a:t>
            </a:r>
            <a:endParaRPr lang="en-US" sz="1400" dirty="0"/>
          </a:p>
        </p:txBody>
      </p:sp>
      <p:sp>
        <p:nvSpPr>
          <p:cNvPr id="18" name="Shape 12"/>
          <p:cNvSpPr/>
          <p:nvPr/>
        </p:nvSpPr>
        <p:spPr>
          <a:xfrm>
            <a:off x="8119872" y="1508760"/>
            <a:ext cx="3566160" cy="4572000"/>
          </a:xfrm>
          <a:prstGeom prst="rect">
            <a:avLst/>
          </a:prstGeom>
          <a:solidFill>
            <a:srgbClr val="001957"/>
          </a:solidFill>
          <a:ln w="12700">
            <a:solidFill>
              <a:srgbClr val="001957"/>
            </a:solidFill>
            <a:prstDash val="solid"/>
          </a:ln>
        </p:spPr>
      </p:sp>
      <p:pic>
        <p:nvPicPr>
          <p:cNvPr id="19" name="Image 3" descr="/tmp/deck/ic/shield_m.png">    </p:cNvPr>
          <p:cNvPicPr>
            <a:picLocks noChangeAspect="1"/>
          </p:cNvPicPr>
          <p:nvPr/>
        </p:nvPicPr>
        <p:blipFill>
          <a:blip r:embed="rId4"/>
          <a:stretch>
            <a:fillRect/>
          </a:stretch>
        </p:blipFill>
        <p:spPr>
          <a:xfrm>
            <a:off x="8394192" y="1783080"/>
            <a:ext cx="731520" cy="731520"/>
          </a:xfrm>
          <a:prstGeom prst="rect">
            <a:avLst/>
          </a:prstGeom>
        </p:spPr>
      </p:pic>
      <p:sp>
        <p:nvSpPr>
          <p:cNvPr id="20" name="Text 13"/>
          <p:cNvSpPr txBox="1"/>
          <p:nvPr/>
        </p:nvSpPr>
        <p:spPr>
          <a:xfrm>
            <a:off x="8394192" y="269748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Administration</a:t>
            </a:r>
            <a:endParaRPr lang="en-US" sz="2200" dirty="0"/>
          </a:p>
        </p:txBody>
      </p:sp>
      <p:sp>
        <p:nvSpPr>
          <p:cNvPr id="21" name="Text 14"/>
          <p:cNvSpPr txBox="1"/>
          <p:nvPr/>
        </p:nvSpPr>
        <p:spPr>
          <a:xfrm>
            <a:off x="8394192" y="3154680"/>
            <a:ext cx="3017520" cy="64008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sp>
        <p:nvSpPr>
          <p:cNvPr id="22" name="Text 15"/>
          <p:cNvSpPr txBox="1"/>
          <p:nvPr/>
        </p:nvSpPr>
        <p:spPr>
          <a:xfrm>
            <a:off x="839419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Themen, Texte, Fotos und Abzeichen pflegen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Veranstaltungen, Konten und Rechte verwalten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Statistik und Berichte auswerten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Einziger Zugriff auf personenbezogene Daten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Nutzen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Wissen weitergeben, Menschen verbinden, Bindung stärken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den Außendienst</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aus erster Hand von Kolleginnen und Kollegen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Kurze Termine, die in den Alltag passen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Neue Kontakte über Regionen hinweg</a:t>
            </a:r>
            <a:endParaRPr lang="en-US" sz="1500" dirty="0"/>
          </a:p>
        </p:txBody>
      </p:sp>
      <p:sp>
        <p:nvSpPr>
          <p:cNvPr id="12" name="Shape 7"/>
          <p:cNvSpPr/>
          <p:nvPr/>
        </p:nvSpPr>
        <p:spPr>
          <a:xfrm>
            <a:off x="4325112" y="1508760"/>
            <a:ext cx="3566160" cy="4572000"/>
          </a:xfrm>
          <a:prstGeom prst="rect">
            <a:avLst/>
          </a:prstGeom>
          <a:solidFill>
            <a:srgbClr val="F5F5F5"/>
          </a:solidFill>
          <a:ln w="12700">
            <a:solidFill>
              <a:srgbClr val="F5F5F5"/>
            </a:solidFill>
            <a:prstDash val="solid"/>
          </a:ln>
        </p:spPr>
      </p:sp>
      <p:pic>
        <p:nvPicPr>
          <p:cNvPr id="13" name="Image 2" descr="/tmp/deck/ic/building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Führungskräfte</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Ein einfaches Angebot für das eigene Team</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Eigene Fachthemen sichtbar machen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Vorbild sein und Lernzeit ermöglichen</a:t>
            </a:r>
            <a:endParaRPr lang="en-US" sz="15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heart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die R+V</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bleibt im Haus und wächst weiter</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Verbundenheit zum Arbeitgeber wächst</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Lernen als Teil der Kultur, mit geringem Aufwand</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Wie wir den Erfolg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eigener Statistikbereich in sechs Bereichen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dm-statistik.jpg">    </p:cNvPr>
          <p:cNvPicPr>
            <a:picLocks noChangeAspect="1"/>
          </p:cNvPicPr>
          <p:nvPr/>
        </p:nvPicPr>
        <p:blipFill>
          <a:blip r:embed="rId2"/>
          <a:stretch>
            <a:fillRect/>
          </a:stretch>
        </p:blipFill>
        <p:spPr>
          <a:xfrm>
            <a:off x="530352" y="1463040"/>
            <a:ext cx="6903720" cy="4530566"/>
          </a:xfrm>
          <a:prstGeom prst="rect">
            <a:avLst/>
          </a:prstGeom>
        </p:spPr>
      </p:pic>
      <p:sp>
        <p:nvSpPr>
          <p:cNvPr id="9" name="Text 4"/>
          <p:cNvSpPr txBox="1"/>
          <p:nvPr/>
        </p:nvSpPr>
        <p:spPr>
          <a:xfrm>
            <a:off x="7772400" y="1508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Angebot</a:t>
            </a:r>
            <a:endParaRPr lang="en-US" sz="1800" dirty="0"/>
          </a:p>
        </p:txBody>
      </p:sp>
      <p:sp>
        <p:nvSpPr>
          <p:cNvPr id="10" name="Text 5"/>
          <p:cNvSpPr txBox="1"/>
          <p:nvPr/>
        </p:nvSpPr>
        <p:spPr>
          <a:xfrm>
            <a:off x="7772400" y="1892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pro Monat, Themen, Arten, Anbietende</a:t>
            </a:r>
            <a:endParaRPr lang="en-US" sz="1400" dirty="0"/>
          </a:p>
        </p:txBody>
      </p:sp>
      <p:sp>
        <p:nvSpPr>
          <p:cNvPr id="11" name="Text 6"/>
          <p:cNvSpPr txBox="1"/>
          <p:nvPr/>
        </p:nvSpPr>
        <p:spPr>
          <a:xfrm>
            <a:off x="7772400" y="2651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Nachfrage</a:t>
            </a:r>
            <a:endParaRPr lang="en-US" sz="1800" dirty="0"/>
          </a:p>
        </p:txBody>
      </p:sp>
      <p:sp>
        <p:nvSpPr>
          <p:cNvPr id="12" name="Text 7"/>
          <p:cNvSpPr txBox="1"/>
          <p:nvPr/>
        </p:nvSpPr>
        <p:spPr>
          <a:xfrm>
            <a:off x="7772400" y="3035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Lernstunden und erreichte Personen pro Monat</a:t>
            </a:r>
            <a:endParaRPr lang="en-US" sz="1400" dirty="0"/>
          </a:p>
        </p:txBody>
      </p:sp>
      <p:sp>
        <p:nvSpPr>
          <p:cNvPr id="13" name="Text 8"/>
          <p:cNvSpPr txBox="1"/>
          <p:nvPr/>
        </p:nvSpPr>
        <p:spPr>
          <a:xfrm>
            <a:off x="7772400" y="3794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Wirkung</a:t>
            </a:r>
            <a:endParaRPr lang="en-US" sz="1800" dirty="0"/>
          </a:p>
        </p:txBody>
      </p:sp>
      <p:sp>
        <p:nvSpPr>
          <p:cNvPr id="14" name="Text 9"/>
          <p:cNvSpPr txBox="1"/>
          <p:nvPr/>
        </p:nvSpPr>
        <p:spPr>
          <a:xfrm>
            <a:off x="7772400" y="4178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Bewertungen und Aktivität nur zusammengefasst</a:t>
            </a:r>
            <a:endParaRPr lang="en-US" sz="1400" dirty="0"/>
          </a:p>
        </p:txBody>
      </p:sp>
      <p:sp>
        <p:nvSpPr>
          <p:cNvPr id="15" name="Text 10"/>
          <p:cNvSpPr txBox="1"/>
          <p:nvPr/>
        </p:nvSpPr>
        <p:spPr>
          <a:xfrm>
            <a:off x="7772400" y="4937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Bericht</a:t>
            </a:r>
            <a:endParaRPr lang="en-US" sz="1800" dirty="0"/>
          </a:p>
        </p:txBody>
      </p:sp>
      <p:sp>
        <p:nvSpPr>
          <p:cNvPr id="16" name="Text 11"/>
          <p:cNvSpPr txBox="1"/>
          <p:nvPr/>
        </p:nvSpPr>
        <p:spPr>
          <a:xfrm>
            <a:off x="7772400" y="5321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 Auswertung, jeder Bereich und der Gesamtbericht als PDF</a:t>
            </a:r>
            <a:endParaRPr lang="en-US" sz="1400" dirty="0"/>
          </a:p>
        </p:txBody>
      </p:sp>
      <p:sp>
        <p:nvSpPr>
          <p:cNvPr id="17" name="Text 12"/>
          <p:cNvSpPr txBox="1"/>
          <p:nvPr/>
        </p:nvSpPr>
        <p:spPr>
          <a:xfrm>
            <a:off x="530352" y="603504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Woran wir den Pilot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Zielwerte für sechs Monate bei rund 6.000 Personen im Außendienst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737360" cy="2331720"/>
          </a:xfrm>
          <a:prstGeom prst="rect">
            <a:avLst/>
          </a:prstGeom>
          <a:solidFill>
            <a:srgbClr val="001957"/>
          </a:solidFill>
          <a:ln w="12700">
            <a:solidFill>
              <a:srgbClr val="001957"/>
            </a:solidFill>
            <a:prstDash val="solid"/>
          </a:ln>
        </p:spPr>
      </p:sp>
      <p:sp>
        <p:nvSpPr>
          <p:cNvPr id="9" name="Text 5"/>
          <p:cNvSpPr txBox="1"/>
          <p:nvPr/>
        </p:nvSpPr>
        <p:spPr>
          <a:xfrm>
            <a:off x="694944" y="1645920"/>
            <a:ext cx="1463040" cy="82296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450</a:t>
            </a:r>
            <a:endParaRPr lang="en-US" sz="3200" dirty="0"/>
          </a:p>
        </p:txBody>
      </p:sp>
      <p:sp>
        <p:nvSpPr>
          <p:cNvPr id="10" name="Text 6"/>
          <p:cNvSpPr txBox="1"/>
          <p:nvPr/>
        </p:nvSpPr>
        <p:spPr>
          <a:xfrm>
            <a:off x="694944" y="2514600"/>
            <a:ext cx="1508760" cy="5486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Erreichte Personen</a:t>
            </a:r>
            <a:endParaRPr lang="en-US" sz="1400" dirty="0"/>
          </a:p>
        </p:txBody>
      </p:sp>
      <p:sp>
        <p:nvSpPr>
          <p:cNvPr id="11" name="Text 7"/>
          <p:cNvSpPr txBox="1"/>
          <p:nvPr/>
        </p:nvSpPr>
        <p:spPr>
          <a:xfrm>
            <a:off x="694944" y="3063240"/>
            <a:ext cx="1508760" cy="64008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7,5 % der Zielgruppe</a:t>
            </a:r>
            <a:endParaRPr lang="en-US" sz="1200" dirty="0"/>
          </a:p>
        </p:txBody>
      </p:sp>
      <p:sp>
        <p:nvSpPr>
          <p:cNvPr id="12" name="Shape 8"/>
          <p:cNvSpPr/>
          <p:nvPr/>
        </p:nvSpPr>
        <p:spPr>
          <a:xfrm>
            <a:off x="2414016" y="1508760"/>
            <a:ext cx="1737360" cy="2331720"/>
          </a:xfrm>
          <a:prstGeom prst="rect">
            <a:avLst/>
          </a:prstGeom>
          <a:solidFill>
            <a:srgbClr val="F5F5F5"/>
          </a:solidFill>
          <a:ln w="12700">
            <a:solidFill>
              <a:srgbClr val="F5F5F5"/>
            </a:solidFill>
            <a:prstDash val="solid"/>
          </a:ln>
        </p:spPr>
      </p:sp>
      <p:sp>
        <p:nvSpPr>
          <p:cNvPr id="13" name="Text 9"/>
          <p:cNvSpPr txBox="1"/>
          <p:nvPr/>
        </p:nvSpPr>
        <p:spPr>
          <a:xfrm>
            <a:off x="2578608"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750</a:t>
            </a:r>
            <a:endParaRPr lang="en-US" sz="3200" dirty="0"/>
          </a:p>
        </p:txBody>
      </p:sp>
      <p:sp>
        <p:nvSpPr>
          <p:cNvPr id="14" name="Text 10"/>
          <p:cNvSpPr txBox="1"/>
          <p:nvPr/>
        </p:nvSpPr>
        <p:spPr>
          <a:xfrm>
            <a:off x="2578608"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Lernstunden</a:t>
            </a:r>
            <a:endParaRPr lang="en-US" sz="1400" dirty="0"/>
          </a:p>
        </p:txBody>
      </p:sp>
      <p:sp>
        <p:nvSpPr>
          <p:cNvPr id="15" name="Text 11"/>
          <p:cNvSpPr txBox="1"/>
          <p:nvPr/>
        </p:nvSpPr>
        <p:spPr>
          <a:xfrm>
            <a:off x="2578608"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Teilnahmen mal Dauer</a:t>
            </a:r>
            <a:endParaRPr lang="en-US" sz="1200" dirty="0"/>
          </a:p>
        </p:txBody>
      </p:sp>
      <p:sp>
        <p:nvSpPr>
          <p:cNvPr id="16" name="Shape 12"/>
          <p:cNvSpPr/>
          <p:nvPr/>
        </p:nvSpPr>
        <p:spPr>
          <a:xfrm>
            <a:off x="4297680" y="1508760"/>
            <a:ext cx="1737360" cy="2331720"/>
          </a:xfrm>
          <a:prstGeom prst="rect">
            <a:avLst/>
          </a:prstGeom>
          <a:solidFill>
            <a:srgbClr val="F5F5F5"/>
          </a:solidFill>
          <a:ln w="12700">
            <a:solidFill>
              <a:srgbClr val="F5F5F5"/>
            </a:solidFill>
            <a:prstDash val="solid"/>
          </a:ln>
        </p:spPr>
      </p:sp>
      <p:sp>
        <p:nvSpPr>
          <p:cNvPr id="17" name="Text 13"/>
          <p:cNvSpPr txBox="1"/>
          <p:nvPr/>
        </p:nvSpPr>
        <p:spPr>
          <a:xfrm>
            <a:off x="4462272"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100</a:t>
            </a:r>
            <a:endParaRPr lang="en-US" sz="3200" dirty="0"/>
          </a:p>
        </p:txBody>
      </p:sp>
      <p:sp>
        <p:nvSpPr>
          <p:cNvPr id="18" name="Text 14"/>
          <p:cNvSpPr txBox="1"/>
          <p:nvPr/>
        </p:nvSpPr>
        <p:spPr>
          <a:xfrm>
            <a:off x="4462272"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Sessions</a:t>
            </a:r>
            <a:endParaRPr lang="en-US" sz="1400" dirty="0"/>
          </a:p>
        </p:txBody>
      </p:sp>
      <p:sp>
        <p:nvSpPr>
          <p:cNvPr id="19" name="Text 15"/>
          <p:cNvSpPr txBox="1"/>
          <p:nvPr/>
        </p:nvSpPr>
        <p:spPr>
          <a:xfrm>
            <a:off x="4462272"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rund 4 pro Woche</a:t>
            </a:r>
            <a:endParaRPr lang="en-US" sz="1200" dirty="0"/>
          </a:p>
        </p:txBody>
      </p:sp>
      <p:sp>
        <p:nvSpPr>
          <p:cNvPr id="20" name="Shape 16"/>
          <p:cNvSpPr/>
          <p:nvPr/>
        </p:nvSpPr>
        <p:spPr>
          <a:xfrm>
            <a:off x="6181344" y="1508760"/>
            <a:ext cx="1737360" cy="2331720"/>
          </a:xfrm>
          <a:prstGeom prst="rect">
            <a:avLst/>
          </a:prstGeom>
          <a:solidFill>
            <a:srgbClr val="F5F5F5"/>
          </a:solidFill>
          <a:ln w="12700">
            <a:solidFill>
              <a:srgbClr val="F5F5F5"/>
            </a:solidFill>
            <a:prstDash val="solid"/>
          </a:ln>
        </p:spPr>
      </p:sp>
      <p:sp>
        <p:nvSpPr>
          <p:cNvPr id="21" name="Text 17"/>
          <p:cNvSpPr txBox="1"/>
          <p:nvPr/>
        </p:nvSpPr>
        <p:spPr>
          <a:xfrm>
            <a:off x="6345936"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40</a:t>
            </a:r>
            <a:endParaRPr lang="en-US" sz="3200" dirty="0"/>
          </a:p>
        </p:txBody>
      </p:sp>
      <p:sp>
        <p:nvSpPr>
          <p:cNvPr id="22" name="Text 18"/>
          <p:cNvSpPr txBox="1"/>
          <p:nvPr/>
        </p:nvSpPr>
        <p:spPr>
          <a:xfrm>
            <a:off x="6345936"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Anbietende</a:t>
            </a:r>
            <a:endParaRPr lang="en-US" sz="1400" dirty="0"/>
          </a:p>
        </p:txBody>
      </p:sp>
      <p:sp>
        <p:nvSpPr>
          <p:cNvPr id="23" name="Text 19"/>
          <p:cNvSpPr txBox="1"/>
          <p:nvPr/>
        </p:nvSpPr>
        <p:spPr>
          <a:xfrm>
            <a:off x="6345936"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aus dem Außendienst</a:t>
            </a:r>
            <a:endParaRPr lang="en-US" sz="1200" dirty="0"/>
          </a:p>
        </p:txBody>
      </p:sp>
      <p:sp>
        <p:nvSpPr>
          <p:cNvPr id="24" name="Shape 20"/>
          <p:cNvSpPr/>
          <p:nvPr/>
        </p:nvSpPr>
        <p:spPr>
          <a:xfrm>
            <a:off x="8065008" y="1508760"/>
            <a:ext cx="1737360" cy="2331720"/>
          </a:xfrm>
          <a:prstGeom prst="rect">
            <a:avLst/>
          </a:prstGeom>
          <a:solidFill>
            <a:srgbClr val="F5F5F5"/>
          </a:solidFill>
          <a:ln w="12700">
            <a:solidFill>
              <a:srgbClr val="F5F5F5"/>
            </a:solidFill>
            <a:prstDash val="solid"/>
          </a:ln>
        </p:spPr>
      </p:sp>
      <p:sp>
        <p:nvSpPr>
          <p:cNvPr id="25" name="Text 21"/>
          <p:cNvSpPr txBox="1"/>
          <p:nvPr/>
        </p:nvSpPr>
        <p:spPr>
          <a:xfrm>
            <a:off x="8229600"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35 %</a:t>
            </a:r>
            <a:endParaRPr lang="en-US" sz="3200" dirty="0"/>
          </a:p>
        </p:txBody>
      </p:sp>
      <p:sp>
        <p:nvSpPr>
          <p:cNvPr id="26" name="Text 22"/>
          <p:cNvSpPr txBox="1"/>
          <p:nvPr/>
        </p:nvSpPr>
        <p:spPr>
          <a:xfrm>
            <a:off x="8229600"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Wiederkehrend</a:t>
            </a:r>
            <a:endParaRPr lang="en-US" sz="1400" dirty="0"/>
          </a:p>
        </p:txBody>
      </p:sp>
      <p:sp>
        <p:nvSpPr>
          <p:cNvPr id="27" name="Text 23"/>
          <p:cNvSpPr txBox="1"/>
          <p:nvPr/>
        </p:nvSpPr>
        <p:spPr>
          <a:xfrm>
            <a:off x="8229600"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mindestens 2 Teilnahmen</a:t>
            </a:r>
            <a:endParaRPr lang="en-US" sz="1200" dirty="0"/>
          </a:p>
        </p:txBody>
      </p:sp>
      <p:sp>
        <p:nvSpPr>
          <p:cNvPr id="28" name="Shape 24"/>
          <p:cNvSpPr/>
          <p:nvPr/>
        </p:nvSpPr>
        <p:spPr>
          <a:xfrm>
            <a:off x="9948672" y="1508760"/>
            <a:ext cx="1737360" cy="2331720"/>
          </a:xfrm>
          <a:prstGeom prst="rect">
            <a:avLst/>
          </a:prstGeom>
          <a:solidFill>
            <a:srgbClr val="F5F5F5"/>
          </a:solidFill>
          <a:ln w="12700">
            <a:solidFill>
              <a:srgbClr val="F5F5F5"/>
            </a:solidFill>
            <a:prstDash val="solid"/>
          </a:ln>
        </p:spPr>
      </p:sp>
      <p:sp>
        <p:nvSpPr>
          <p:cNvPr id="29" name="Text 25"/>
          <p:cNvSpPr txBox="1"/>
          <p:nvPr/>
        </p:nvSpPr>
        <p:spPr>
          <a:xfrm>
            <a:off x="10113264"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4,2</a:t>
            </a:r>
            <a:endParaRPr lang="en-US" sz="3200" dirty="0"/>
          </a:p>
        </p:txBody>
      </p:sp>
      <p:sp>
        <p:nvSpPr>
          <p:cNvPr id="30" name="Text 26"/>
          <p:cNvSpPr txBox="1"/>
          <p:nvPr/>
        </p:nvSpPr>
        <p:spPr>
          <a:xfrm>
            <a:off x="10113264"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Zufriedenheit</a:t>
            </a:r>
            <a:endParaRPr lang="en-US" sz="1400" dirty="0"/>
          </a:p>
        </p:txBody>
      </p:sp>
      <p:sp>
        <p:nvSpPr>
          <p:cNvPr id="31" name="Text 27"/>
          <p:cNvSpPr txBox="1"/>
          <p:nvPr/>
        </p:nvSpPr>
        <p:spPr>
          <a:xfrm>
            <a:off x="10113264"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Ø Sterne von 5</a:t>
            </a:r>
            <a:endParaRPr lang="en-US" sz="1200" dirty="0"/>
          </a:p>
        </p:txBody>
      </p:sp>
      <p:sp>
        <p:nvSpPr>
          <p:cNvPr id="32" name="Shape 28"/>
          <p:cNvSpPr/>
          <p:nvPr/>
        </p:nvSpPr>
        <p:spPr>
          <a:xfrm>
            <a:off x="530352" y="4069080"/>
            <a:ext cx="5486400" cy="2011680"/>
          </a:xfrm>
          <a:prstGeom prst="rect">
            <a:avLst/>
          </a:prstGeom>
          <a:solidFill>
            <a:srgbClr val="FFF4E0"/>
          </a:solidFill>
          <a:ln w="12700">
            <a:solidFill>
              <a:srgbClr val="FFF4E0"/>
            </a:solidFill>
            <a:prstDash val="solid"/>
          </a:ln>
        </p:spPr>
      </p:sp>
      <p:pic>
        <p:nvPicPr>
          <p:cNvPr id="33" name="Image 1" descr="/tmp/deck/ic/target_m.png">    </p:cNvPr>
          <p:cNvPicPr>
            <a:picLocks noChangeAspect="1"/>
          </p:cNvPicPr>
          <p:nvPr/>
        </p:nvPicPr>
        <p:blipFill>
          <a:blip r:embed="rId2"/>
          <a:stretch>
            <a:fillRect/>
          </a:stretch>
        </p:blipFill>
        <p:spPr>
          <a:xfrm>
            <a:off x="777240" y="4251960"/>
            <a:ext cx="548640" cy="548640"/>
          </a:xfrm>
          <a:prstGeom prst="rect">
            <a:avLst/>
          </a:prstGeom>
        </p:spPr>
      </p:pic>
      <p:sp>
        <p:nvSpPr>
          <p:cNvPr id="34" name="Text 29"/>
          <p:cNvSpPr txBox="1"/>
          <p:nvPr/>
        </p:nvSpPr>
        <p:spPr>
          <a:xfrm>
            <a:off x="1463040" y="4251960"/>
            <a:ext cx="438912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Messbar ab dem ersten Tag</a:t>
            </a:r>
            <a:endParaRPr lang="en-US" sz="1800" dirty="0"/>
          </a:p>
        </p:txBody>
      </p:sp>
      <p:sp>
        <p:nvSpPr>
          <p:cNvPr id="35" name="Text 30"/>
          <p:cNvSpPr txBox="1"/>
          <p:nvPr/>
        </p:nvSpPr>
        <p:spPr>
          <a:xfrm>
            <a:off x="777240" y="489204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Zwischenstand nach 3 Monaten: 200 Personen, 25 Anbietende</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Monatlicher Bericht an das Management (PDF)</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Nach 6 Monaten: Entscheidung über den Ausbau</a:t>
            </a:r>
            <a:endParaRPr lang="en-US" sz="1400" dirty="0"/>
          </a:p>
        </p:txBody>
      </p:sp>
      <p:sp>
        <p:nvSpPr>
          <p:cNvPr id="36" name="Shape 31"/>
          <p:cNvSpPr/>
          <p:nvPr/>
        </p:nvSpPr>
        <p:spPr>
          <a:xfrm>
            <a:off x="6199632" y="4069080"/>
            <a:ext cx="5486400" cy="2011680"/>
          </a:xfrm>
          <a:prstGeom prst="rect">
            <a:avLst/>
          </a:prstGeom>
          <a:solidFill>
            <a:srgbClr val="F5F5F5"/>
          </a:solidFill>
          <a:ln w="12700">
            <a:solidFill>
              <a:srgbClr val="F5F5F5"/>
            </a:solidFill>
            <a:prstDash val="solid"/>
          </a:ln>
        </p:spPr>
      </p:sp>
      <p:pic>
        <p:nvPicPr>
          <p:cNvPr id="37" name="Image 2" descr="/tmp/deck/ic/building_m.png">    </p:cNvPr>
          <p:cNvPicPr>
            <a:picLocks noChangeAspect="1"/>
          </p:cNvPicPr>
          <p:nvPr/>
        </p:nvPicPr>
        <p:blipFill>
          <a:blip r:embed="rId3"/>
          <a:stretch>
            <a:fillRect/>
          </a:stretch>
        </p:blipFill>
        <p:spPr>
          <a:xfrm>
            <a:off x="6446520" y="4251960"/>
            <a:ext cx="548640" cy="548640"/>
          </a:xfrm>
          <a:prstGeom prst="rect">
            <a:avLst/>
          </a:prstGeom>
        </p:spPr>
      </p:pic>
      <p:sp>
        <p:nvSpPr>
          <p:cNvPr id="38" name="Text 32"/>
          <p:cNvSpPr txBox="1"/>
          <p:nvPr/>
        </p:nvSpPr>
        <p:spPr>
          <a:xfrm>
            <a:off x="7132320" y="4251960"/>
            <a:ext cx="438912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Geringer Aufwand</a:t>
            </a:r>
            <a:endParaRPr lang="en-US" sz="1800" dirty="0"/>
          </a:p>
        </p:txBody>
      </p:sp>
      <p:sp>
        <p:nvSpPr>
          <p:cNvPr id="39" name="Text 33"/>
          <p:cNvSpPr txBox="1"/>
          <p:nvPr/>
        </p:nvSpPr>
        <p:spPr>
          <a:xfrm>
            <a:off x="6446520" y="489204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Keine Lizenzkosten, eigene Web-App</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Betrieb auf vorhandenem IIS-Server</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Betreuung durch VH-VP-TV, Termine in Teams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IDD-Anrechnung: in der App umgesetzt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nach Freigabe, die Meldung an gutBeraten folgt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463040"/>
            <a:ext cx="11155680" cy="914400"/>
          </a:xfrm>
          <a:prstGeom prst="rect">
            <a:avLst/>
          </a:prstGeom>
          <a:solidFill>
            <a:srgbClr val="001957"/>
          </a:solidFill>
          <a:ln w="12700">
            <a:solidFill>
              <a:srgbClr val="001957"/>
            </a:solidFill>
            <a:prstDash val="solid"/>
          </a:ln>
        </p:spPr>
      </p:sp>
      <p:sp>
        <p:nvSpPr>
          <p:cNvPr id="9" name="Text 5"/>
          <p:cNvSpPr txBox="1"/>
          <p:nvPr/>
        </p:nvSpPr>
        <p:spPr>
          <a:xfrm>
            <a:off x="822960" y="1463040"/>
            <a:ext cx="10607040" cy="914400"/>
          </a:xfrm>
          <a:prstGeom prst="rect">
            <a:avLst/>
          </a:prstGeom>
          <a:noFill/>
          <a:ln/>
        </p:spPr>
        <p:txBody>
          <a:bodyPr wrap="square" lIns="0" tIns="0" rIns="0" bIns="0" rtlCol="0" anchor="ctr"/>
          <a:lstStyle/>
          <a:p>
            <a:pPr indent="0" marL="0">
              <a:buNone/>
            </a:pPr>
            <a:r>
              <a:rPr lang="en-US" sz="1400" b="1" dirty="0">
                <a:solidFill>
                  <a:srgbClr val="00DCDC"/>
                </a:solidFill>
                <a:latin typeface="Arial" pitchFamily="34" charset="0"/>
                <a:ea typeface="Arial" pitchFamily="34" charset="-122"/>
                <a:cs typeface="Arial" pitchFamily="34" charset="-120"/>
              </a:rPr>
              <a:t>STATUS  </a:t>
            </a:r>
            <a:pPr indent="0" marL="0">
              <a:buNone/>
            </a:pPr>
            <a:r>
              <a:rPr lang="en-US" sz="2600" b="1" dirty="0">
                <a:solidFill>
                  <a:srgbClr val="F79506"/>
                </a:solidFill>
                <a:latin typeface="Arial" pitchFamily="34" charset="0"/>
                <a:ea typeface="Arial" pitchFamily="34" charset="-122"/>
                <a:cs typeface="Arial" pitchFamily="34" charset="-120"/>
              </a:rPr>
              <a:t>Umgesetzt. Start nach Freigabe.</a:t>
            </a:r>
            <a:endParaRPr lang="en-US" sz="1600" dirty="0"/>
          </a:p>
        </p:txBody>
      </p:sp>
      <p:sp>
        <p:nvSpPr>
          <p:cNvPr id="10" name="Shape 6"/>
          <p:cNvSpPr/>
          <p:nvPr/>
        </p:nvSpPr>
        <p:spPr>
          <a:xfrm>
            <a:off x="530352" y="2606040"/>
            <a:ext cx="3566160" cy="3474720"/>
          </a:xfrm>
          <a:prstGeom prst="rect">
            <a:avLst/>
          </a:prstGeom>
          <a:solidFill>
            <a:srgbClr val="F5F5F5"/>
          </a:solidFill>
          <a:ln w="12700">
            <a:solidFill>
              <a:srgbClr val="F5F5F5"/>
            </a:solidFill>
            <a:prstDash val="solid"/>
          </a:ln>
        </p:spPr>
      </p:sp>
      <p:pic>
        <p:nvPicPr>
          <p:cNvPr id="11" name="Image 1" descr="/tmp/deck/ic/check_m.png">    </p:cNvPr>
          <p:cNvPicPr>
            <a:picLocks noChangeAspect="1"/>
          </p:cNvPicPr>
          <p:nvPr/>
        </p:nvPicPr>
        <p:blipFill>
          <a:blip r:embed="rId2"/>
          <a:stretch>
            <a:fillRect/>
          </a:stretch>
        </p:blipFill>
        <p:spPr>
          <a:xfrm>
            <a:off x="804672" y="2788920"/>
            <a:ext cx="548640" cy="548640"/>
          </a:xfrm>
          <a:prstGeom prst="rect">
            <a:avLst/>
          </a:prstGeom>
        </p:spPr>
      </p:pic>
      <p:sp>
        <p:nvSpPr>
          <p:cNvPr id="12" name="Text 7"/>
          <p:cNvSpPr txBox="1"/>
          <p:nvPr/>
        </p:nvSpPr>
        <p:spPr>
          <a:xfrm>
            <a:off x="1536192"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In der App</a:t>
            </a:r>
            <a:endParaRPr lang="en-US" sz="1800" dirty="0"/>
          </a:p>
        </p:txBody>
      </p:sp>
      <p:sp>
        <p:nvSpPr>
          <p:cNvPr id="13" name="Text 8"/>
          <p:cNvSpPr txBox="1"/>
          <p:nvPr/>
        </p:nvSpPr>
        <p:spPr>
          <a:xfrm>
            <a:off x="804672"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IDD-Titel, Lerninhalt nach gutBeraten-Kategorie, Agenda</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Anlegen nur mit Freischaltung durch die Administration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Teilnahme bestätigen: 14 Tage Anbietende, danach Administration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IDD-Cockpit und PDF-Nachweis je Kalenderjahr</a:t>
            </a:r>
            <a:endParaRPr lang="en-US" sz="1300" dirty="0"/>
          </a:p>
        </p:txBody>
      </p:sp>
      <p:sp>
        <p:nvSpPr>
          <p:cNvPr id="14" name="Shape 9"/>
          <p:cNvSpPr/>
          <p:nvPr/>
        </p:nvSpPr>
        <p:spPr>
          <a:xfrm>
            <a:off x="4315968" y="2606040"/>
            <a:ext cx="3566160" cy="3474720"/>
          </a:xfrm>
          <a:prstGeom prst="rect">
            <a:avLst/>
          </a:prstGeom>
          <a:solidFill>
            <a:srgbClr val="FFF4E0"/>
          </a:solidFill>
          <a:ln w="12700">
            <a:solidFill>
              <a:srgbClr val="FFF4E0"/>
            </a:solidFill>
            <a:prstDash val="solid"/>
          </a:ln>
        </p:spPr>
      </p:sp>
      <p:pic>
        <p:nvPicPr>
          <p:cNvPr id="15" name="Image 2" descr="/tmp/deck/ic/target_m.png">    </p:cNvPr>
          <p:cNvPicPr>
            <a:picLocks noChangeAspect="1"/>
          </p:cNvPicPr>
          <p:nvPr/>
        </p:nvPicPr>
        <p:blipFill>
          <a:blip r:embed="rId3"/>
          <a:stretch>
            <a:fillRect/>
          </a:stretch>
        </p:blipFill>
        <p:spPr>
          <a:xfrm>
            <a:off x="4590288" y="2788920"/>
            <a:ext cx="548640" cy="548640"/>
          </a:xfrm>
          <a:prstGeom prst="rect">
            <a:avLst/>
          </a:prstGeom>
        </p:spPr>
      </p:pic>
      <p:sp>
        <p:nvSpPr>
          <p:cNvPr id="16" name="Text 10"/>
          <p:cNvSpPr txBox="1"/>
          <p:nvPr/>
        </p:nvSpPr>
        <p:spPr>
          <a:xfrm>
            <a:off x="5321808"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Regeln</a:t>
            </a:r>
            <a:endParaRPr lang="en-US" sz="1800" dirty="0"/>
          </a:p>
        </p:txBody>
      </p:sp>
      <p:sp>
        <p:nvSpPr>
          <p:cNvPr id="17" name="Text 11"/>
          <p:cNvSpPr txBox="1"/>
          <p:nvPr/>
        </p:nvSpPr>
        <p:spPr>
          <a:xfrm>
            <a:off x="4590288"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Nur bestätigte Teilnahmen zählen, keine Teilanrechnung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Begrüßung und Verabschiedung sind keine Lernzeit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15 oder 30 Stunden je Kalenderjahr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Sperre am 31.01. des Folgejahres</a:t>
            </a:r>
            <a:endParaRPr lang="en-US" sz="1300" dirty="0"/>
          </a:p>
        </p:txBody>
      </p:sp>
      <p:sp>
        <p:nvSpPr>
          <p:cNvPr id="18" name="Shape 12"/>
          <p:cNvSpPr/>
          <p:nvPr/>
        </p:nvSpPr>
        <p:spPr>
          <a:xfrm>
            <a:off x="8101584" y="2606040"/>
            <a:ext cx="3566160" cy="3474720"/>
          </a:xfrm>
          <a:prstGeom prst="rect">
            <a:avLst/>
          </a:prstGeom>
          <a:solidFill>
            <a:srgbClr val="F5F5F5"/>
          </a:solidFill>
          <a:ln w="12700">
            <a:solidFill>
              <a:srgbClr val="F5F5F5"/>
            </a:solidFill>
            <a:prstDash val="solid"/>
          </a:ln>
        </p:spPr>
      </p:sp>
      <p:pic>
        <p:nvPicPr>
          <p:cNvPr id="19" name="Image 3" descr="/tmp/deck/ic/doc_m.png">    </p:cNvPr>
          <p:cNvPicPr>
            <a:picLocks noChangeAspect="1"/>
          </p:cNvPicPr>
          <p:nvPr/>
        </p:nvPicPr>
        <p:blipFill>
          <a:blip r:embed="rId4"/>
          <a:stretch>
            <a:fillRect/>
          </a:stretch>
        </p:blipFill>
        <p:spPr>
          <a:xfrm>
            <a:off x="8375904" y="2788920"/>
            <a:ext cx="548640" cy="548640"/>
          </a:xfrm>
          <a:prstGeom prst="rect">
            <a:avLst/>
          </a:prstGeom>
        </p:spPr>
      </p:pic>
      <p:sp>
        <p:nvSpPr>
          <p:cNvPr id="20" name="Text 13"/>
          <p:cNvSpPr txBox="1"/>
          <p:nvPr/>
        </p:nvSpPr>
        <p:spPr>
          <a:xfrm>
            <a:off x="9107424"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Offene Punkte</a:t>
            </a:r>
            <a:endParaRPr lang="en-US" sz="1800" dirty="0"/>
          </a:p>
        </p:txBody>
      </p:sp>
      <p:sp>
        <p:nvSpPr>
          <p:cNvPr id="21" name="Text 14"/>
          <p:cNvSpPr txBox="1"/>
          <p:nvPr/>
        </p:nvSpPr>
        <p:spPr>
          <a:xfrm>
            <a:off x="8375904"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Format der Meldung an gutBeraten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Freigabe durch Compliance und Datenschutz</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Ergänzung der Betriebsvereinbarung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IDD-Funktion einschalten</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 in der App: vom Termin zum Nachweis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alles in LearnTogether@AD</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idd-cockpit.jpg">    </p:cNvPr>
          <p:cNvPicPr>
            <a:picLocks noChangeAspect="1"/>
          </p:cNvPicPr>
          <p:nvPr/>
        </p:nvPicPr>
        <p:blipFill>
          <a:blip r:embed="rId2"/>
          <a:stretch>
            <a:fillRect/>
          </a:stretch>
        </p:blipFill>
        <p:spPr>
          <a:xfrm>
            <a:off x="530352" y="1508760"/>
            <a:ext cx="6035040" cy="2615515"/>
          </a:xfrm>
          <a:prstGeom prst="rect">
            <a:avLst/>
          </a:prstGeom>
        </p:spPr>
      </p:pic>
      <p:sp>
        <p:nvSpPr>
          <p:cNvPr id="9" name="Text 4"/>
          <p:cNvSpPr txBox="1"/>
          <p:nvPr/>
        </p:nvSpPr>
        <p:spPr>
          <a:xfrm>
            <a:off x="530352" y="4197427"/>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
        <p:nvSpPr>
          <p:cNvPr id="10" name="Shape 5"/>
          <p:cNvSpPr/>
          <p:nvPr/>
        </p:nvSpPr>
        <p:spPr>
          <a:xfrm>
            <a:off x="6858000" y="1508760"/>
            <a:ext cx="4828032" cy="987552"/>
          </a:xfrm>
          <a:prstGeom prst="rect">
            <a:avLst/>
          </a:prstGeom>
          <a:solidFill>
            <a:srgbClr val="FFF4E0"/>
          </a:solidFill>
          <a:ln w="12700">
            <a:solidFill>
              <a:srgbClr val="FFF4E0"/>
            </a:solidFill>
            <a:prstDash val="solid"/>
          </a:ln>
        </p:spPr>
      </p:sp>
      <p:pic>
        <p:nvPicPr>
          <p:cNvPr id="11" name="Image 2" descr="/tmp/deck/ic/pencil_m.png">    </p:cNvPr>
          <p:cNvPicPr>
            <a:picLocks noChangeAspect="1"/>
          </p:cNvPicPr>
          <p:nvPr/>
        </p:nvPicPr>
        <p:blipFill>
          <a:blip r:embed="rId3"/>
          <a:stretch>
            <a:fillRect/>
          </a:stretch>
        </p:blipFill>
        <p:spPr>
          <a:xfrm>
            <a:off x="7040880" y="1709928"/>
            <a:ext cx="548640" cy="548640"/>
          </a:xfrm>
          <a:prstGeom prst="rect">
            <a:avLst/>
          </a:prstGeom>
        </p:spPr>
      </p:pic>
      <p:sp>
        <p:nvSpPr>
          <p:cNvPr id="12" name="Text 6"/>
          <p:cNvSpPr txBox="1"/>
          <p:nvPr/>
        </p:nvSpPr>
        <p:spPr>
          <a:xfrm>
            <a:off x="7772400" y="1581912"/>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Anlegen</a:t>
            </a:r>
            <a:endParaRPr lang="en-US" sz="1600" dirty="0"/>
          </a:p>
        </p:txBody>
      </p:sp>
      <p:sp>
        <p:nvSpPr>
          <p:cNvPr id="13" name="Text 7"/>
          <p:cNvSpPr txBox="1"/>
          <p:nvPr/>
        </p:nvSpPr>
        <p:spPr>
          <a:xfrm>
            <a:off x="7772400" y="1929384"/>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IDD-Titel, Lerninhalt nach gutBeraten und Agenda mit IDD-Bildungszeit. Die App prüft den Titel.</a:t>
            </a:r>
            <a:endParaRPr lang="en-US" sz="1250" dirty="0"/>
          </a:p>
        </p:txBody>
      </p:sp>
      <p:sp>
        <p:nvSpPr>
          <p:cNvPr id="14" name="Shape 8"/>
          <p:cNvSpPr/>
          <p:nvPr/>
        </p:nvSpPr>
        <p:spPr>
          <a:xfrm>
            <a:off x="6858000" y="2624328"/>
            <a:ext cx="4828032" cy="987552"/>
          </a:xfrm>
          <a:prstGeom prst="rect">
            <a:avLst/>
          </a:prstGeom>
          <a:solidFill>
            <a:srgbClr val="F5F5F5"/>
          </a:solidFill>
          <a:ln w="12700">
            <a:solidFill>
              <a:srgbClr val="F5F5F5"/>
            </a:solidFill>
            <a:prstDash val="solid"/>
          </a:ln>
        </p:spPr>
      </p:sp>
      <p:pic>
        <p:nvPicPr>
          <p:cNvPr id="15" name="Image 3" descr="/tmp/deck/ic/search_m.png">    </p:cNvPr>
          <p:cNvPicPr>
            <a:picLocks noChangeAspect="1"/>
          </p:cNvPicPr>
          <p:nvPr/>
        </p:nvPicPr>
        <p:blipFill>
          <a:blip r:embed="rId4"/>
          <a:stretch>
            <a:fillRect/>
          </a:stretch>
        </p:blipFill>
        <p:spPr>
          <a:xfrm>
            <a:off x="7040880" y="2825496"/>
            <a:ext cx="548640" cy="548640"/>
          </a:xfrm>
          <a:prstGeom prst="rect">
            <a:avLst/>
          </a:prstGeom>
        </p:spPr>
      </p:pic>
      <p:sp>
        <p:nvSpPr>
          <p:cNvPr id="16" name="Text 9"/>
          <p:cNvSpPr txBox="1"/>
          <p:nvPr/>
        </p:nvSpPr>
        <p:spPr>
          <a:xfrm>
            <a:off x="7772400" y="2697480"/>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Buchen</a:t>
            </a:r>
            <a:endParaRPr lang="en-US" sz="1600" dirty="0"/>
          </a:p>
        </p:txBody>
      </p:sp>
      <p:sp>
        <p:nvSpPr>
          <p:cNvPr id="17" name="Text 10"/>
          <p:cNvSpPr txBox="1"/>
          <p:nvPr/>
        </p:nvSpPr>
        <p:spPr>
          <a:xfrm>
            <a:off x="7772400" y="3044952"/>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Dauer und IDD-Zeit stehen getrennt in der Info-Kachel.</a:t>
            </a:r>
            <a:endParaRPr lang="en-US" sz="1250" dirty="0"/>
          </a:p>
        </p:txBody>
      </p:sp>
      <p:sp>
        <p:nvSpPr>
          <p:cNvPr id="18" name="Shape 11"/>
          <p:cNvSpPr/>
          <p:nvPr/>
        </p:nvSpPr>
        <p:spPr>
          <a:xfrm>
            <a:off x="6858000" y="3739896"/>
            <a:ext cx="4828032" cy="987552"/>
          </a:xfrm>
          <a:prstGeom prst="rect">
            <a:avLst/>
          </a:prstGeom>
          <a:solidFill>
            <a:srgbClr val="FFF4E0"/>
          </a:solidFill>
          <a:ln w="12700">
            <a:solidFill>
              <a:srgbClr val="FFF4E0"/>
            </a:solidFill>
            <a:prstDash val="solid"/>
          </a:ln>
        </p:spPr>
      </p:sp>
      <p:pic>
        <p:nvPicPr>
          <p:cNvPr id="19" name="Image 4" descr="/tmp/deck/ic/check_m.png">    </p:cNvPr>
          <p:cNvPicPr>
            <a:picLocks noChangeAspect="1"/>
          </p:cNvPicPr>
          <p:nvPr/>
        </p:nvPicPr>
        <p:blipFill>
          <a:blip r:embed="rId5"/>
          <a:stretch>
            <a:fillRect/>
          </a:stretch>
        </p:blipFill>
        <p:spPr>
          <a:xfrm>
            <a:off x="7040880" y="3941064"/>
            <a:ext cx="548640" cy="548640"/>
          </a:xfrm>
          <a:prstGeom prst="rect">
            <a:avLst/>
          </a:prstGeom>
        </p:spPr>
      </p:pic>
      <p:sp>
        <p:nvSpPr>
          <p:cNvPr id="20" name="Text 12"/>
          <p:cNvSpPr txBox="1"/>
          <p:nvPr/>
        </p:nvSpPr>
        <p:spPr>
          <a:xfrm>
            <a:off x="7772400" y="3813048"/>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Bestätigen</a:t>
            </a:r>
            <a:endParaRPr lang="en-US" sz="1600" dirty="0"/>
          </a:p>
        </p:txBody>
      </p:sp>
      <p:sp>
        <p:nvSpPr>
          <p:cNvPr id="21" name="Text 13"/>
          <p:cNvSpPr txBox="1"/>
          <p:nvPr/>
        </p:nvSpPr>
        <p:spPr>
          <a:xfrm>
            <a:off x="7772400" y="4160520"/>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Anbietende 14 Tage, danach die Administration. Sperre am 31.01.</a:t>
            </a:r>
            <a:endParaRPr lang="en-US" sz="1250" dirty="0"/>
          </a:p>
        </p:txBody>
      </p:sp>
      <p:sp>
        <p:nvSpPr>
          <p:cNvPr id="22" name="Shape 14"/>
          <p:cNvSpPr/>
          <p:nvPr/>
        </p:nvSpPr>
        <p:spPr>
          <a:xfrm>
            <a:off x="6858000" y="4855464"/>
            <a:ext cx="4828032" cy="987552"/>
          </a:xfrm>
          <a:prstGeom prst="rect">
            <a:avLst/>
          </a:prstGeom>
          <a:solidFill>
            <a:srgbClr val="F5F5F5"/>
          </a:solidFill>
          <a:ln w="12700">
            <a:solidFill>
              <a:srgbClr val="F5F5F5"/>
            </a:solidFill>
            <a:prstDash val="solid"/>
          </a:ln>
        </p:spPr>
      </p:sp>
      <p:pic>
        <p:nvPicPr>
          <p:cNvPr id="23" name="Image 5" descr="/tmp/deck/ic/doc_m.png">    </p:cNvPr>
          <p:cNvPicPr>
            <a:picLocks noChangeAspect="1"/>
          </p:cNvPicPr>
          <p:nvPr/>
        </p:nvPicPr>
        <p:blipFill>
          <a:blip r:embed="rId6"/>
          <a:stretch>
            <a:fillRect/>
          </a:stretch>
        </p:blipFill>
        <p:spPr>
          <a:xfrm>
            <a:off x="7040880" y="5056632"/>
            <a:ext cx="548640" cy="548640"/>
          </a:xfrm>
          <a:prstGeom prst="rect">
            <a:avLst/>
          </a:prstGeom>
        </p:spPr>
      </p:pic>
      <p:sp>
        <p:nvSpPr>
          <p:cNvPr id="24" name="Text 15"/>
          <p:cNvSpPr txBox="1"/>
          <p:nvPr/>
        </p:nvSpPr>
        <p:spPr>
          <a:xfrm>
            <a:off x="7772400" y="4928616"/>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Nachweisen</a:t>
            </a:r>
            <a:endParaRPr lang="en-US" sz="1600" dirty="0"/>
          </a:p>
        </p:txBody>
      </p:sp>
      <p:sp>
        <p:nvSpPr>
          <p:cNvPr id="25" name="Text 16"/>
          <p:cNvSpPr txBox="1"/>
          <p:nvPr/>
        </p:nvSpPr>
        <p:spPr>
          <a:xfrm>
            <a:off x="7772400" y="5276088"/>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IDD-Cockpit je Kalenderjahr und PDF mit gutBeraten-ID.</a:t>
            </a:r>
            <a:endParaRPr lang="en-US" sz="1250" dirty="0"/>
          </a:p>
        </p:txBody>
      </p:sp>
      <p:sp>
        <p:nvSpPr>
          <p:cNvPr id="26" name="Shape 17"/>
          <p:cNvSpPr/>
          <p:nvPr/>
        </p:nvSpPr>
        <p:spPr>
          <a:xfrm>
            <a:off x="530352" y="4663440"/>
            <a:ext cx="6035040" cy="1417320"/>
          </a:xfrm>
          <a:prstGeom prst="rect">
            <a:avLst/>
          </a:prstGeom>
          <a:solidFill>
            <a:srgbClr val="001957"/>
          </a:solidFill>
          <a:ln w="12700">
            <a:solidFill>
              <a:srgbClr val="001957"/>
            </a:solidFill>
            <a:prstDash val="solid"/>
          </a:ln>
        </p:spPr>
      </p:sp>
      <p:sp>
        <p:nvSpPr>
          <p:cNvPr id="27" name="Text 18"/>
          <p:cNvSpPr txBox="1"/>
          <p:nvPr/>
        </p:nvSpPr>
        <p:spPr>
          <a:xfrm>
            <a:off x="777240" y="4663440"/>
            <a:ext cx="5577840" cy="1417320"/>
          </a:xfrm>
          <a:prstGeom prst="rect">
            <a:avLst/>
          </a:prstGeom>
          <a:noFill/>
          <a:ln/>
        </p:spPr>
        <p:txBody>
          <a:bodyPr wrap="square" lIns="0" tIns="0" rIns="0" bIns="0" rtlCol="0" anchor="ctr"/>
          <a:lstStyle/>
          <a:p>
            <a:pPr indent="0" marL="0">
              <a:buNone/>
            </a:pPr>
            <a:r>
              <a:rPr lang="en-US" sz="1300" b="1" dirty="0">
                <a:solidFill>
                  <a:srgbClr val="00DCDC"/>
                </a:solidFill>
                <a:latin typeface="Arial" pitchFamily="34" charset="0"/>
                <a:ea typeface="Arial" pitchFamily="34" charset="-122"/>
                <a:cs typeface="Arial" pitchFamily="34" charset="-120"/>
              </a:rPr>
              <a:t>Mitbestimmung: </a:t>
            </a:r>
            <a:pPr indent="0" marL="0">
              <a:buNone/>
            </a:pPr>
            <a:r>
              <a:rPr lang="en-US" sz="1300" dirty="0">
                <a:solidFill>
                  <a:srgbClr val="FFFFFF"/>
                </a:solidFill>
                <a:latin typeface="Arial" pitchFamily="34" charset="0"/>
                <a:ea typeface="Arial" pitchFamily="34" charset="-122"/>
                <a:cs typeface="Arial" pitchFamily="34" charset="-120"/>
              </a:rPr>
              <a:t>Die Bestätigung dient nur der IDD-Anrechnung. Ab Werk ist die Funktion aus. Nachträge brauchen eine Begründung und stehen im Protokoll.</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Personenbezogene Daten: sparsam und zweckgebunden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Öffentlich nur der Benutzername, Anonymisierung nach fünf Jahren oder 12 Monaten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3246120"/>
          </a:xfrm>
          <a:prstGeom prst="rect">
            <a:avLst/>
          </a:prstGeom>
          <a:solidFill>
            <a:srgbClr val="F5F5F5"/>
          </a:solidFill>
          <a:ln w="12700">
            <a:solidFill>
              <a:srgbClr val="F5F5F5"/>
            </a:solidFill>
            <a:prstDash val="solid"/>
          </a:ln>
        </p:spPr>
      </p:sp>
      <p:pic>
        <p:nvPicPr>
          <p:cNvPr id="9" name="Image 1" descr="/tmp/deck/ic/eye_m.png">    </p:cNvPr>
          <p:cNvPicPr>
            <a:picLocks noChangeAspect="1"/>
          </p:cNvPicPr>
          <p:nvPr/>
        </p:nvPicPr>
        <p:blipFill>
          <a:blip r:embed="rId2"/>
          <a:stretch>
            <a:fillRect/>
          </a:stretch>
        </p:blipFill>
        <p:spPr>
          <a:xfrm>
            <a:off x="804672" y="1691640"/>
            <a:ext cx="594360" cy="594360"/>
          </a:xfrm>
          <a:prstGeom prst="rect">
            <a:avLst/>
          </a:prstGeom>
        </p:spPr>
      </p:pic>
      <p:sp>
        <p:nvSpPr>
          <p:cNvPr id="10" name="Text 5"/>
          <p:cNvSpPr txBox="1"/>
          <p:nvPr/>
        </p:nvSpPr>
        <p:spPr>
          <a:xfrm>
            <a:off x="1554480" y="1691640"/>
            <a:ext cx="4297680" cy="59436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Was andere sehen</a:t>
            </a:r>
            <a:endParaRPr lang="en-US" sz="2000" dirty="0"/>
          </a:p>
        </p:txBody>
      </p:sp>
      <p:sp>
        <p:nvSpPr>
          <p:cNvPr id="11" name="Text 6"/>
          <p:cNvSpPr txBox="1"/>
          <p:nvPr/>
        </p:nvSpPr>
        <p:spPr>
          <a:xfrm>
            <a:off x="80467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Standard: nur der frei gewählte Benutzername. Abzeichen erst nach Zustimmung.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Optional: öffentliches Profil mit Themen, Bio, Profilbild und Freigaben.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Anbietende sehen Teilnehmende nur mit Benutzernamen.</a:t>
            </a:r>
            <a:endParaRPr lang="en-US" sz="1400" dirty="0"/>
          </a:p>
        </p:txBody>
      </p:sp>
      <p:sp>
        <p:nvSpPr>
          <p:cNvPr id="12" name="Shape 7"/>
          <p:cNvSpPr/>
          <p:nvPr/>
        </p:nvSpPr>
        <p:spPr>
          <a:xfrm>
            <a:off x="6199632" y="1508760"/>
            <a:ext cx="5486400" cy="3246120"/>
          </a:xfrm>
          <a:prstGeom prst="rect">
            <a:avLst/>
          </a:prstGeom>
          <a:solidFill>
            <a:srgbClr val="001957"/>
          </a:solidFill>
          <a:ln w="12700">
            <a:solidFill>
              <a:srgbClr val="001957"/>
            </a:solidFill>
            <a:prstDash val="solid"/>
          </a:ln>
        </p:spPr>
      </p:sp>
      <p:pic>
        <p:nvPicPr>
          <p:cNvPr id="13" name="Image 2" descr="/tmp/deck/ic/doc_m.png">    </p:cNvPr>
          <p:cNvPicPr>
            <a:picLocks noChangeAspect="1"/>
          </p:cNvPicPr>
          <p:nvPr/>
        </p:nvPicPr>
        <p:blipFill>
          <a:blip r:embed="rId3"/>
          <a:stretch>
            <a:fillRect/>
          </a:stretch>
        </p:blipFill>
        <p:spPr>
          <a:xfrm>
            <a:off x="6473952" y="1691640"/>
            <a:ext cx="594360" cy="594360"/>
          </a:xfrm>
          <a:prstGeom prst="rect">
            <a:avLst/>
          </a:prstGeom>
        </p:spPr>
      </p:pic>
      <p:sp>
        <p:nvSpPr>
          <p:cNvPr id="14" name="Text 8"/>
          <p:cNvSpPr txBox="1"/>
          <p:nvPr/>
        </p:nvSpPr>
        <p:spPr>
          <a:xfrm>
            <a:off x="7223760" y="1691640"/>
            <a:ext cx="4297680" cy="5943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Aufbewahrung und Anonymisierung</a:t>
            </a:r>
            <a:endParaRPr lang="en-US" sz="2000" dirty="0"/>
          </a:p>
        </p:txBody>
      </p:sp>
      <p:sp>
        <p:nvSpPr>
          <p:cNvPr id="15" name="Text 9"/>
          <p:cNvSpPr txBox="1"/>
          <p:nvPr/>
        </p:nvSpPr>
        <p:spPr>
          <a:xfrm>
            <a:off x="6473952" y="2514600"/>
            <a:ext cx="4983480" cy="21488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Dienstlich: bis Ende des 5. Jahres nach dem Kalenderjahr.</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Zweck: ausschließlich Nachweis und Anrechnung (IDD).</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Privat: nur 12 Monate.</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Danach werden sie automatisch anonymisiert.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Konten ohne Anmeldung werden nach 24 Monaten gelöscht.</a:t>
            </a:r>
            <a:endParaRPr lang="en-US" sz="1400" dirty="0"/>
          </a:p>
        </p:txBody>
      </p:sp>
      <p:sp>
        <p:nvSpPr>
          <p:cNvPr id="16" name="Text 10"/>
          <p:cNvSpPr txBox="1"/>
          <p:nvPr/>
        </p:nvSpPr>
        <p:spPr>
          <a:xfrm>
            <a:off x="530352" y="4937760"/>
            <a:ext cx="11155680" cy="320040"/>
          </a:xfrm>
          <a:prstGeom prst="rect">
            <a:avLst/>
          </a:prstGeom>
          <a:noFill/>
          <a:ln/>
        </p:spPr>
        <p:txBody>
          <a:bodyPr wrap="square" lIns="0" tIns="0" rIns="0" bIns="0" rtlCol="0" anchor="t"/>
          <a:lstStyle/>
          <a:p>
            <a:pPr indent="0" marL="0">
              <a:buNone/>
            </a:pPr>
            <a:r>
              <a:rPr lang="en-US" sz="1600" b="1" dirty="0">
                <a:solidFill>
                  <a:srgbClr val="EB6504"/>
                </a:solidFill>
                <a:latin typeface="Arial" pitchFamily="34" charset="0"/>
                <a:ea typeface="Arial" pitchFamily="34" charset="-122"/>
                <a:cs typeface="Arial" pitchFamily="34" charset="-120"/>
              </a:rPr>
              <a:t>Der Zugriff auf personenbezogene Daten ist klar begrenzt</a:t>
            </a:r>
            <a:endParaRPr lang="en-US" sz="1600" dirty="0"/>
          </a:p>
        </p:txBody>
      </p:sp>
      <p:sp>
        <p:nvSpPr>
          <p:cNvPr id="17" name="Shape 11"/>
          <p:cNvSpPr/>
          <p:nvPr/>
        </p:nvSpPr>
        <p:spPr>
          <a:xfrm>
            <a:off x="530352" y="5349240"/>
            <a:ext cx="3566160" cy="731520"/>
          </a:xfrm>
          <a:prstGeom prst="rect">
            <a:avLst/>
          </a:prstGeom>
          <a:solidFill>
            <a:srgbClr val="FFF4E0"/>
          </a:solidFill>
          <a:ln w="12700">
            <a:solidFill>
              <a:srgbClr val="FFF4E0"/>
            </a:solidFill>
            <a:prstDash val="solid"/>
          </a:ln>
        </p:spPr>
      </p:sp>
      <p:pic>
        <p:nvPicPr>
          <p:cNvPr id="18" name="Image 3" descr="/tmp/deck/ic/lock_m.png">    </p:cNvPr>
          <p:cNvPicPr>
            <a:picLocks noChangeAspect="1"/>
          </p:cNvPicPr>
          <p:nvPr/>
        </p:nvPicPr>
        <p:blipFill>
          <a:blip r:embed="rId4"/>
          <a:stretch>
            <a:fillRect/>
          </a:stretch>
        </p:blipFill>
        <p:spPr>
          <a:xfrm>
            <a:off x="713232" y="5468112"/>
            <a:ext cx="493776" cy="493776"/>
          </a:xfrm>
          <a:prstGeom prst="rect">
            <a:avLst/>
          </a:prstGeom>
        </p:spPr>
      </p:pic>
      <p:sp>
        <p:nvSpPr>
          <p:cNvPr id="19" name="Text 12"/>
          <p:cNvSpPr txBox="1"/>
          <p:nvPr/>
        </p:nvSpPr>
        <p:spPr>
          <a:xfrm>
            <a:off x="135331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Nur Administratoren aus VH-VP-TV haben Zugriff</a:t>
            </a:r>
            <a:endParaRPr lang="en-US" sz="1300" dirty="0"/>
          </a:p>
        </p:txBody>
      </p:sp>
      <p:sp>
        <p:nvSpPr>
          <p:cNvPr id="20" name="Shape 13"/>
          <p:cNvSpPr/>
          <p:nvPr/>
        </p:nvSpPr>
        <p:spPr>
          <a:xfrm>
            <a:off x="4325112" y="5349240"/>
            <a:ext cx="3566160" cy="731520"/>
          </a:xfrm>
          <a:prstGeom prst="rect">
            <a:avLst/>
          </a:prstGeom>
          <a:solidFill>
            <a:srgbClr val="FFF4E0"/>
          </a:solidFill>
          <a:ln w="12700">
            <a:solidFill>
              <a:srgbClr val="FFF4E0"/>
            </a:solidFill>
            <a:prstDash val="solid"/>
          </a:ln>
        </p:spPr>
      </p:sp>
      <p:pic>
        <p:nvPicPr>
          <p:cNvPr id="21" name="Image 4" descr="/tmp/deck/ic/shield_m.png">    </p:cNvPr>
          <p:cNvPicPr>
            <a:picLocks noChangeAspect="1"/>
          </p:cNvPicPr>
          <p:nvPr/>
        </p:nvPicPr>
        <p:blipFill>
          <a:blip r:embed="rId5"/>
          <a:stretch>
            <a:fillRect/>
          </a:stretch>
        </p:blipFill>
        <p:spPr>
          <a:xfrm>
            <a:off x="4507992" y="5468112"/>
            <a:ext cx="493776" cy="493776"/>
          </a:xfrm>
          <a:prstGeom prst="rect">
            <a:avLst/>
          </a:prstGeom>
        </p:spPr>
      </p:pic>
      <p:sp>
        <p:nvSpPr>
          <p:cNvPr id="22" name="Text 14"/>
          <p:cNvSpPr txBox="1"/>
          <p:nvPr/>
        </p:nvSpPr>
        <p:spPr>
          <a:xfrm>
            <a:off x="514807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Die Daten werden nicht veröffentlicht</a:t>
            </a:r>
            <a:endParaRPr lang="en-US" sz="1300" dirty="0"/>
          </a:p>
        </p:txBody>
      </p:sp>
      <p:sp>
        <p:nvSpPr>
          <p:cNvPr id="23" name="Shape 15"/>
          <p:cNvSpPr/>
          <p:nvPr/>
        </p:nvSpPr>
        <p:spPr>
          <a:xfrm>
            <a:off x="8119872" y="5349240"/>
            <a:ext cx="3566160" cy="731520"/>
          </a:xfrm>
          <a:prstGeom prst="rect">
            <a:avLst/>
          </a:prstGeom>
          <a:solidFill>
            <a:srgbClr val="FFF4E0"/>
          </a:solidFill>
          <a:ln w="12700">
            <a:solidFill>
              <a:srgbClr val="FFF4E0"/>
            </a:solidFill>
            <a:prstDash val="solid"/>
          </a:ln>
        </p:spPr>
      </p:sp>
      <p:pic>
        <p:nvPicPr>
          <p:cNvPr id="24" name="Image 5" descr="/tmp/deck/ic/mail_m.png">    </p:cNvPr>
          <p:cNvPicPr>
            <a:picLocks noChangeAspect="1"/>
          </p:cNvPicPr>
          <p:nvPr/>
        </p:nvPicPr>
        <p:blipFill>
          <a:blip r:embed="rId6"/>
          <a:stretch>
            <a:fillRect/>
          </a:stretch>
        </p:blipFill>
        <p:spPr>
          <a:xfrm>
            <a:off x="8302752" y="5468112"/>
            <a:ext cx="493776" cy="493776"/>
          </a:xfrm>
          <a:prstGeom prst="rect">
            <a:avLst/>
          </a:prstGeom>
        </p:spPr>
      </p:pic>
      <p:sp>
        <p:nvSpPr>
          <p:cNvPr id="25" name="Text 16"/>
          <p:cNvSpPr txBox="1"/>
          <p:nvPr/>
        </p:nvSpPr>
        <p:spPr>
          <a:xfrm>
            <a:off x="894283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Kein E-Mail-Versand</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IT-Sicherheit und Datenschutz: technisch umgesetzt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Regeln stecken in der Plattform, nicht nur im Konzept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3886200"/>
          </a:xfrm>
          <a:prstGeom prst="rect">
            <a:avLst/>
          </a:prstGeom>
          <a:solidFill>
            <a:srgbClr val="F5F5F5"/>
          </a:solidFill>
          <a:ln w="12700">
            <a:solidFill>
              <a:srgbClr val="F5F5F5"/>
            </a:solidFill>
            <a:prstDash val="solid"/>
          </a:ln>
        </p:spPr>
      </p:sp>
      <p:pic>
        <p:nvPicPr>
          <p:cNvPr id="9" name="Image 1" descr="/tmp/deck/ic/people_m.png">    </p:cNvPr>
          <p:cNvPicPr>
            <a:picLocks noChangeAspect="1"/>
          </p:cNvPicPr>
          <p:nvPr/>
        </p:nvPicPr>
        <p:blipFill>
          <a:blip r:embed="rId2"/>
          <a:stretch>
            <a:fillRect/>
          </a:stretch>
        </p:blipFill>
        <p:spPr>
          <a:xfrm>
            <a:off x="804672" y="1737360"/>
            <a:ext cx="640080" cy="640080"/>
          </a:xfrm>
          <a:prstGeom prst="rect">
            <a:avLst/>
          </a:prstGeom>
        </p:spPr>
      </p:pic>
      <p:sp>
        <p:nvSpPr>
          <p:cNvPr id="10" name="Text 5"/>
          <p:cNvSpPr txBox="1"/>
          <p:nvPr/>
        </p:nvSpPr>
        <p:spPr>
          <a:xfrm>
            <a:off x="80467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Rechte der Beschäftigten</a:t>
            </a:r>
            <a:endParaRPr lang="en-US" sz="1900" dirty="0"/>
          </a:p>
        </p:txBody>
      </p:sp>
      <p:sp>
        <p:nvSpPr>
          <p:cNvPr id="11" name="Text 6"/>
          <p:cNvSpPr txBox="1"/>
          <p:nvPr/>
        </p:nvSpPr>
        <p:spPr>
          <a:xfrm>
            <a:off x="80467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Eigene Daten jederzeit herunterladen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Konto selbst löschen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Profil und Profilbild freiwillig, Abzeichen nur nach Zustimmung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Bewertungen anonym, Durchschnitt erst ab drei Stimmen</a:t>
            </a:r>
            <a:endParaRPr lang="en-US" sz="1400" dirty="0"/>
          </a:p>
        </p:txBody>
      </p:sp>
      <p:sp>
        <p:nvSpPr>
          <p:cNvPr id="12" name="Shape 7"/>
          <p:cNvSpPr/>
          <p:nvPr/>
        </p:nvSpPr>
        <p:spPr>
          <a:xfrm>
            <a:off x="4325112" y="1508760"/>
            <a:ext cx="3566160" cy="3886200"/>
          </a:xfrm>
          <a:prstGeom prst="rect">
            <a:avLst/>
          </a:prstGeom>
          <a:solidFill>
            <a:srgbClr val="001957"/>
          </a:solidFill>
          <a:ln w="12700">
            <a:solidFill>
              <a:srgbClr val="001957"/>
            </a:solidFill>
            <a:prstDash val="solid"/>
          </a:ln>
        </p:spPr>
      </p:sp>
      <p:pic>
        <p:nvPicPr>
          <p:cNvPr id="13" name="Image 2" descr="/tmp/deck/ic/scale_m.png">    </p:cNvPr>
          <p:cNvPicPr>
            <a:picLocks noChangeAspect="1"/>
          </p:cNvPicPr>
          <p:nvPr/>
        </p:nvPicPr>
        <p:blipFill>
          <a:blip r:embed="rId3"/>
          <a:stretch>
            <a:fillRect/>
          </a:stretch>
        </p:blipFill>
        <p:spPr>
          <a:xfrm>
            <a:off x="4599432" y="1737360"/>
            <a:ext cx="640080" cy="640080"/>
          </a:xfrm>
          <a:prstGeom prst="rect">
            <a:avLst/>
          </a:prstGeom>
        </p:spPr>
      </p:pic>
      <p:sp>
        <p:nvSpPr>
          <p:cNvPr id="14" name="Text 8"/>
          <p:cNvSpPr txBox="1"/>
          <p:nvPr/>
        </p:nvSpPr>
        <p:spPr>
          <a:xfrm>
            <a:off x="4599432" y="2468880"/>
            <a:ext cx="3063240" cy="731520"/>
          </a:xfrm>
          <a:prstGeom prst="rect">
            <a:avLst/>
          </a:prstGeom>
          <a:noFill/>
          <a:ln/>
        </p:spPr>
        <p:txBody>
          <a:bodyPr wrap="square" lIns="0" tIns="0" rIns="0" bIns="0" rtlCol="0" anchor="t"/>
          <a:lstStyle/>
          <a:p>
            <a:pPr indent="0" marL="0">
              <a:buNone/>
            </a:pPr>
            <a:r>
              <a:rPr lang="en-US" sz="1900" b="1" dirty="0">
                <a:solidFill>
                  <a:srgbClr val="FFFFFF"/>
                </a:solidFill>
                <a:latin typeface="Arial" pitchFamily="34" charset="0"/>
                <a:ea typeface="Arial" pitchFamily="34" charset="-122"/>
                <a:cs typeface="Arial" pitchFamily="34" charset="-120"/>
              </a:rPr>
              <a:t>Keine Leistungskontrolle</a:t>
            </a:r>
            <a:endParaRPr lang="en-US" sz="1900" dirty="0"/>
          </a:p>
        </p:txBody>
      </p:sp>
      <p:sp>
        <p:nvSpPr>
          <p:cNvPr id="15" name="Text 9"/>
          <p:cNvSpPr txBox="1"/>
          <p:nvPr/>
        </p:nvSpPr>
        <p:spPr>
          <a:xfrm>
            <a:off x="459943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Ranglisten, Statistik nur zusammengefasst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Anmeldezeiten je Person</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Sterne je Person, auch nicht für Admins</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Wer privat teilnimmt, sieht die Administration nicht</a:t>
            </a:r>
            <a:endParaRPr lang="en-US" sz="1400" dirty="0"/>
          </a:p>
        </p:txBody>
      </p:sp>
      <p:sp>
        <p:nvSpPr>
          <p:cNvPr id="16" name="Shape 10"/>
          <p:cNvSpPr/>
          <p:nvPr/>
        </p:nvSpPr>
        <p:spPr>
          <a:xfrm>
            <a:off x="8119872" y="1508760"/>
            <a:ext cx="3566160" cy="3886200"/>
          </a:xfrm>
          <a:prstGeom prst="rect">
            <a:avLst/>
          </a:prstGeom>
          <a:solidFill>
            <a:srgbClr val="F5F5F5"/>
          </a:solidFill>
          <a:ln w="12700">
            <a:solidFill>
              <a:srgbClr val="F5F5F5"/>
            </a:solidFill>
            <a:prstDash val="solid"/>
          </a:ln>
        </p:spPr>
      </p:sp>
      <p:pic>
        <p:nvPicPr>
          <p:cNvPr id="17" name="Image 3" descr="/tmp/deck/ic/lock_m.png">    </p:cNvPr>
          <p:cNvPicPr>
            <a:picLocks noChangeAspect="1"/>
          </p:cNvPicPr>
          <p:nvPr/>
        </p:nvPicPr>
        <p:blipFill>
          <a:blip r:embed="rId4"/>
          <a:stretch>
            <a:fillRect/>
          </a:stretch>
        </p:blipFill>
        <p:spPr>
          <a:xfrm>
            <a:off x="8394192" y="1737360"/>
            <a:ext cx="640080" cy="640080"/>
          </a:xfrm>
          <a:prstGeom prst="rect">
            <a:avLst/>
          </a:prstGeom>
        </p:spPr>
      </p:pic>
      <p:sp>
        <p:nvSpPr>
          <p:cNvPr id="18" name="Text 11"/>
          <p:cNvSpPr txBox="1"/>
          <p:nvPr/>
        </p:nvSpPr>
        <p:spPr>
          <a:xfrm>
            <a:off x="839419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Technischer Schutz</a:t>
            </a:r>
            <a:endParaRPr lang="en-US" sz="1900" dirty="0"/>
          </a:p>
        </p:txBody>
      </p:sp>
      <p:sp>
        <p:nvSpPr>
          <p:cNvPr id="19" name="Text 12"/>
          <p:cNvSpPr txBox="1"/>
          <p:nvPr/>
        </p:nvSpPr>
        <p:spPr>
          <a:xfrm>
            <a:off x="839419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Passwörter nur als sicherer Hash gespeichert</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Abmelden beendet die Sitzung auf dem Server</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Schutz vor fremden Formularen, Skripten und Einbettung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Uploads geprüft, Admin-Änderungen protokolliert</a:t>
            </a:r>
            <a:endParaRPr lang="en-US" sz="1400" dirty="0"/>
          </a:p>
        </p:txBody>
      </p:sp>
      <p:sp>
        <p:nvSpPr>
          <p:cNvPr id="20" name="Shape 13"/>
          <p:cNvSpPr/>
          <p:nvPr/>
        </p:nvSpPr>
        <p:spPr>
          <a:xfrm>
            <a:off x="530352" y="5577840"/>
            <a:ext cx="11155680" cy="548640"/>
          </a:xfrm>
          <a:prstGeom prst="rect">
            <a:avLst/>
          </a:prstGeom>
          <a:solidFill>
            <a:srgbClr val="FFF4E0"/>
          </a:solidFill>
          <a:ln w="12700">
            <a:solidFill>
              <a:srgbClr val="FFF4E0"/>
            </a:solidFill>
            <a:prstDash val="solid"/>
          </a:ln>
        </p:spPr>
      </p:sp>
      <p:sp>
        <p:nvSpPr>
          <p:cNvPr id="21" name="Text 14"/>
          <p:cNvSpPr txBox="1"/>
          <p:nvPr/>
        </p:nvSpPr>
        <p:spPr>
          <a:xfrm>
            <a:off x="804672" y="5577840"/>
            <a:ext cx="10607040" cy="54864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Ohne HTTPS nur im internen Netz betreiben. HTTPS empfehlen wir. Es werden keine E-Mails verschickt.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Mitbestimmung: früh und gemeinsam</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bitten um die Einleitung des Verfahrens mit dem Betriebsrat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scale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Warum</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Nahezu jedes IT-System mit Beschäftigtendaten unterliegt der Mitbestimmung (§ 87 Abs. 1 Nr. 6 BetrVG).</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Die Plattform verarbeitet Name, XV-Nummer, E-Mail-Adresse, Anmeldungen, Bewertungen und freiwillig ein Profilbild.</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Je früher wir sprechen, desto besser wird die Lösung.</a:t>
            </a:r>
            <a:endParaRPr lang="en-US" sz="1400" dirty="0"/>
          </a:p>
        </p:txBody>
      </p:sp>
      <p:sp>
        <p:nvSpPr>
          <p:cNvPr id="12" name="Shape 7"/>
          <p:cNvSpPr/>
          <p:nvPr/>
        </p:nvSpPr>
        <p:spPr>
          <a:xfrm>
            <a:off x="4325112" y="1508760"/>
            <a:ext cx="3566160" cy="4572000"/>
          </a:xfrm>
          <a:prstGeom prst="rect">
            <a:avLst/>
          </a:prstGeom>
          <a:solidFill>
            <a:srgbClr val="001957"/>
          </a:solidFill>
          <a:ln w="12700">
            <a:solidFill>
              <a:srgbClr val="001957"/>
            </a:solidFill>
            <a:prstDash val="solid"/>
          </a:ln>
        </p:spPr>
      </p:sp>
      <p:pic>
        <p:nvPicPr>
          <p:cNvPr id="13" name="Image 2" descr="/tmp/deck/ic/check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Unser Vorschlag</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Zweck, Datenarten, Zugriffe und Fristen schriftlich regeln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Bewertungen und Abzeichen dienen der Motivation, eine Leistungskontrolle ist technisch ausgeschlossen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Teilnahme und Angebot bleiben freiwillig</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Arbeitszeitregel für dienstliche Sessions abstimmen</a:t>
            </a:r>
            <a:endParaRPr lang="en-US" sz="14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team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Nächste Schritte</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Vorstellung im Führungskreis</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Abstimmung mit Datenschutz</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Gespräch mit dem Betriebsrat</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Freigabe des Pilots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Risiken und Gegenmaßnahmen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kennen die Stolpersteine und haben eine Antwort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3474720"/>
                <a:gridCol w="768096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Risiko</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Gegenmaßnahme</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Zu wenige Angebote am Anfang</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Führungskräfte und Fachleute bieten die ersten Termine an. Die Administration spricht gezielt Anbietende an.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914400">
                <a:tc>
                  <a:txBody>
                    <a:bodyPr/>
                    <a:lstStyle/>
                    <a:p>
                      <a:pPr indent="0" marL="0">
                        <a:buNone/>
                      </a:pPr>
                      <a:r>
                        <a:rPr lang="en-US" sz="1300" b="1" dirty="0">
                          <a:solidFill>
                            <a:srgbClr val="001957"/>
                          </a:solidFill>
                          <a:latin typeface="Arial" pitchFamily="34" charset="0"/>
                          <a:ea typeface="Arial" pitchFamily="34" charset="-122"/>
                          <a:cs typeface="Arial" pitchFamily="34" charset="-120"/>
                        </a:rPr>
                        <a:t>Falsche Erwartungen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 kommunizieren: IDD zählt nur bei bestätigter Teilnahme, private Sessions sind keine Arbeitszeit, dienstliche Sessions erfordern das Einstechen.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Datenschutz und Vertrauen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Datensparsame Plattform, automatische Anonymisierung, Zugriff nur für VH-VP-TV, Einbindung des Betriebsrats.</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Schwankende Qualität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Klare Spielregeln, Bewertungen mit Sternen, Abzeichen für aktive Anbietende, Termine lassen sich bearbeiten oder entfernen.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IDD-Meldung dauert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Der Pilot läuft unabhängig davon. Bis zur Meldung an gutBeraten laden Teilnehmende ihren PDF-Nachweis herunter.</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Fahrplan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Drei Phasen vom Pilot bis zum Ausbau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868680"/>
          </a:xfrm>
          <a:prstGeom prst="rect">
            <a:avLst/>
          </a:prstGeom>
          <a:solidFill>
            <a:srgbClr val="109DA8"/>
          </a:solidFill>
          <a:ln w="12700">
            <a:solidFill>
              <a:srgbClr val="109DA8"/>
            </a:solidFill>
            <a:prstDash val="solid"/>
          </a:ln>
        </p:spPr>
      </p:sp>
      <p:sp>
        <p:nvSpPr>
          <p:cNvPr id="9" name="Text 5"/>
          <p:cNvSpPr txBox="1"/>
          <p:nvPr/>
        </p:nvSpPr>
        <p:spPr>
          <a:xfrm>
            <a:off x="80467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6"/>
          <p:cNvSpPr txBox="1"/>
          <p:nvPr/>
        </p:nvSpPr>
        <p:spPr>
          <a:xfrm>
            <a:off x="80467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Pilot im Außendienst</a:t>
            </a:r>
            <a:endParaRPr lang="en-US" sz="2000" dirty="0"/>
          </a:p>
        </p:txBody>
      </p:sp>
      <p:sp>
        <p:nvSpPr>
          <p:cNvPr id="11" name="Shape 7"/>
          <p:cNvSpPr/>
          <p:nvPr/>
        </p:nvSpPr>
        <p:spPr>
          <a:xfrm>
            <a:off x="530352" y="2377440"/>
            <a:ext cx="3566160" cy="3703320"/>
          </a:xfrm>
          <a:prstGeom prst="rect">
            <a:avLst/>
          </a:prstGeom>
          <a:solidFill>
            <a:srgbClr val="F5F5F5"/>
          </a:solidFill>
          <a:ln w="12700">
            <a:solidFill>
              <a:srgbClr val="F5F5F5"/>
            </a:solidFill>
            <a:prstDash val="solid"/>
          </a:ln>
        </p:spPr>
      </p:sp>
      <p:sp>
        <p:nvSpPr>
          <p:cNvPr id="12" name="Text 8"/>
          <p:cNvSpPr txBox="1"/>
          <p:nvPr/>
        </p:nvSpPr>
        <p:spPr>
          <a:xfrm>
            <a:off x="80467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Freigaben und Mitbestimmung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Datenkonzept mit Datenschutz abstimmen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Regeln klar kommunizieren: Arbeitszeit und IDD</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Erste Anbietende gewinnen, auch Führungskräfte</a:t>
            </a:r>
            <a:endParaRPr lang="en-US" sz="1500" dirty="0"/>
          </a:p>
        </p:txBody>
      </p:sp>
      <p:sp>
        <p:nvSpPr>
          <p:cNvPr id="13" name="Shape 9"/>
          <p:cNvSpPr/>
          <p:nvPr/>
        </p:nvSpPr>
        <p:spPr>
          <a:xfrm>
            <a:off x="4325112" y="1508760"/>
            <a:ext cx="3566160" cy="868680"/>
          </a:xfrm>
          <a:prstGeom prst="rect">
            <a:avLst/>
          </a:prstGeom>
          <a:solidFill>
            <a:srgbClr val="001957"/>
          </a:solidFill>
          <a:ln w="12700">
            <a:solidFill>
              <a:srgbClr val="001957"/>
            </a:solidFill>
            <a:prstDash val="solid"/>
          </a:ln>
        </p:spPr>
      </p:sp>
      <p:sp>
        <p:nvSpPr>
          <p:cNvPr id="14" name="Text 10"/>
          <p:cNvSpPr txBox="1"/>
          <p:nvPr/>
        </p:nvSpPr>
        <p:spPr>
          <a:xfrm>
            <a:off x="459943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15" name="Text 11"/>
          <p:cNvSpPr txBox="1"/>
          <p:nvPr/>
        </p:nvSpPr>
        <p:spPr>
          <a:xfrm>
            <a:off x="459943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IDD starten</a:t>
            </a:r>
            <a:endParaRPr lang="en-US" sz="2000" dirty="0"/>
          </a:p>
        </p:txBody>
      </p:sp>
      <p:sp>
        <p:nvSpPr>
          <p:cNvPr id="16" name="Shape 12"/>
          <p:cNvSpPr/>
          <p:nvPr/>
        </p:nvSpPr>
        <p:spPr>
          <a:xfrm>
            <a:off x="4325112" y="2377440"/>
            <a:ext cx="3566160" cy="3703320"/>
          </a:xfrm>
          <a:prstGeom prst="rect">
            <a:avLst/>
          </a:prstGeom>
          <a:solidFill>
            <a:srgbClr val="F5F5F5"/>
          </a:solidFill>
          <a:ln w="12700">
            <a:solidFill>
              <a:srgbClr val="F5F5F5"/>
            </a:solidFill>
            <a:prstDash val="solid"/>
          </a:ln>
        </p:spPr>
      </p:sp>
      <p:sp>
        <p:nvSpPr>
          <p:cNvPr id="17" name="Text 13"/>
          <p:cNvSpPr txBox="1"/>
          <p:nvPr/>
        </p:nvSpPr>
        <p:spPr>
          <a:xfrm>
            <a:off x="459943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IDD-Funktion freigeben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Meldung an gutBeraten umsetzen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Pilot auswerten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Themen und Regeln schärfen</a:t>
            </a:r>
            <a:endParaRPr lang="en-US" sz="1500" dirty="0"/>
          </a:p>
        </p:txBody>
      </p:sp>
      <p:sp>
        <p:nvSpPr>
          <p:cNvPr id="18" name="Shape 14"/>
          <p:cNvSpPr/>
          <p:nvPr/>
        </p:nvSpPr>
        <p:spPr>
          <a:xfrm>
            <a:off x="8119872" y="1508760"/>
            <a:ext cx="3566160" cy="868680"/>
          </a:xfrm>
          <a:prstGeom prst="rect">
            <a:avLst/>
          </a:prstGeom>
          <a:solidFill>
            <a:srgbClr val="EB6504"/>
          </a:solidFill>
          <a:ln w="12700">
            <a:solidFill>
              <a:srgbClr val="EB6504"/>
            </a:solidFill>
            <a:prstDash val="solid"/>
          </a:ln>
        </p:spPr>
      </p:sp>
      <p:sp>
        <p:nvSpPr>
          <p:cNvPr id="19" name="Text 15"/>
          <p:cNvSpPr txBox="1"/>
          <p:nvPr/>
        </p:nvSpPr>
        <p:spPr>
          <a:xfrm>
            <a:off x="839419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20" name="Text 16"/>
          <p:cNvSpPr txBox="1"/>
          <p:nvPr/>
        </p:nvSpPr>
        <p:spPr>
          <a:xfrm>
            <a:off x="839419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Ausbau</a:t>
            </a:r>
            <a:endParaRPr lang="en-US" sz="2000" dirty="0"/>
          </a:p>
        </p:txBody>
      </p:sp>
      <p:sp>
        <p:nvSpPr>
          <p:cNvPr id="21" name="Shape 17"/>
          <p:cNvSpPr/>
          <p:nvPr/>
        </p:nvSpPr>
        <p:spPr>
          <a:xfrm>
            <a:off x="8119872" y="2377440"/>
            <a:ext cx="3566160" cy="3703320"/>
          </a:xfrm>
          <a:prstGeom prst="rect">
            <a:avLst/>
          </a:prstGeom>
          <a:solidFill>
            <a:srgbClr val="F5F5F5"/>
          </a:solidFill>
          <a:ln w="12700">
            <a:solidFill>
              <a:srgbClr val="F5F5F5"/>
            </a:solidFill>
            <a:prstDash val="solid"/>
          </a:ln>
        </p:spPr>
      </p:sp>
      <p:sp>
        <p:nvSpPr>
          <p:cNvPr id="22" name="Text 18"/>
          <p:cNvSpPr txBox="1"/>
          <p:nvPr/>
        </p:nvSpPr>
        <p:spPr>
          <a:xfrm>
            <a:off x="839419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IDD-Termine im Regelbetrieb</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Mehr Anbietende und Themen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Innendienst gezielt einladen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Community-Formate ergänzen</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Entscheidung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Das bitten wir zu entscheiden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2057400"/>
          </a:xfrm>
          <a:prstGeom prst="rect">
            <a:avLst/>
          </a:prstGeom>
          <a:solidFill>
            <a:srgbClr val="001957"/>
          </a:solidFill>
          <a:ln w="12700">
            <a:solidFill>
              <a:srgbClr val="001957"/>
            </a:solidFill>
            <a:prstDash val="solid"/>
          </a:ln>
        </p:spPr>
      </p:sp>
      <p:pic>
        <p:nvPicPr>
          <p:cNvPr id="9" name="Image 1" descr="/tmp/deck/ic/check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1810512" y="1783080"/>
            <a:ext cx="393192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Freigabe für den Pilot</a:t>
            </a:r>
            <a:endParaRPr lang="en-US" sz="2000" dirty="0"/>
          </a:p>
        </p:txBody>
      </p:sp>
      <p:sp>
        <p:nvSpPr>
          <p:cNvPr id="11" name="Text 6"/>
          <p:cNvSpPr txBox="1"/>
          <p:nvPr/>
        </p:nvSpPr>
        <p:spPr>
          <a:xfrm>
            <a:off x="1810512" y="2560320"/>
            <a:ext cx="39319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LearnTogether@AD startet als Pilot für den R+V-Außendienst, rund 6.000 Personen.</a:t>
            </a:r>
            <a:endParaRPr lang="en-US" sz="1400" dirty="0"/>
          </a:p>
        </p:txBody>
      </p:sp>
      <p:sp>
        <p:nvSpPr>
          <p:cNvPr id="12" name="Shape 7"/>
          <p:cNvSpPr/>
          <p:nvPr/>
        </p:nvSpPr>
        <p:spPr>
          <a:xfrm>
            <a:off x="6199632" y="1508760"/>
            <a:ext cx="5394960" cy="2057400"/>
          </a:xfrm>
          <a:prstGeom prst="rect">
            <a:avLst/>
          </a:prstGeom>
          <a:solidFill>
            <a:srgbClr val="F5F5F5"/>
          </a:solidFill>
          <a:ln w="12700">
            <a:solidFill>
              <a:srgbClr val="F5F5F5"/>
            </a:solidFill>
            <a:prstDash val="solid"/>
          </a:ln>
        </p:spPr>
      </p:sp>
      <p:pic>
        <p:nvPicPr>
          <p:cNvPr id="13" name="Image 2" descr="/tmp/deck/ic/scale_m.png">    </p:cNvPr>
          <p:cNvPicPr>
            <a:picLocks noChangeAspect="1"/>
          </p:cNvPicPr>
          <p:nvPr/>
        </p:nvPicPr>
        <p:blipFill>
          <a:blip r:embed="rId3"/>
          <a:stretch>
            <a:fillRect/>
          </a:stretch>
        </p:blipFill>
        <p:spPr>
          <a:xfrm>
            <a:off x="6473952" y="1783080"/>
            <a:ext cx="731520" cy="731520"/>
          </a:xfrm>
          <a:prstGeom prst="rect">
            <a:avLst/>
          </a:prstGeom>
        </p:spPr>
      </p:pic>
      <p:sp>
        <p:nvSpPr>
          <p:cNvPr id="14" name="Text 8"/>
          <p:cNvSpPr txBox="1"/>
          <p:nvPr/>
        </p:nvSpPr>
        <p:spPr>
          <a:xfrm>
            <a:off x="7479792" y="1783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Mitbestimmung und Datenkonzept</a:t>
            </a:r>
            <a:endParaRPr lang="en-US" sz="2000" dirty="0"/>
          </a:p>
        </p:txBody>
      </p:sp>
      <p:sp>
        <p:nvSpPr>
          <p:cNvPr id="15" name="Text 9"/>
          <p:cNvSpPr txBox="1"/>
          <p:nvPr/>
        </p:nvSpPr>
        <p:spPr>
          <a:xfrm>
            <a:off x="7479792" y="2560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Verfahren mit dem Betriebsrat einleiten. Datenkonzept und Arbeitszeitregel gemeinsam festlegen.</a:t>
            </a:r>
            <a:endParaRPr lang="en-US" sz="1400" dirty="0"/>
          </a:p>
        </p:txBody>
      </p:sp>
      <p:sp>
        <p:nvSpPr>
          <p:cNvPr id="16" name="Shape 10"/>
          <p:cNvSpPr/>
          <p:nvPr/>
        </p:nvSpPr>
        <p:spPr>
          <a:xfrm>
            <a:off x="530352" y="3794760"/>
            <a:ext cx="5394960" cy="2057400"/>
          </a:xfrm>
          <a:prstGeom prst="rect">
            <a:avLst/>
          </a:prstGeom>
          <a:solidFill>
            <a:srgbClr val="F5F5F5"/>
          </a:solidFill>
          <a:ln w="12700">
            <a:solidFill>
              <a:srgbClr val="F5F5F5"/>
            </a:solidFill>
            <a:prstDash val="solid"/>
          </a:ln>
        </p:spPr>
      </p:sp>
      <p:pic>
        <p:nvPicPr>
          <p:cNvPr id="17" name="Image 3" descr="/tmp/deck/ic/target_m.png">    </p:cNvPr>
          <p:cNvPicPr>
            <a:picLocks noChangeAspect="1"/>
          </p:cNvPicPr>
          <p:nvPr/>
        </p:nvPicPr>
        <p:blipFill>
          <a:blip r:embed="rId4"/>
          <a:stretch>
            <a:fillRect/>
          </a:stretch>
        </p:blipFill>
        <p:spPr>
          <a:xfrm>
            <a:off x="804672" y="4069080"/>
            <a:ext cx="731520" cy="731520"/>
          </a:xfrm>
          <a:prstGeom prst="rect">
            <a:avLst/>
          </a:prstGeom>
        </p:spPr>
      </p:pic>
      <p:sp>
        <p:nvSpPr>
          <p:cNvPr id="18" name="Text 11"/>
          <p:cNvSpPr txBox="1"/>
          <p:nvPr/>
        </p:nvSpPr>
        <p:spPr>
          <a:xfrm>
            <a:off x="181051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Freigabe der IDD-Funktion</a:t>
            </a:r>
            <a:endParaRPr lang="en-US" sz="2000" dirty="0"/>
          </a:p>
        </p:txBody>
      </p:sp>
      <p:sp>
        <p:nvSpPr>
          <p:cNvPr id="19" name="Text 12"/>
          <p:cNvSpPr txBox="1"/>
          <p:nvPr/>
        </p:nvSpPr>
        <p:spPr>
          <a:xfrm>
            <a:off x="181051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Compliance und Datenschutz prüfen die Umsetzung. Danach Meldung an gutBeraten umsetzen und einschalten.</a:t>
            </a:r>
            <a:endParaRPr lang="en-US" sz="1400" dirty="0"/>
          </a:p>
        </p:txBody>
      </p:sp>
      <p:sp>
        <p:nvSpPr>
          <p:cNvPr id="20" name="Shape 13"/>
          <p:cNvSpPr/>
          <p:nvPr/>
        </p:nvSpPr>
        <p:spPr>
          <a:xfrm>
            <a:off x="6199632" y="3794760"/>
            <a:ext cx="5394960" cy="2057400"/>
          </a:xfrm>
          <a:prstGeom prst="rect">
            <a:avLst/>
          </a:prstGeom>
          <a:solidFill>
            <a:srgbClr val="F5F5F5"/>
          </a:solidFill>
          <a:ln w="12700">
            <a:solidFill>
              <a:srgbClr val="F5F5F5"/>
            </a:solidFill>
            <a:prstDash val="solid"/>
          </a:ln>
        </p:spPr>
      </p:sp>
      <p:pic>
        <p:nvPicPr>
          <p:cNvPr id="21" name="Image 4" descr="/tmp/deck/ic/team_m.png">    </p:cNvPr>
          <p:cNvPicPr>
            <a:picLocks noChangeAspect="1"/>
          </p:cNvPicPr>
          <p:nvPr/>
        </p:nvPicPr>
        <p:blipFill>
          <a:blip r:embed="rId5"/>
          <a:stretch>
            <a:fillRect/>
          </a:stretch>
        </p:blipFill>
        <p:spPr>
          <a:xfrm>
            <a:off x="6473952" y="4069080"/>
            <a:ext cx="731520" cy="731520"/>
          </a:xfrm>
          <a:prstGeom prst="rect">
            <a:avLst/>
          </a:prstGeom>
        </p:spPr>
      </p:pic>
      <p:sp>
        <p:nvSpPr>
          <p:cNvPr id="22" name="Text 14"/>
          <p:cNvSpPr txBox="1"/>
          <p:nvPr/>
        </p:nvSpPr>
        <p:spPr>
          <a:xfrm>
            <a:off x="747979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Betrieb in VH-VP-TV</a:t>
            </a:r>
            <a:endParaRPr lang="en-US" sz="2000" dirty="0"/>
          </a:p>
        </p:txBody>
      </p:sp>
      <p:sp>
        <p:nvSpPr>
          <p:cNvPr id="23" name="Text 15"/>
          <p:cNvSpPr txBox="1"/>
          <p:nvPr/>
        </p:nvSpPr>
        <p:spPr>
          <a:xfrm>
            <a:off x="747979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Administration liegt bei Training &amp; Entwicklung Vertrieb, Gruppe Produktion. Führungskräfte gehen mit ersten Terminen voran.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7936992" y="0"/>
            <a:ext cx="4254703" cy="6858000"/>
          </a:xfrm>
          <a:prstGeom prst="rect">
            <a:avLst/>
          </a:prstGeom>
        </p:spPr>
      </p:pic>
      <p:sp>
        <p:nvSpPr>
          <p:cNvPr id="3" name="Text 0"/>
          <p:cNvSpPr txBox="1"/>
          <p:nvPr/>
        </p:nvSpPr>
        <p:spPr>
          <a:xfrm>
            <a:off x="530352" y="411480"/>
            <a:ext cx="6858000" cy="365760"/>
          </a:xfrm>
          <a:prstGeom prst="rect">
            <a:avLst/>
          </a:prstGeom>
          <a:noFill/>
          <a:ln/>
        </p:spPr>
        <p:txBody>
          <a:bodyPr wrap="square" lIns="0" tIns="0" rIns="0" bIns="0" rtlCol="0" anchor="t"/>
          <a:lstStyle/>
          <a:p>
            <a:pPr indent="0" marL="0">
              <a:buNone/>
            </a:pPr>
            <a:r>
              <a:rPr lang="en-US" sz="1600" b="1" dirty="0">
                <a:solidFill>
                  <a:srgbClr val="F79506"/>
                </a:solidFill>
                <a:latin typeface="Georgia" pitchFamily="34" charset="0"/>
                <a:ea typeface="Georgia" pitchFamily="34" charset="-122"/>
                <a:cs typeface="Georgia" pitchFamily="34" charset="-120"/>
              </a:rPr>
              <a:t>Mitmachen</a:t>
            </a:r>
            <a:endParaRPr lang="en-US" sz="1600" dirty="0"/>
          </a:p>
        </p:txBody>
      </p:sp>
      <p:sp>
        <p:nvSpPr>
          <p:cNvPr id="4" name="Text 1"/>
          <p:cNvSpPr txBox="1"/>
          <p:nvPr/>
        </p:nvSpPr>
        <p:spPr>
          <a:xfrm>
            <a:off x="530352" y="822960"/>
            <a:ext cx="713232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Werden Sie </a:t>
            </a:r>
            <a:pPr indent="0" marL="0">
              <a:buNone/>
            </a:pPr>
            <a:r>
              <a:rPr lang="en-US" sz="4400" b="1" dirty="0">
                <a:solidFill>
                  <a:srgbClr val="F79506"/>
                </a:solidFill>
                <a:latin typeface="Arial" pitchFamily="34" charset="0"/>
                <a:ea typeface="Arial" pitchFamily="34" charset="-122"/>
                <a:cs typeface="Arial" pitchFamily="34" charset="-120"/>
              </a:rPr>
              <a:t>Lern-Host</a:t>
            </a:r>
            <a:endParaRPr lang="en-US" sz="4400" dirty="0"/>
          </a:p>
        </p:txBody>
      </p:sp>
      <p:sp>
        <p:nvSpPr>
          <p:cNvPr id="5" name="Text 2"/>
          <p:cNvSpPr txBox="1"/>
          <p:nvPr/>
        </p:nvSpPr>
        <p:spPr>
          <a:xfrm>
            <a:off x="530352" y="1783080"/>
            <a:ext cx="6949440" cy="82296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Teilen Sie, was Sie wissen oder gerne tun. Bieten Sie einen Termin an und laden Sie Kolleginnen und Kollegen ein.</a:t>
            </a:r>
            <a:endParaRPr lang="en-US" sz="1800" dirty="0"/>
          </a:p>
        </p:txBody>
      </p:sp>
      <p:pic>
        <p:nvPicPr>
          <p:cNvPr id="6" name="Image 1" descr="/tmp/deck/ic/pencil_m.png">    </p:cNvPr>
          <p:cNvPicPr>
            <a:picLocks noChangeAspect="1"/>
          </p:cNvPicPr>
          <p:nvPr/>
        </p:nvPicPr>
        <p:blipFill>
          <a:blip r:embed="rId2"/>
          <a:stretch>
            <a:fillRect/>
          </a:stretch>
        </p:blipFill>
        <p:spPr>
          <a:xfrm>
            <a:off x="530352" y="2880360"/>
            <a:ext cx="685800" cy="685800"/>
          </a:xfrm>
          <a:prstGeom prst="rect">
            <a:avLst/>
          </a:prstGeom>
        </p:spPr>
      </p:pic>
      <p:sp>
        <p:nvSpPr>
          <p:cNvPr id="7" name="Text 3"/>
          <p:cNvSpPr txBox="1"/>
          <p:nvPr/>
        </p:nvSpPr>
        <p:spPr>
          <a:xfrm>
            <a:off x="1463040" y="283464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Termin anlegen</a:t>
            </a:r>
            <a:endParaRPr lang="en-US" sz="2000" dirty="0"/>
          </a:p>
        </p:txBody>
      </p:sp>
      <p:sp>
        <p:nvSpPr>
          <p:cNvPr id="8" name="Text 4"/>
          <p:cNvSpPr txBox="1"/>
          <p:nvPr/>
        </p:nvSpPr>
        <p:spPr>
          <a:xfrm>
            <a:off x="1463040" y="321868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Titel, Thema und Zeit wählen. Das dauert wenige Minuten.</a:t>
            </a:r>
            <a:endParaRPr lang="en-US" sz="1400" dirty="0"/>
          </a:p>
        </p:txBody>
      </p:sp>
      <p:pic>
        <p:nvPicPr>
          <p:cNvPr id="9" name="Image 2" descr="/tmp/deck/ic/video_m.png">    </p:cNvPr>
          <p:cNvPicPr>
            <a:picLocks noChangeAspect="1"/>
          </p:cNvPicPr>
          <p:nvPr/>
        </p:nvPicPr>
        <p:blipFill>
          <a:blip r:embed="rId3"/>
          <a:stretch>
            <a:fillRect/>
          </a:stretch>
        </p:blipFill>
        <p:spPr>
          <a:xfrm>
            <a:off x="530352" y="3840480"/>
            <a:ext cx="685800" cy="685800"/>
          </a:xfrm>
          <a:prstGeom prst="rect">
            <a:avLst/>
          </a:prstGeom>
        </p:spPr>
      </p:pic>
      <p:sp>
        <p:nvSpPr>
          <p:cNvPr id="10" name="Text 5"/>
          <p:cNvSpPr txBox="1"/>
          <p:nvPr/>
        </p:nvSpPr>
        <p:spPr>
          <a:xfrm>
            <a:off x="1463040" y="379476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Teams-Link einfügen</a:t>
            </a:r>
            <a:endParaRPr lang="en-US" sz="2000" dirty="0"/>
          </a:p>
        </p:txBody>
      </p:sp>
      <p:sp>
        <p:nvSpPr>
          <p:cNvPr id="11" name="Text 6"/>
          <p:cNvSpPr txBox="1"/>
          <p:nvPr/>
        </p:nvSpPr>
        <p:spPr>
          <a:xfrm>
            <a:off x="1463040" y="417880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Eine Teams-Besprechung genügt. Mehr Technik braucht es nicht.</a:t>
            </a:r>
            <a:endParaRPr lang="en-US" sz="1400" dirty="0"/>
          </a:p>
        </p:txBody>
      </p:sp>
      <p:pic>
        <p:nvPicPr>
          <p:cNvPr id="12" name="Image 3" descr="/tmp/deck/ic/people_m.png">    </p:cNvPr>
          <p:cNvPicPr>
            <a:picLocks noChangeAspect="1"/>
          </p:cNvPicPr>
          <p:nvPr/>
        </p:nvPicPr>
        <p:blipFill>
          <a:blip r:embed="rId4"/>
          <a:stretch>
            <a:fillRect/>
          </a:stretch>
        </p:blipFill>
        <p:spPr>
          <a:xfrm>
            <a:off x="530352" y="4800600"/>
            <a:ext cx="685800" cy="685800"/>
          </a:xfrm>
          <a:prstGeom prst="rect">
            <a:avLst/>
          </a:prstGeom>
        </p:spPr>
      </p:pic>
      <p:sp>
        <p:nvSpPr>
          <p:cNvPr id="13" name="Text 7"/>
          <p:cNvSpPr txBox="1"/>
          <p:nvPr/>
        </p:nvSpPr>
        <p:spPr>
          <a:xfrm>
            <a:off x="1463040" y="475488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Gastgeber sein</a:t>
            </a:r>
            <a:endParaRPr lang="en-US" sz="2000" dirty="0"/>
          </a:p>
        </p:txBody>
      </p:sp>
      <p:sp>
        <p:nvSpPr>
          <p:cNvPr id="14" name="Text 8"/>
          <p:cNvSpPr txBox="1"/>
          <p:nvPr/>
        </p:nvSpPr>
        <p:spPr>
          <a:xfrm>
            <a:off x="1463040" y="513892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Kolleginnen und Kollegen melden sich an. Sie erzählen, zeigen, diskutieren.</a:t>
            </a:r>
            <a:endParaRPr lang="en-US" sz="1400" dirty="0"/>
          </a:p>
        </p:txBody>
      </p:sp>
      <p:sp>
        <p:nvSpPr>
          <p:cNvPr id="15" name="Text 9"/>
          <p:cNvSpPr txBox="1"/>
          <p:nvPr/>
        </p:nvSpPr>
        <p:spPr>
          <a:xfrm>
            <a:off x="530352" y="5669280"/>
            <a:ext cx="7132320" cy="36576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Dienstlich: Beratung, Vertrieb, Produkte. Privat: Sport, Reisen, Fotografie, Kochen.</a:t>
            </a:r>
            <a:endParaRPr lang="en-US" sz="1400" dirty="0"/>
          </a:p>
        </p:txBody>
      </p:sp>
      <p:sp>
        <p:nvSpPr>
          <p:cNvPr id="16" name="Shape 10"/>
          <p:cNvSpPr/>
          <p:nvPr/>
        </p:nvSpPr>
        <p:spPr>
          <a:xfrm>
            <a:off x="530352" y="6217920"/>
            <a:ext cx="3017520" cy="457200"/>
          </a:xfrm>
          <a:prstGeom prst="rect">
            <a:avLst/>
          </a:prstGeom>
          <a:solidFill>
            <a:srgbClr val="00DCDC"/>
          </a:solidFill>
          <a:ln w="12700">
            <a:solidFill>
              <a:srgbClr val="00DCDC"/>
            </a:solidFill>
            <a:prstDash val="solid"/>
          </a:ln>
        </p:spPr>
      </p:sp>
      <p:sp>
        <p:nvSpPr>
          <p:cNvPr id="17" name="Text 11"/>
          <p:cNvSpPr txBox="1"/>
          <p:nvPr/>
        </p:nvSpPr>
        <p:spPr>
          <a:xfrm>
            <a:off x="530352" y="6217920"/>
            <a:ext cx="3017520" cy="457200"/>
          </a:xfrm>
          <a:prstGeom prst="rect">
            <a:avLst/>
          </a:prstGeom>
          <a:noFill/>
          <a:ln/>
        </p:spPr>
        <p:txBody>
          <a:bodyPr wrap="square" lIns="0" tIns="0" rIns="0" bIns="0" rtlCol="0" anchor="ctr"/>
          <a:lstStyle/>
          <a:p>
            <a:pPr algn="ctr" indent="0" marL="0">
              <a:buNone/>
            </a:pPr>
            <a:r>
              <a:rPr lang="en-US" sz="1600" b="1" dirty="0">
                <a:solidFill>
                  <a:srgbClr val="001957"/>
                </a:solidFill>
                <a:latin typeface="Arial" pitchFamily="34" charset="0"/>
                <a:ea typeface="Arial" pitchFamily="34" charset="-122"/>
                <a:cs typeface="Arial" pitchFamily="34" charset="-120"/>
              </a:rPr>
              <a:t>Jetzt Termin anbieten</a:t>
            </a:r>
            <a:endParaRPr lang="en-US" sz="1600" dirty="0"/>
          </a:p>
        </p:txBody>
      </p:sp>
      <p:sp>
        <p:nvSpPr>
          <p:cNvPr id="18" name="Text 12"/>
          <p:cNvSpPr txBox="1"/>
          <p:nvPr/>
        </p:nvSpPr>
        <p:spPr>
          <a:xfrm>
            <a:off x="3749040" y="621792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LearnTogether@AD</a:t>
            </a:r>
            <a:endParaRPr lang="en-US" sz="1400" dirty="0"/>
          </a:p>
        </p:txBody>
      </p:sp>
      <p:pic>
        <p:nvPicPr>
          <p:cNvPr id="19" name="Image 4" descr="/tmp/deck/logo_w.png">    </p:cNvPr>
          <p:cNvPicPr>
            <a:picLocks noChangeAspect="1"/>
          </p:cNvPicPr>
          <p:nvPr/>
        </p:nvPicPr>
        <p:blipFill>
          <a:blip r:embed="rId5"/>
          <a:stretch>
            <a:fillRect/>
          </a:stretch>
        </p:blipFill>
        <p:spPr>
          <a:xfrm>
            <a:off x="10881360" y="6236208"/>
            <a:ext cx="822960" cy="33709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926080"/>
            <a:ext cx="5303520" cy="82296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Vielen Dank</a:t>
            </a:r>
            <a:endParaRPr lang="en-US" sz="4000" dirty="0"/>
          </a:p>
        </p:txBody>
      </p:sp>
      <p:sp>
        <p:nvSpPr>
          <p:cNvPr id="5" name="Text 1"/>
          <p:cNvSpPr txBox="1"/>
          <p:nvPr/>
        </p:nvSpPr>
        <p:spPr>
          <a:xfrm>
            <a:off x="539496" y="3931920"/>
            <a:ext cx="5303520" cy="13716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Fragen, Ideen und Anregungen?</a:t>
            </a:r>
            <a:endParaRPr lang="en-US" sz="2200" dirty="0"/>
          </a:p>
          <a:p>
            <a:pPr indent="0" marL="0">
              <a:buNone/>
            </a:pPr>
            <a:r>
              <a:rPr lang="en-US" sz="2200" b="1" dirty="0">
                <a:solidFill>
                  <a:srgbClr val="FFFFFF"/>
                </a:solidFill>
                <a:latin typeface="Arial" pitchFamily="34" charset="0"/>
                <a:ea typeface="Arial" pitchFamily="34" charset="-122"/>
                <a:cs typeface="Arial" pitchFamily="34" charset="-120"/>
              </a:rPr>
              <a:t>Gemeinsam machen wir aus Wissen im Haus Lernen im Team.</a:t>
            </a:r>
            <a:endParaRPr lang="en-US" sz="2200" dirty="0"/>
          </a:p>
        </p:txBody>
      </p:sp>
      <p:sp>
        <p:nvSpPr>
          <p:cNvPr id="6" name="Text 2"/>
          <p:cNvSpPr txBox="1"/>
          <p:nvPr/>
        </p:nvSpPr>
        <p:spPr>
          <a:xfrm>
            <a:off x="539496" y="5394960"/>
            <a:ext cx="5303520" cy="54864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pic>
        <p:nvPicPr>
          <p:cNvPr id="7"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Anhang: der Vergleich im Überblick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Was LearnTogether@AD übernimmt und was es anders macht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1463040"/>
                <a:gridCol w="2194560"/>
                <a:gridCol w="2194560"/>
                <a:gridCol w="2377440"/>
                <a:gridCol w="2926080"/>
              </a:tblGrid>
              <a:tr h="457200">
                <a:tc>
                  <a:txBody>
                    <a:bodyPr/>
                    <a:lstStyle/>
                    <a:p>
                      <a:pPr indent="0" marL="0">
                        <a:buNone/>
                      </a:pP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Telekom LEX</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Bosch Club</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DATEV wDw</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LearnTogether@AD</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109DA8"/>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Wer bietet an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freiwillig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ohne Freigabe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mit zentralem Rahmen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Kolleginnen und Kollegen, mit Rahmen durch die Administration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Technik</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Netzwerk mit Sessions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SharePoint-Kalender und Teams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Plattform wDw</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Web-App mit Katalog, Teams für die Termine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234440">
                <a:tc>
                  <a:txBody>
                    <a:bodyPr/>
                    <a:lstStyle/>
                    <a:p>
                      <a:pPr indent="0" marL="0">
                        <a:buNone/>
                      </a:pPr>
                      <a:r>
                        <a:rPr lang="en-US" sz="1200" b="1" dirty="0">
                          <a:solidFill>
                            <a:srgbClr val="001957"/>
                          </a:solidFill>
                          <a:latin typeface="Arial" pitchFamily="34" charset="0"/>
                          <a:ea typeface="Arial" pitchFamily="34" charset="-122"/>
                          <a:cs typeface="Arial" pitchFamily="34" charset="-120"/>
                        </a:rPr>
                        <a:t>Besonderheit</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Größte Lerngemeinschaft bei der Telekom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Einfacher Start, schnelles Wachstum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Communities of Practice, Barcamps, Lernmentoring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Feste Zeitfenster, dienstlich und privat, Bewertungen und Abzeichen, IDD-Anrechnung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bl>
          </a:graphicData>
        </a:graphic>
      </p:graphicFrame>
      <p:sp>
        <p:nvSpPr>
          <p:cNvPr id="9" name="Text 4"/>
          <p:cNvSpPr txBox="1"/>
          <p:nvPr/>
        </p:nvSpPr>
        <p:spPr>
          <a:xfrm>
            <a:off x="530352" y="5943600"/>
            <a:ext cx="11155680" cy="274320"/>
          </a:xfrm>
          <a:prstGeom prst="rect">
            <a:avLst/>
          </a:prstGeom>
          <a:noFill/>
          <a:ln/>
        </p:spPr>
        <p:txBody>
          <a:bodyPr wrap="square" lIns="0" tIns="0" rIns="0" bIns="0" rtlCol="0" anchor="t"/>
          <a:lstStyle/>
          <a:p>
            <a:pPr indent="0" marL="0">
              <a:buNone/>
            </a:pPr>
            <a:r>
              <a:rPr lang="en-US" sz="1100" dirty="0">
                <a:solidFill>
                  <a:srgbClr val="707070"/>
                </a:solidFill>
                <a:latin typeface="Arial" pitchFamily="34" charset="0"/>
                <a:ea typeface="Arial" pitchFamily="34" charset="-122"/>
                <a:cs typeface="Arial" pitchFamily="34" charset="-120"/>
              </a:rPr>
              <a:t>Quellen: Telekom, Bosch Club (LernXP), DATEV (Springer, DATEV-Karriereblog). Stand der Veröffentlichungen, siehe Quellenfolie.</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Quellen und Hinweise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Anhang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Text 4"/>
          <p:cNvSpPr txBox="1"/>
          <p:nvPr/>
        </p:nvSpPr>
        <p:spPr>
          <a:xfrm>
            <a:off x="530352" y="1463040"/>
            <a:ext cx="11155680" cy="4754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Telekom: LEX, Lernen von Experten. telekom.com (Blog „Kleine Idee, große Wirkung“; LEX-Datenblatt; CR-Bericht 2024/2025). Zahlen: ca. 18.000 Mitglieder, über 6.500 Sessions, über 52.000 Teilnahmen.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Bosch Club: LernXP (lernxp.de), „Der Bosch Club“, Januar und Februar 2024. Start Oktober 2022, rund 2.200 Sessions, SharePoint-Kalender plus Teams, kein Freigabeverfahren.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DATEV: „Wenn Datev wüsste, was Datev weiß“ (wDw), Communities of Practice, Barcamps, Lernmentoring. Springer (Gruppe. Interaktion. Organisation, 2023), DATEV-Karriereblog (2024), colearn.de.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IDD: 15 Stunden Weiterbildung im Jahr, Nachweis fünf Jahre. Quellen: IHK-FAQ zur Weiterbildungsverpflichtung, Haufe Akademie, Brancheninitiative gut beraten.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Adult Education Survey 2022, Weiterbildungsverhalten in Deutschland, BMBF 2024: 58 Prozent Beteiligung.</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70:20:10 und informelles Lernen: Clardy (2018), „70-20-10 and the Dominance of Informal Learning“; Wenger (1998), „Communities of Practice“.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Mitbestimmung: § 87 Abs. 1 Nr. 6 BetrVG, technische Einrichtungen (u. a. Haufe, Kluge Seminare).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Alle Abbildungen der Plattform zeigen Beispieldaten. Fahrplan und Schutzmaßnahmen sind Vorschläge.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R+V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LearnTogether@AD: Voneinander lernen, miteinander wachsen</dc:title>
  <dc:subject>PptxGenJS Presentation</dc:subject>
  <dc:creator>Training &amp; Entwicklung Vertrieb (VH-VP-TV)</dc:creator>
  <cp:lastModifiedBy>Training &amp; Entwicklung Vertrieb (VH-VP-TV)</cp:lastModifiedBy>
  <cp:revision>1</cp:revision>
  <dcterms:created xsi:type="dcterms:W3CDTF">2026-10-03T16:03:56Z</dcterms:created>
  <dcterms:modified xsi:type="dcterms:W3CDTF">2026-10-03T16:03:56Z</dcterms:modified>
</cp:coreProperties>
</file>